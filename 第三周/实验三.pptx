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17"/>
  </p:notesMasterIdLst>
  <p:sldIdLst>
    <p:sldId id="256" r:id="rId2"/>
    <p:sldId id="534" r:id="rId3"/>
    <p:sldId id="545" r:id="rId4"/>
    <p:sldId id="564" r:id="rId5"/>
    <p:sldId id="596" r:id="rId6"/>
    <p:sldId id="597" r:id="rId7"/>
    <p:sldId id="690" r:id="rId8"/>
    <p:sldId id="691" r:id="rId9"/>
    <p:sldId id="686" r:id="rId10"/>
    <p:sldId id="689" r:id="rId11"/>
    <p:sldId id="692" r:id="rId12"/>
    <p:sldId id="693" r:id="rId13"/>
    <p:sldId id="694" r:id="rId14"/>
    <p:sldId id="547" r:id="rId15"/>
    <p:sldId id="69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3D8832-872C-48B8-867C-328CFDAC4757}">
          <p14:sldIdLst>
            <p14:sldId id="256"/>
            <p14:sldId id="534"/>
            <p14:sldId id="545"/>
            <p14:sldId id="564"/>
            <p14:sldId id="596"/>
            <p14:sldId id="597"/>
            <p14:sldId id="690"/>
            <p14:sldId id="691"/>
            <p14:sldId id="686"/>
            <p14:sldId id="689"/>
            <p14:sldId id="692"/>
            <p14:sldId id="693"/>
            <p14:sldId id="694"/>
            <p14:sldId id="547"/>
            <p14:sldId id="6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85304" autoAdjust="0"/>
  </p:normalViewPr>
  <p:slideViewPr>
    <p:cSldViewPr snapToGrid="0">
      <p:cViewPr varScale="1">
        <p:scale>
          <a:sx n="74" d="100"/>
          <a:sy n="74" d="100"/>
        </p:scale>
        <p:origin x="67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924AF-AE0E-414F-922F-726268C1B860}" type="datetimeFigureOut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DBDF9-2ACC-48D7-B2C1-DD875ED5B0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04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5E5E67-3D30-4ADE-9059-B93F7F6C69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652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第二个内容是有限长序列的傅里叶变换和拟变换</a:t>
            </a:r>
            <a:endParaRPr lang="en-US" altLang="zh-CN" dirty="0"/>
          </a:p>
          <a:p>
            <a:r>
              <a:rPr lang="zh-CN" altLang="en-US" dirty="0"/>
              <a:t>同学们要注意理解并总结，</a:t>
            </a:r>
            <a:r>
              <a:rPr lang="en-US" altLang="zh-CN" dirty="0"/>
              <a:t>DFT</a:t>
            </a:r>
            <a:r>
              <a:rPr lang="zh-CN" altLang="en-US" dirty="0"/>
              <a:t>离散傅里叶变换与</a:t>
            </a:r>
            <a:r>
              <a:rPr lang="en-US" altLang="zh-CN" dirty="0"/>
              <a:t>DFS</a:t>
            </a:r>
            <a:r>
              <a:rPr lang="zh-CN" altLang="en-US" dirty="0"/>
              <a:t>（离散傅里叶级数）以及</a:t>
            </a:r>
            <a:r>
              <a:rPr lang="en-US" altLang="zh-CN" dirty="0"/>
              <a:t>DTFT</a:t>
            </a:r>
            <a:r>
              <a:rPr lang="zh-CN" altLang="en-US" dirty="0"/>
              <a:t>（离散时间傅里叶变换）之间的关系和区别是那些？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403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2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正好是</a:t>
                </a:r>
                <a:r>
                  <a:rPr lang="en-US" altLang="zh-CN" dirty="0"/>
                  <a:t>x(n)</a:t>
                </a:r>
                <a:r>
                  <a:rPr lang="zh-CN" altLang="en-US" dirty="0"/>
                  <a:t>延拓序列傅里叶级数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zh-CN" altLang="en-US" sz="1200" i="1">
                        <a:latin typeface="Cambria Math" panose="02040503050406030204" pitchFamily="18" charset="0"/>
                      </a:rPr>
                      <m:t>的主</m:t>
                    </m:r>
                  </m:oMath>
                </a14:m>
                <a:r>
                  <a:rPr lang="zh-CN" altLang="en-US" sz="1200" dirty="0"/>
                  <a:t>值序列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zh-CN" altLang="en-US" sz="1200" i="0">
                    <a:latin typeface="Cambria Math" panose="02040503050406030204" pitchFamily="18" charset="0"/>
                  </a:rPr>
                  <a:t>𝑋(𝑘)</a:t>
                </a:r>
                <a:r>
                  <a:rPr lang="zh-CN" altLang="en-US" dirty="0"/>
                  <a:t>正好是</a:t>
                </a:r>
                <a:r>
                  <a:rPr lang="en-US" altLang="zh-CN" dirty="0"/>
                  <a:t>x(n)</a:t>
                </a:r>
                <a:r>
                  <a:rPr lang="zh-CN" altLang="en-US" dirty="0"/>
                  <a:t>延拓序列傅里叶级数</a:t>
                </a:r>
                <a:r>
                  <a:rPr lang="zh-CN" altLang="en-US" sz="1200" i="0">
                    <a:latin typeface="Cambria Math" panose="02040503050406030204" pitchFamily="18" charset="0"/>
                  </a:rPr>
                  <a:t>𝑋 ̃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(𝒌)</a:t>
                </a:r>
                <a:r>
                  <a:rPr lang="zh-CN" altLang="en-US" sz="1200" i="0">
                    <a:latin typeface="Cambria Math" panose="02040503050406030204" pitchFamily="18" charset="0"/>
                  </a:rPr>
                  <a:t>的主</a:t>
                </a:r>
                <a:r>
                  <a:rPr lang="zh-CN" altLang="en-US" sz="1200" dirty="0"/>
                  <a:t>值序列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03103F6-6CA5-4D42-B8D0-A68F771720B5}" type="datetime1">
              <a:rPr lang="zh-CN" altLang="en-US" smtClean="0"/>
              <a:t>2026/05/20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93D8A-71E5-473E-A99F-5CDE7223B296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5495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比如说采样率和采样时间是如何影响频谱分辨率的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59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比如说采样率和采样时间是如何影响频谱分辨率的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837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比如说采样率和采样时间是如何影响频谱分辨率的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028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03103F6-6CA5-4D42-B8D0-A68F771720B5}" type="datetime1">
              <a:rPr lang="zh-CN" altLang="en-US" smtClean="0"/>
              <a:t>2026/05/20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93D8A-71E5-473E-A99F-5CDE7223B296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02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比如说采样率和采样时间是如何影响频谱分辨率的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363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比如说采样率和采样时间是如何影响频谱分辨率的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237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对于满足时域抽样定理的序列，可以通过低通滤波不失真地恢复模拟信号，需要掌握信号重建的两种方法，一是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时域信号与理想滤波器单位冲击响应进行卷积，二是通过模拟低通滤波器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在频域抽样与恢复方面，需要同学们思考掌握两个问题，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是从频域信号进行不失真恢复的条件，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是从频谱恢复连续时间信号与离散序列有哪些不同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251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FIR</a:t>
            </a:r>
            <a:r>
              <a:rPr lang="zh-CN" altLang="en-US" dirty="0"/>
              <a:t>滤波器的结构和设计中，频域采样的理论提供一种滤波器设计的结构和途径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421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436687"/>
            <a:ext cx="9144000" cy="1767839"/>
          </a:xfrm>
          <a:prstGeom prst="rect">
            <a:avLst/>
          </a:prstGeom>
          <a:solidFill>
            <a:srgbClr val="33513A"/>
          </a:solidFill>
          <a:ln>
            <a:solidFill>
              <a:srgbClr val="335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36687"/>
            <a:ext cx="7772400" cy="176783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B307-BCDA-40C7-9FDE-4F254D1AD999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40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9BA0-6E7F-422C-8A04-F4D99B595A5F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47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3781-2582-4954-B52F-43BC81BE50B2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96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600" y="1108800"/>
            <a:ext cx="408560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2640" y="1108800"/>
            <a:ext cx="409448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72B9-21EB-4081-BB06-03B7C2D0554F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66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5156-131E-40BD-9868-EF5BC6617D39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56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8026-E0DD-49C6-A175-E099CCD7BC60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981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4C652-A981-4EBD-B97F-8231AFF102DC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14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FA27-12DB-4594-8250-EE0E0666AFEB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15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AC9B-964E-41DF-8B13-73ADCEA276E4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85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8849-B68B-4D16-A83D-66262A0C31A9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80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2E21-9990-494D-8D2A-9B1911F55239}" type="datetime1">
              <a:rPr lang="zh-CN" altLang="en-US" smtClean="0"/>
              <a:t>2026/05/20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89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610" y="162559"/>
            <a:ext cx="8271510" cy="61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610" y="1107438"/>
            <a:ext cx="8271510" cy="5069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0117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6875A-C419-42F7-9166-A5E3EA936ACF}" type="datetime1">
              <a:rPr lang="zh-CN" altLang="en-US" smtClean="0"/>
              <a:t>2026/05/20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796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19565" y="6560440"/>
            <a:ext cx="903600" cy="2698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15D6CCC0-930F-418E-A4E3-7631211F20B0}" type="slidenum">
              <a:rPr lang="zh-CN" altLang="en-US" smtClean="0"/>
              <a:pPr algn="ctr"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89" b="24710"/>
          <a:stretch/>
        </p:blipFill>
        <p:spPr>
          <a:xfrm>
            <a:off x="8001000" y="6560440"/>
            <a:ext cx="1035781" cy="2708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6" t="16371"/>
          <a:stretch/>
        </p:blipFill>
        <p:spPr>
          <a:xfrm>
            <a:off x="121404" y="6561019"/>
            <a:ext cx="2043192" cy="26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6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600"/>
        </a:spcBef>
        <a:buFontTx/>
        <a:buBlip>
          <a:blip r:embed="rId15"/>
        </a:buBlip>
        <a:defRPr sz="24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81E5E"/>
        </a:buClr>
        <a:buFont typeface="Calibri" panose="020F0502020204030204" pitchFamily="34" charset="0"/>
        <a:buChar char="▪"/>
        <a:defRPr sz="2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3727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‐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1.emf"/><Relationship Id="rId4" Type="http://schemas.openxmlformats.org/officeDocument/2006/relationships/image" Target="../media/image100.png"/><Relationship Id="rId9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7.png"/><Relationship Id="rId5" Type="http://schemas.openxmlformats.org/officeDocument/2006/relationships/image" Target="../media/image25.png"/><Relationship Id="rId10" Type="http://schemas.openxmlformats.org/officeDocument/2006/relationships/image" Target="../media/image26.png"/><Relationship Id="rId4" Type="http://schemas.openxmlformats.org/officeDocument/2006/relationships/image" Target="../media/image24.emf"/><Relationship Id="rId9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数字信号处理实验三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67774" y="3622586"/>
            <a:ext cx="3408452" cy="1655762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电子与通信工程学院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3908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484ED6E-830E-43DA-93F7-E5EBF2525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10" y="1393189"/>
            <a:ext cx="8543498" cy="3883662"/>
          </a:xfrm>
        </p:spPr>
        <p:txBody>
          <a:bodyPr>
            <a:no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加深对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离散周期序列傅里叶级数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(DFS)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基本概念的理解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求解周期序列傅里叶级数变换和逆变换的方法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加深对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离散傅里叶变换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(DFT)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基本概念的理解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进行离散傅里叶变换和逆变换的方法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了解有限长序列傅里叶变换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(DFT)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性质的研究方法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快速傅里叶变换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(FFT)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计算有限长序列频谱的方法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掌握用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时域抽样与信号重建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掌握用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频域抽样与恢复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3385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254306" y="910796"/>
                <a:ext cx="8362162" cy="4752584"/>
              </a:xfrm>
            </p:spPr>
            <p:txBody>
              <a:bodyPr>
                <a:noAutofit/>
              </a:bodyPr>
              <a:lstStyle/>
              <a:p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有限长序列的傅里叶变换（</a:t>
                </a:r>
                <a:r>
                  <a:rPr kumimoji="1"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DFT</a:t>
                </a:r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）和逆变换（</a:t>
                </a:r>
                <a:r>
                  <a:rPr kumimoji="1"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IDFT</a:t>
                </a:r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zh-CN" altLang="en-US" sz="2000" dirty="0"/>
                  <a:t>有限长序列信号为</a:t>
                </a:r>
                <a:r>
                  <a:rPr kumimoji="1"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x(n)</a:t>
                </a:r>
                <a:r>
                  <a:rPr kumimoji="1" lang="zh-CN" altLang="en-US" sz="2000" dirty="0"/>
                  <a:t>，则该序列的离散傅里叶变换对可以表示为：</a:t>
                </a:r>
                <a:endParaRPr kumimoji="1" lang="en-US" altLang="zh-CN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𝐷𝐹𝑇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Sup>
                            <m:sSubSup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=0,1,…,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en-US" altLang="zh-CN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𝐷𝐹𝑇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bSup>
                            <m:sSubSup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</m:sup>
                          </m:sSubSup>
                        </m:e>
                      </m:nary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=0,1,…,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en-US" altLang="zh-CN" sz="2000" dirty="0"/>
              </a:p>
              <a:p>
                <a:pPr marL="0" indent="0">
                  <a:buNone/>
                </a:pPr>
                <a:r>
                  <a:rPr kumimoji="1" lang="zh-CN" altLang="en-US" sz="2000" dirty="0"/>
                  <a:t>从离散傅里叶变换定义公式可以看出，有限长序列在</a:t>
                </a:r>
                <a:r>
                  <a:rPr kumimoji="1"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时域上是离散的</a:t>
                </a:r>
                <a:r>
                  <a:rPr kumimoji="1" lang="zh-CN" altLang="en-US" sz="2000" dirty="0"/>
                  <a:t>，在</a:t>
                </a:r>
                <a:r>
                  <a:rPr kumimoji="1"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频域上也是</a:t>
                </a:r>
                <a:r>
                  <a:rPr kumimoji="1" lang="zh-CN" altLang="en-US" sz="2000" dirty="0"/>
                  <a:t>。式中，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kumimoji="1" lang="zh-CN" altLang="en-US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kumimoji="1" lang="en-US" altLang="zh-CN" sz="1800" dirty="0"/>
              </a:p>
              <a:p>
                <a:pPr marL="0" indent="0">
                  <a:buNone/>
                </a:pPr>
                <a:endParaRPr kumimoji="1" lang="en-US" altLang="zh-CN" sz="1800" dirty="0"/>
              </a:p>
              <a:p>
                <a:pPr marL="0" indent="0"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思考：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DFT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（离散傅里叶变换）与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DFS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（离散傅里叶级数）以及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DTFT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（离散时间傅里叶变换）之间的关系和区别是那些？</a:t>
                </a:r>
                <a:endParaRPr kumimoji="1" lang="en-US" altLang="zh-CN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endParaRPr kumimoji="1" lang="en-US" altLang="zh-CN" sz="1800" dirty="0"/>
              </a:p>
            </p:txBody>
          </p:sp>
        </mc:Choice>
        <mc:Fallback xmlns="">
          <p:sp>
            <p:nvSpPr>
              <p:cNvPr id="4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4306" y="910796"/>
                <a:ext cx="8362162" cy="4752584"/>
              </a:xfrm>
              <a:blipFill>
                <a:blip r:embed="rId3"/>
                <a:stretch>
                  <a:fillRect l="-802" t="-256" r="-365" b="-8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65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9048" tIns="34525" rIns="69048" bIns="34525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sz="1800" dirty="0"/>
                  <a:t>设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1800" dirty="0"/>
                  <a:t>是一个长度为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1800" dirty="0"/>
                  <a:t>的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有限长序列</a:t>
                </a:r>
                <a:r>
                  <a:rPr lang="zh-CN" altLang="en-US" sz="1800" dirty="0"/>
                  <a:t>，其</a:t>
                </a:r>
                <a:r>
                  <a:rPr lang="en-US" altLang="zh-CN" sz="1800" dirty="0"/>
                  <a:t>ZT</a:t>
                </a:r>
                <a:r>
                  <a:rPr lang="zh-CN" altLang="en-US" sz="18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1800" dirty="0"/>
                  <a:t>点</a:t>
                </a:r>
                <a:r>
                  <a:rPr lang="en-US" altLang="zh-CN" sz="1800" dirty="0"/>
                  <a:t>DFT</a:t>
                </a:r>
                <a:r>
                  <a:rPr lang="zh-CN" altLang="en-US" sz="1800" dirty="0"/>
                  <a:t>分别为</a:t>
                </a:r>
                <a:endParaRPr lang="en-US" altLang="zh-CN" sz="18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5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15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5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150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zh-CN" altLang="en-US" sz="1500"/>
                        <m:t>ZT</m:t>
                      </m:r>
                      <m:r>
                        <a:rPr lang="zh-CN" altLang="en-US" sz="150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15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15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5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1500">
                          <a:latin typeface="Cambria Math" panose="02040503050406030204" pitchFamily="18" charset="0"/>
                        </a:rPr>
                        <m:t>)]=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CN" altLang="en-US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150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15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zh-CN" altLang="en-US" sz="15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zh-CN" alt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15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150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en-US" sz="1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5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15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15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15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zh-CN" altLang="en-US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zh-CN" altLang="en-US" sz="150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en-US" altLang="zh-CN" sz="1500" b="1"/>
                      <m:t>F</m:t>
                    </m:r>
                    <m:r>
                      <m:rPr>
                        <m:nor/>
                      </m:rPr>
                      <a:rPr lang="zh-CN" altLang="en-US" sz="1500"/>
                      <m:t>T</m:t>
                    </m:r>
                    <m:r>
                      <m:rPr>
                        <m:nor/>
                      </m:rPr>
                      <a:rPr lang="zh-CN" altLang="en-US" sz="1500">
                        <a:latin typeface="Cambria Math" panose="02040503050406030204" pitchFamily="18" charset="0"/>
                      </a:rPr>
                      <m:t>[</m:t>
                    </m:r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5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5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5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50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en-US" sz="1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5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sz="15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5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15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zh-CN" altLang="en-US" sz="1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15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zh-CN" altLang="en-US" sz="1500"/>
                      <m:t>DFT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[</m:t>
                    </m:r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5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zh-CN" altLang="en-US" sz="15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5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5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500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zh-CN" altLang="en-US" sz="15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5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15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zh-CN" altLang="en-US" sz="1500" i="1">
                                <a:latin typeface="Cambria Math" panose="02040503050406030204" pitchFamily="18" charset="0"/>
                              </a:rPr>
                              <m:t>𝑘𝑛</m:t>
                            </m:r>
                          </m:sup>
                        </m:sSubSup>
                      </m:e>
                    </m:nary>
                    <m:r>
                      <a:rPr lang="zh-CN" altLang="en-US" sz="1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=0,1,⋯,</m:t>
                    </m:r>
                    <m:r>
                      <a:rPr lang="zh-CN" altLang="en-US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15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500" dirty="0"/>
                  <a:t> 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比较两式，可得</a:t>
                </a:r>
                <a:endParaRPr lang="en-US" altLang="zh-CN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ctrlP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CN" altLang="en-US" sz="1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zh-CN" altLang="en-US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zh-CN" altLang="en-US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zh-CN" altLang="en-US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b>
                    </m:sSub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=0,1,⋯,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80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zh-CN" altLang="en-US" sz="1800" dirty="0"/>
                  <a:t>  说明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：</m:t>
                    </m:r>
                    <m:d>
                      <m:dPr>
                        <m:begChr m:val=""/>
                        <m:ctrlP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80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的</m:t>
                    </m:r>
                    <m:r>
                      <a:rPr lang="en-US" altLang="zh-CN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1800" dirty="0">
                    <a:solidFill>
                      <a:srgbClr val="0000CC"/>
                    </a:solidFill>
                  </a:rPr>
                  <a:t>点</a:t>
                </a:r>
                <a:r>
                  <a:rPr lang="en-US" altLang="zh-CN" sz="1800" dirty="0">
                    <a:solidFill>
                      <a:srgbClr val="0000CC"/>
                    </a:solidFill>
                  </a:rPr>
                  <a:t>DFT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是</a:t>
                </a:r>
                <a:r>
                  <a:rPr lang="en-US" altLang="zh-CN" sz="1800" dirty="0">
                    <a:solidFill>
                      <a:srgbClr val="0000CC"/>
                    </a:solidFill>
                  </a:rPr>
                  <a:t>ZT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在单位圆上的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1800" dirty="0">
                    <a:solidFill>
                      <a:srgbClr val="0000CC"/>
                    </a:solidFill>
                  </a:rPr>
                  <a:t>点等间隔采样</a:t>
                </a:r>
                <a:r>
                  <a:rPr lang="zh-CN" altLang="en-US" sz="1800" dirty="0"/>
                  <a:t>。</a:t>
                </a:r>
                <a:endParaRPr lang="en-US" altLang="zh-CN" sz="18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zh-CN" alt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ctrlPr>
                                <a:rPr lang="zh-CN" alt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d>
                          <m:r>
                            <a:rPr lang="zh-CN" altLang="en-US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zh-CN" alt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=0,1,⋯,</m:t>
                      </m:r>
                      <m:r>
                        <a:rPr lang="zh-CN" alt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1800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</a:rPr>
                  <a:t>  </a:t>
                </a:r>
                <a:r>
                  <a:rPr lang="zh-CN" altLang="en-US" sz="1800" dirty="0"/>
                  <a:t>说明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rgbClr val="0000CC"/>
                    </a:solidFill>
                  </a:rPr>
                  <a:t>是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180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1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1800" dirty="0">
                    <a:solidFill>
                      <a:srgbClr val="0000CC"/>
                    </a:solidFill>
                  </a:rPr>
                  <a:t>在区间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zh-CN" altLang="en-US" sz="1800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rgbClr val="0000CC"/>
                    </a:solidFill>
                  </a:rPr>
                  <a:t>上的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1800" dirty="0">
                    <a:solidFill>
                      <a:srgbClr val="0000CC"/>
                    </a:solidFill>
                  </a:rPr>
                  <a:t>点等间隔采样</a:t>
                </a:r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 marL="0" indent="0" algn="just">
                  <a:buNone/>
                </a:pPr>
                <a:r>
                  <a:rPr lang="zh-CN" altLang="en-US" sz="1800" dirty="0"/>
                  <a:t>这就是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DFT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的物理意义！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9" t="-9868" b="-2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71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上下箭头 13"/>
          <p:cNvSpPr/>
          <p:nvPr/>
        </p:nvSpPr>
        <p:spPr bwMode="auto">
          <a:xfrm rot="10979901">
            <a:off x="1406345" y="3303945"/>
            <a:ext cx="285750" cy="1187028"/>
          </a:xfrm>
          <a:prstGeom prst="up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35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43900" cy="41719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1800" dirty="0"/>
                  <a:t>设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1800" dirty="0"/>
                  <a:t>长度为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1800" dirty="0"/>
                  <a:t>,</a:t>
                </a:r>
                <a:r>
                  <a:rPr lang="zh-CN" altLang="en-US" sz="1800" dirty="0"/>
                  <a:t>且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zh-CN" alt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en-US" sz="1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zh-CN" altLang="en-US" sz="1800" dirty="0"/>
                  <a:t>，则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zh-CN" alt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/>
                  <a:t>的</a:t>
                </a:r>
                <a:r>
                  <a:rPr lang="en-US" altLang="zh-CN" sz="1800" dirty="0"/>
                  <a:t>DFS</a:t>
                </a:r>
                <a:r>
                  <a:rPr lang="zh-CN" altLang="en-US" sz="1800" dirty="0"/>
                  <a:t>为</a:t>
                </a:r>
                <a:endParaRPr lang="en-US" altLang="zh-CN" sz="1800" dirty="0"/>
              </a:p>
              <a:p>
                <a:pPr marL="0" indent="0" algn="ctr">
                  <a:buNone/>
                </a:pPr>
                <a:r>
                  <a:rPr lang="zh-CN" altLang="en-US" sz="1800" dirty="0"/>
                  <a:t>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65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d>
                      <m:dPr>
                        <m:ctrlPr>
                          <a:rPr lang="en-US" altLang="zh-CN" sz="16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165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6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acc>
                          <m:accPr>
                            <m:chr m:val="̃"/>
                            <m:ctrlPr>
                              <a:rPr lang="zh-CN" altLang="en-US" sz="165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zh-CN" altLang="en-US" sz="165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𝑘𝑛</m:t>
                            </m:r>
                          </m:sup>
                        </m:sSubSup>
                      </m:e>
                    </m:nary>
                    <m:r>
                      <a:rPr lang="en-US" altLang="zh-CN" sz="165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6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zh-CN" altLang="en-US" sz="16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zh-CN" altLang="en-US" sz="16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165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65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165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sSubSup>
                          <m:sSubSupPr>
                            <m:ctrlPr>
                              <a:rPr lang="zh-CN" altLang="en-US" sz="165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𝑘𝑛</m:t>
                            </m:r>
                          </m:sup>
                        </m:sSubSup>
                      </m:e>
                    </m:nary>
                    <m:r>
                      <a:rPr lang="en-US" altLang="zh-CN" sz="165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65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65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650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zh-CN" altLang="en-US" sz="165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zh-CN" altLang="en-US" sz="1650" i="1">
                                <a:latin typeface="Cambria Math" panose="02040503050406030204" pitchFamily="18" charset="0"/>
                              </a:rPr>
                              <m:t>𝑘𝑛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sz="18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zh-CN" alt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acc>
                          <m:accPr>
                            <m:chr m:val="̃"/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𝑘𝑛</m:t>
                            </m:r>
                          </m:sup>
                        </m:sSubSup>
                      </m:e>
                    </m:nary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𝑘𝑛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sz="1800" dirty="0"/>
                  <a:t> 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其中：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1800" i="1" baseline="-2500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回顾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18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1800" dirty="0"/>
                  <a:t>点</a:t>
                </a:r>
                <a:r>
                  <a:rPr lang="en-US" altLang="zh-CN" sz="1800" dirty="0"/>
                  <a:t>DFT</a:t>
                </a:r>
                <a:r>
                  <a:rPr lang="zh-CN" altLang="en-US" sz="1800" dirty="0"/>
                  <a:t>：</a:t>
                </a:r>
                <a:endParaRPr lang="en-US" altLang="zh-CN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zh-CN" altLang="en-US" sz="1800"/>
                      <m:t>DFT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[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𝑘𝑛</m:t>
                            </m:r>
                          </m:sup>
                        </m:sSubSup>
                      </m:e>
                    </m:nary>
                    <m:r>
                      <a:rPr lang="zh-CN" altLang="en-US" sz="180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80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=0,1,⋯,</m:t>
                    </m:r>
                    <m:r>
                      <a:rPr lang="zh-CN" altLang="en-US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180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8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zh-CN" altLang="en-US" sz="1800"/>
                      <m:t>IDFT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[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)]=</m:t>
                    </m:r>
                    <m:f>
                      <m:f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CN" sz="180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1800">
                            <a:latin typeface="Cambria Math" panose="02040503050406030204" pitchFamily="18" charset="0"/>
                          </a:rPr>
                          <m:t>)</m:t>
                        </m:r>
                        <m:sSubSup>
                          <m:sSubSup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r>
                              <a:rPr lang="zh-CN" altLang="en-US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𝑘𝑛</m:t>
                            </m:r>
                          </m:sup>
                        </m:sSubSup>
                      </m:e>
                    </m:nary>
                    <m:r>
                      <a:rPr lang="zh-CN" altLang="en-US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180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=0,1,⋯,</m:t>
                    </m:r>
                    <m:r>
                      <a:rPr lang="zh-CN" altLang="en-US" sz="18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180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800" dirty="0">
                    <a:solidFill>
                      <a:srgbClr val="0000CC"/>
                    </a:solidFill>
                  </a:rPr>
                  <a:t> 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结论：而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/>
                  <a:t>是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zh-CN" altLang="en-US" sz="1800" i="1">
                        <a:latin typeface="Cambria Math" panose="02040503050406030204" pitchFamily="18" charset="0"/>
                      </a:rPr>
                      <m:t>的主</m:t>
                    </m:r>
                  </m:oMath>
                </a14:m>
                <a:r>
                  <a:rPr lang="zh-CN" altLang="en-US" sz="1800" dirty="0"/>
                  <a:t>值序列</a:t>
                </a:r>
                <a:r>
                  <a:rPr lang="en-US" altLang="zh-CN" sz="1800" dirty="0"/>
                  <a:t>,</a:t>
                </a:r>
                <a:r>
                  <a:rPr lang="zh-CN" altLang="en-US" sz="1800" dirty="0"/>
                  <a:t>周期延拓序列的频谱完全由其</a:t>
                </a:r>
                <a:r>
                  <a:rPr lang="en-US" altLang="zh-CN" sz="1800" dirty="0"/>
                  <a:t>DFS</a:t>
                </a:r>
                <a:r>
                  <a:rPr lang="zh-CN" altLang="en-US" sz="1800" dirty="0"/>
                  <a:t>的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1800" dirty="0"/>
                      <m:t>系数</m:t>
                    </m:r>
                    <m:acc>
                      <m:accPr>
                        <m:chr m:val="̃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1800" dirty="0"/>
                  <a:t>决定，因此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solidFill>
                      <a:srgbClr val="FF0000"/>
                    </a:solidFill>
                  </a:rPr>
                  <a:t>就表征了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1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rgbClr val="FF0000"/>
                    </a:solidFill>
                  </a:rPr>
                  <a:t>的频谱特性</a:t>
                </a:r>
                <a:r>
                  <a:rPr lang="zh-CN" altLang="en-US" sz="1800" dirty="0"/>
                  <a:t>！这是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1800" dirty="0"/>
                  <a:t>点</a:t>
                </a:r>
                <a:r>
                  <a:rPr lang="en-US" altLang="zh-CN" sz="1800" dirty="0"/>
                  <a:t>DFT</a:t>
                </a:r>
                <a:r>
                  <a:rPr lang="zh-CN" altLang="en-US" sz="1800" dirty="0"/>
                  <a:t>的</a:t>
                </a:r>
                <a:r>
                  <a:rPr lang="zh-CN" altLang="en-US" sz="1800" dirty="0">
                    <a:solidFill>
                      <a:srgbClr val="0000CC"/>
                    </a:solidFill>
                  </a:rPr>
                  <a:t>第二种物理意义</a:t>
                </a:r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 marL="0" indent="0">
                  <a:buNone/>
                </a:pPr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43900" cy="4171950"/>
              </a:xfrm>
              <a:blipFill>
                <a:blip r:embed="rId3"/>
                <a:stretch>
                  <a:fillRect l="-584" t="-9795" b="-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9048" tIns="34525" rIns="69048" bIns="34525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</a:p>
        </p:txBody>
      </p:sp>
      <p:sp>
        <p:nvSpPr>
          <p:cNvPr id="12" name="流程图: 可选过程 11"/>
          <p:cNvSpPr/>
          <p:nvPr/>
        </p:nvSpPr>
        <p:spPr bwMode="auto">
          <a:xfrm>
            <a:off x="1119739" y="3010417"/>
            <a:ext cx="2019300" cy="457200"/>
          </a:xfrm>
          <a:prstGeom prst="flowChartAlternateProcess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350">
              <a:latin typeface="Arial" charset="0"/>
            </a:endParaRPr>
          </a:p>
        </p:txBody>
      </p:sp>
      <p:sp>
        <p:nvSpPr>
          <p:cNvPr id="13" name="流程图: 可选过程 12"/>
          <p:cNvSpPr/>
          <p:nvPr/>
        </p:nvSpPr>
        <p:spPr bwMode="auto">
          <a:xfrm>
            <a:off x="1428750" y="4491464"/>
            <a:ext cx="2343150" cy="457200"/>
          </a:xfrm>
          <a:prstGeom prst="flowChartAlternateProcess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35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69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1056488"/>
                <a:ext cx="8362162" cy="5380765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FFT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计算有限长序列的频谱</a:t>
                </a:r>
                <a:endParaRPr lang="en-US" altLang="zh-CN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1800" dirty="0">
                    <a:latin typeface="黑体" panose="02010609060101010101" pitchFamily="49" charset="-122"/>
                  </a:rPr>
                  <a:t>经</a:t>
                </a:r>
                <a:r>
                  <a:rPr lang="en-US" altLang="zh-CN" sz="1800" dirty="0">
                    <a:latin typeface="黑体" panose="02010609060101010101" pitchFamily="49" charset="-122"/>
                  </a:rPr>
                  <a:t>FFT</a:t>
                </a:r>
                <a:r>
                  <a:rPr lang="zh-CN" altLang="en-US" sz="1800" dirty="0">
                    <a:latin typeface="黑体" panose="02010609060101010101" pitchFamily="49" charset="-122"/>
                  </a:rPr>
                  <a:t>产生的的</a:t>
                </a:r>
                <a:r>
                  <a:rPr lang="en-US" altLang="zh-CN" sz="1800" dirty="0">
                    <a:latin typeface="黑体" panose="02010609060101010101" pitchFamily="49" charset="-122"/>
                  </a:rPr>
                  <a:t>N</a:t>
                </a:r>
                <a:r>
                  <a:rPr lang="zh-CN" altLang="en-US" sz="1800" dirty="0">
                    <a:latin typeface="黑体" panose="02010609060101010101" pitchFamily="49" charset="-122"/>
                  </a:rPr>
                  <a:t>个数据，对应的数字角频率</a:t>
                </a:r>
                <a:r>
                  <a:rPr lang="en-US" altLang="zh-CN" sz="1800" dirty="0">
                    <a:latin typeface="黑体" panose="02010609060101010101" pitchFamily="49" charset="-122"/>
                  </a:rPr>
                  <a:t>[0 2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en-US" altLang="zh-CN" sz="1800" dirty="0">
                    <a:latin typeface="黑体" panose="02010609060101010101" pitchFamily="49" charset="-122"/>
                  </a:rPr>
                  <a:t>,</a:t>
                </a:r>
                <a:r>
                  <a:rPr lang="zh-CN" altLang="en-US" sz="1800" dirty="0">
                    <a:latin typeface="黑体" panose="02010609060101010101" pitchFamily="49" charset="-122"/>
                  </a:rPr>
                  <a:t>也可以认为是</a:t>
                </a:r>
                <a:r>
                  <a:rPr lang="en-US" altLang="zh-CN" sz="1800" dirty="0">
                    <a:latin typeface="黑体" panose="02010609060101010101" pitchFamily="49" charset="-122"/>
                  </a:rPr>
                  <a:t>[0,π]</a:t>
                </a:r>
                <a:r>
                  <a:rPr lang="zh-CN" altLang="en-US" sz="1800" dirty="0">
                    <a:latin typeface="黑体" panose="02010609060101010101" pitchFamily="49" charset="-122"/>
                  </a:rPr>
                  <a:t>后面跟（</a:t>
                </a:r>
                <a:r>
                  <a:rPr lang="en-US" altLang="zh-CN" sz="1800" dirty="0">
                    <a:latin typeface="黑体" panose="02010609060101010101" pitchFamily="49" charset="-122"/>
                  </a:rPr>
                  <a:t>-π</a:t>
                </a:r>
                <a:r>
                  <a:rPr lang="zh-CN" altLang="en-US" sz="1800" dirty="0">
                    <a:latin typeface="黑体" panose="02010609060101010101" pitchFamily="49" charset="-122"/>
                  </a:rPr>
                  <a:t>，</a:t>
                </a:r>
                <a:r>
                  <a:rPr lang="en-US" altLang="zh-CN" sz="1800" dirty="0">
                    <a:latin typeface="黑体" panose="02010609060101010101" pitchFamily="49" charset="-122"/>
                  </a:rPr>
                  <a:t>0</a:t>
                </a:r>
                <a:r>
                  <a:rPr lang="zh-CN" altLang="en-US" sz="1800" dirty="0">
                    <a:latin typeface="黑体" panose="02010609060101010101" pitchFamily="49" charset="-122"/>
                  </a:rPr>
                  <a:t>）如果要显示</a:t>
                </a:r>
                <a14:m>
                  <m:oMath xmlns:m="http://schemas.openxmlformats.org/officeDocument/2006/math">
                    <m:r>
                      <a:rPr lang="zh-CN" altLang="en-US" sz="1800" b="0" i="1" dirty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1800" dirty="0">
                    <a:latin typeface="黑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800" dirty="0">
                    <a:latin typeface="黑体" panose="02010609060101010101" pitchFamily="49" charset="-122"/>
                  </a:rPr>
                  <a:t>使用</a:t>
                </a:r>
                <a:r>
                  <a:rPr lang="en-US" altLang="zh-CN" sz="1800" dirty="0" err="1">
                    <a:latin typeface="黑体" panose="02010609060101010101" pitchFamily="49" charset="-122"/>
                  </a:rPr>
                  <a:t>fftshift</a:t>
                </a:r>
                <a:r>
                  <a:rPr lang="en-US" altLang="zh-CN" sz="1800" dirty="0">
                    <a:latin typeface="黑体" panose="02010609060101010101" pitchFamily="49" charset="-122"/>
                  </a:rPr>
                  <a:t>(X)</a:t>
                </a:r>
                <a:r>
                  <a:rPr lang="zh-CN" altLang="en-US" sz="1800" dirty="0">
                    <a:latin typeface="黑体" panose="02010609060101010101" pitchFamily="49" charset="-122"/>
                  </a:rPr>
                  <a:t>进行平移</a:t>
                </a:r>
                <a:endParaRPr lang="en-US" altLang="zh-CN" sz="1800" dirty="0">
                  <a:latin typeface="黑体" panose="02010609060101010101" pitchFamily="49" charset="-122"/>
                </a:endParaRPr>
              </a:p>
              <a:p>
                <a:pPr marL="0" indent="457200">
                  <a:buNone/>
                </a:pPr>
                <a:endParaRPr lang="en-US" altLang="zh-CN" sz="2000" dirty="0">
                  <a:latin typeface="黑体" panose="02010609060101010101" pitchFamily="49" charset="-122"/>
                </a:endParaRPr>
              </a:p>
              <a:p>
                <a:pPr marL="0" indent="457200">
                  <a:buNone/>
                </a:pPr>
                <a:endParaRPr lang="en-US" altLang="zh-CN" sz="2000" dirty="0">
                  <a:latin typeface="黑体" panose="02010609060101010101" pitchFamily="49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1800" dirty="0">
                    <a:solidFill>
                      <a:srgbClr val="002060"/>
                    </a:solidFill>
                  </a:rPr>
                  <a:t>可以通过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补零</a:t>
                </a:r>
                <a:r>
                  <a:rPr lang="zh-CN" altLang="en-US" sz="1800" dirty="0">
                    <a:solidFill>
                      <a:srgbClr val="002060"/>
                    </a:solidFill>
                  </a:rPr>
                  <a:t>来提升采样密度</a:t>
                </a:r>
                <a:r>
                  <a:rPr lang="zh-CN" altLang="en-US" sz="1800" dirty="0">
                    <a:latin typeface="黑体" panose="02010609060101010101" pitchFamily="49" charset="-122"/>
                  </a:rPr>
                  <a:t>，但是只改变了采样间隔，不改变频谱分辨率</a:t>
                </a:r>
                <a:endParaRPr lang="en-US" altLang="zh-CN" sz="1800" dirty="0">
                  <a:latin typeface="黑体" panose="02010609060101010101" pitchFamily="49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sz="1800" dirty="0">
                  <a:latin typeface="黑体" panose="02010609060101010101" pitchFamily="49" charset="-122"/>
                </a:endParaRPr>
              </a:p>
              <a:p>
                <a:pPr marL="0" indent="457200">
                  <a:buNone/>
                </a:pPr>
                <a:endParaRPr lang="en-US" altLang="zh-CN" sz="2000" dirty="0">
                  <a:latin typeface="黑体" panose="02010609060101010101" pitchFamily="49" charset="-122"/>
                </a:endParaRPr>
              </a:p>
              <a:p>
                <a:pPr marL="0" indent="457200">
                  <a:buNone/>
                </a:pPr>
                <a:endParaRPr lang="en-US" altLang="zh-CN" sz="2000" dirty="0">
                  <a:latin typeface="黑体" panose="02010609060101010101" pitchFamily="49" charset="-122"/>
                </a:endParaRPr>
              </a:p>
              <a:p>
                <a:pPr>
                  <a:spcBef>
                    <a:spcPts val="120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FFT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计算无限长序列的频谱</a:t>
                </a:r>
                <a:endParaRPr lang="en-US" altLang="zh-CN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1800" dirty="0">
                    <a:latin typeface="黑体" panose="02010609060101010101" pitchFamily="49" charset="-122"/>
                  </a:rPr>
                  <a:t>将无限长序列截断成有限长序列序列长度取值影响频谱精度，时域信号长度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sz="1800" i="1">
                        <a:latin typeface="Cambria Math" panose="02040503050406030204" pitchFamily="18" charset="0"/>
                      </a:rPr>
                      <m:t>越长</m:t>
                    </m:r>
                  </m:oMath>
                </a14:m>
                <a:r>
                  <a:rPr lang="zh-CN" altLang="en-US" sz="1800" dirty="0">
                    <a:latin typeface="黑体" panose="02010609060101010101" pitchFamily="49" charset="-122"/>
                  </a:rPr>
                  <a:t>，分辨率越高</a:t>
                </a:r>
                <a:endParaRPr lang="en-US" altLang="zh-CN" sz="1800" dirty="0">
                  <a:latin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1056488"/>
                <a:ext cx="8362162" cy="5380765"/>
              </a:xfrm>
              <a:blipFill>
                <a:blip r:embed="rId3"/>
                <a:stretch>
                  <a:fillRect l="-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4F5EBA4-DD57-4835-8EDC-DE7B008DB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8" y="2154327"/>
            <a:ext cx="7263179" cy="9656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813B5DD-FC3A-43AE-A402-B06B7C39F8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48" y="3697794"/>
            <a:ext cx="7338541" cy="116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6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56FAB68-DBF5-49E1-BD36-866D90814710}"/>
              </a:ext>
            </a:extLst>
          </p:cNvPr>
          <p:cNvSpPr txBox="1">
            <a:spLocks/>
          </p:cNvSpPr>
          <p:nvPr/>
        </p:nvSpPr>
        <p:spPr>
          <a:xfrm>
            <a:off x="1028700" y="857250"/>
            <a:ext cx="7086600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marL="0" lvl="1" defTabSz="914400">
              <a:lnSpc>
                <a:spcPct val="150000"/>
              </a:lnSpc>
            </a:pPr>
            <a:r>
              <a:rPr lang="zh-CN" altLang="en-US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r>
              <a:rPr lang="zh-CN" altLang="en-US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进行谱分析的误差问题</a:t>
            </a:r>
            <a:endParaRPr lang="en-US" altLang="zh-CN" sz="27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2836822-97E9-4B98-8AB9-88D2A93E4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600200"/>
            <a:ext cx="8858250" cy="42291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1</a:t>
            </a:r>
            <a:r>
              <a:rPr lang="zh-CN" altLang="en-US" sz="1800" dirty="0">
                <a:solidFill>
                  <a:srgbClr val="FF0000"/>
                </a:solidFill>
              </a:rPr>
              <a:t>、混叠现象；</a:t>
            </a:r>
            <a:r>
              <a:rPr lang="en-US" altLang="zh-CN" sz="1800" dirty="0"/>
              <a:t>2</a:t>
            </a:r>
            <a:r>
              <a:rPr lang="zh-CN" altLang="en-US" sz="1800" dirty="0"/>
              <a:t>、栅栏效应；</a:t>
            </a:r>
            <a:r>
              <a:rPr lang="en-US" altLang="zh-CN" sz="1800" dirty="0"/>
              <a:t>3</a:t>
            </a:r>
            <a:r>
              <a:rPr lang="zh-CN" altLang="en-US" sz="1800" dirty="0"/>
              <a:t>、截断效应</a:t>
            </a: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1800" dirty="0">
                <a:solidFill>
                  <a:srgbClr val="0000CC"/>
                </a:solidFill>
              </a:rPr>
              <a:t>1</a:t>
            </a:r>
            <a:r>
              <a:rPr lang="zh-CN" altLang="en-US" sz="1800" dirty="0">
                <a:solidFill>
                  <a:srgbClr val="0000CC"/>
                </a:solidFill>
              </a:rPr>
              <a:t>、混叠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1800" dirty="0"/>
              <a:t>用</a:t>
            </a:r>
            <a:r>
              <a:rPr lang="en-US" altLang="zh-CN" sz="1800" dirty="0"/>
              <a:t>DFT</a:t>
            </a:r>
            <a:r>
              <a:rPr lang="zh-CN" altLang="en-US" sz="1800" dirty="0"/>
              <a:t>分析信号频谱，必须对信号进行采样，容易在</a:t>
            </a:r>
            <a:r>
              <a:rPr lang="en-US" altLang="zh-CN" sz="1800" dirty="0"/>
              <a:t>w=</a:t>
            </a:r>
            <a:r>
              <a:rPr lang="el-GR" altLang="zh-CN" sz="1800" dirty="0"/>
              <a:t>π</a:t>
            </a:r>
            <a:r>
              <a:rPr lang="zh-CN" altLang="en-US" sz="1800" dirty="0"/>
              <a:t>处产生混叠。</a:t>
            </a: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1800" dirty="0"/>
              <a:t>因此，应尽量使</a:t>
            </a: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1800" dirty="0"/>
              <a:t>如果</a:t>
            </a:r>
            <a:r>
              <a:rPr lang="en-US" altLang="zh-CN" sz="1800" dirty="0"/>
              <a:t>fs</a:t>
            </a:r>
            <a:r>
              <a:rPr lang="zh-CN" altLang="en-US" sz="1800" dirty="0"/>
              <a:t>受限，应在采样前进行模拟低通（带通）滤波，滤除高于</a:t>
            </a:r>
            <a:r>
              <a:rPr lang="en-US" altLang="zh-CN" sz="1800" dirty="0"/>
              <a:t>fs/2</a:t>
            </a:r>
            <a:r>
              <a:rPr lang="zh-CN" altLang="en-US" sz="1800" dirty="0"/>
              <a:t>的</a:t>
            </a: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1800" dirty="0"/>
              <a:t>频率成分，降低混叠影响。</a:t>
            </a: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/>
              <a:t>工程中：通常采用的</a:t>
            </a:r>
            <a:r>
              <a:rPr lang="en-US" altLang="zh-CN" sz="1800" dirty="0"/>
              <a:t>fs</a:t>
            </a:r>
            <a:r>
              <a:rPr lang="zh-CN" altLang="en-US" sz="1800" dirty="0"/>
              <a:t>高于</a:t>
            </a:r>
            <a:r>
              <a:rPr lang="en-US" altLang="zh-CN" sz="1800" dirty="0"/>
              <a:t>Fc</a:t>
            </a:r>
            <a:r>
              <a:rPr lang="zh-CN" altLang="en-US" sz="1800" dirty="0"/>
              <a:t>若干倍（</a:t>
            </a:r>
            <a:r>
              <a:rPr lang="en-US" altLang="zh-CN" sz="1800" dirty="0"/>
              <a:t>3~7</a:t>
            </a:r>
            <a:r>
              <a:rPr lang="zh-CN" altLang="en-US" sz="1800" dirty="0"/>
              <a:t>），降低模拟滤波器设计难度（阶数较低，过渡带宽，设计难度小），然后再采用数字滤波（阶数高，非常陡峭），滤除带外干扰，然后降采样，降低数据率。</a:t>
            </a:r>
            <a:endParaRPr lang="en-US" altLang="zh-CN" sz="1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zh-CN" altLang="en-US" sz="1800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C62EBAC-568D-4B38-A990-098DA0EB38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6150" y="2957955"/>
          <a:ext cx="1428750" cy="46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Equation" r:id="rId4" imgW="469800" imgH="190440" progId="Equation.DSMT4">
                  <p:embed/>
                </p:oleObj>
              </mc:Choice>
              <mc:Fallback>
                <p:oleObj name="Equation" r:id="rId4" imgW="469800" imgH="1904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C62EBAC-568D-4B38-A990-098DA0EB38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86150" y="2957955"/>
                        <a:ext cx="1428750" cy="46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985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33C48DBC-E73B-4139-924F-D92DCF116395}"/>
              </a:ext>
            </a:extLst>
          </p:cNvPr>
          <p:cNvSpPr txBox="1">
            <a:spLocks/>
          </p:cNvSpPr>
          <p:nvPr/>
        </p:nvSpPr>
        <p:spPr>
          <a:xfrm>
            <a:off x="1028700" y="857250"/>
            <a:ext cx="7086600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marL="0" lvl="1" defTabSz="914400">
              <a:lnSpc>
                <a:spcPct val="150000"/>
              </a:lnSpc>
            </a:pPr>
            <a:r>
              <a:rPr lang="zh-CN" altLang="en-US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r>
              <a:rPr lang="zh-CN" altLang="en-US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进行谱分析的误差问题</a:t>
            </a:r>
            <a:endParaRPr lang="en-US" altLang="zh-CN" sz="27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60531E7-D835-4700-A851-059093A0A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600200"/>
            <a:ext cx="8743950" cy="40005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、栅栏效应；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/>
              <a:t>栅栏效应：</a:t>
            </a:r>
            <a:r>
              <a:rPr lang="en-US" altLang="zh-CN" sz="1800" dirty="0"/>
              <a:t>DFT</a:t>
            </a:r>
            <a:r>
              <a:rPr lang="zh-CN" altLang="en-US" sz="1800" dirty="0"/>
              <a:t>在频域</a:t>
            </a:r>
            <a:r>
              <a:rPr lang="en-US" altLang="zh-CN" sz="1800" dirty="0"/>
              <a:t>[0,2</a:t>
            </a:r>
            <a:r>
              <a:rPr lang="el-GR" altLang="zh-CN" sz="1800" dirty="0"/>
              <a:t>π</a:t>
            </a:r>
            <a:r>
              <a:rPr lang="en-US" altLang="zh-CN" sz="1800" dirty="0"/>
              <a:t>]</a:t>
            </a:r>
            <a:r>
              <a:rPr lang="zh-CN" altLang="en-US" sz="1800" dirty="0"/>
              <a:t>之间的</a:t>
            </a:r>
            <a:r>
              <a:rPr lang="en-US" altLang="zh-CN" sz="1800" dirty="0"/>
              <a:t>N</a:t>
            </a:r>
            <a:r>
              <a:rPr lang="zh-CN" altLang="en-US" sz="1800" dirty="0"/>
              <a:t>点采样，采样点之间的频谱是看不到的，好像从</a:t>
            </a:r>
            <a:r>
              <a:rPr lang="en-US" altLang="zh-CN" sz="1800" dirty="0"/>
              <a:t>N</a:t>
            </a:r>
            <a:r>
              <a:rPr lang="zh-CN" altLang="en-US" sz="1800" dirty="0"/>
              <a:t>个栅栏缝隙中观察频谱，而其它频率处的频谱看不到，称之为栅栏效应。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/>
              <a:t>减小栅栏效应的方法：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/>
              <a:t>1</a:t>
            </a:r>
            <a:r>
              <a:rPr lang="zh-CN" altLang="en-US" sz="1800" dirty="0"/>
              <a:t>、补零</a:t>
            </a:r>
            <a:r>
              <a:rPr lang="en-US" altLang="zh-CN" sz="1800" dirty="0"/>
              <a:t>DFT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/>
              <a:t>2</a:t>
            </a:r>
            <a:r>
              <a:rPr lang="zh-CN" altLang="en-US" sz="1800" dirty="0"/>
              <a:t>、</a:t>
            </a:r>
            <a:r>
              <a:rPr lang="en-US" altLang="zh-CN" sz="1800" dirty="0"/>
              <a:t>Chirp-Z</a:t>
            </a:r>
            <a:r>
              <a:rPr lang="zh-CN" altLang="en-US" sz="1800" dirty="0"/>
              <a:t>变换细化局部频谱。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1AA1A82-1A5A-42EC-984B-22E263883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52" r="7541"/>
          <a:stretch/>
        </p:blipFill>
        <p:spPr>
          <a:xfrm>
            <a:off x="4114800" y="3030782"/>
            <a:ext cx="3680879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53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626573D-8728-46E6-BC9F-FA5AC138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频率分辨率和栅栏效应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B5D48D-C139-44E7-B93D-D45D63699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8A131A2-FB2F-4543-87EA-EC264C4D417C}"/>
                  </a:ext>
                </a:extLst>
              </p:cNvPr>
              <p:cNvSpPr/>
              <p:nvPr/>
            </p:nvSpPr>
            <p:spPr>
              <a:xfrm>
                <a:off x="457200" y="1485901"/>
                <a:ext cx="8429625" cy="33234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342900">
                  <a:lnSpc>
                    <a:spcPct val="150000"/>
                  </a:lnSpc>
                </a:pPr>
                <a:r>
                  <a:rPr lang="zh-CN" altLang="en-US" sz="2000" dirty="0"/>
                  <a:t>要说明的是，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栅栏效应与频率分辨率是不同的两个概念</a:t>
                </a:r>
                <a:r>
                  <a:rPr lang="zh-CN" altLang="en-US" sz="2000" dirty="0"/>
                  <a:t>。如果截取长度为 N 的一段数据序列，则可以在其后面补 N 个零，再进行 2N点 DFT，使栅栏宽度减半，从而减轻了栅栏效应。但是这种截短后补零的方法不能提高频率分辨率。因为截短已经使频谱变模糊（主瓣展宽），补零后仅使采样间隔变小，但得到的频谱采样的包络仍是已经变模糊的频谱，所以频率分辨率没有提高。因此，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要提高频率分辨率，就必须对原始信号截取的长度加长</a:t>
                </a:r>
                <a:r>
                  <a:rPr lang="zh-CN" altLang="en-US" sz="2000" dirty="0"/>
                  <a:t>(对模拟信号，就是增加采样时间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sz="2000" dirty="0"/>
                  <a:t>的长度)。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8A131A2-FB2F-4543-87EA-EC264C4D41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85901"/>
                <a:ext cx="8429625" cy="3323410"/>
              </a:xfrm>
              <a:prstGeom prst="rect">
                <a:avLst/>
              </a:prstGeom>
              <a:blipFill>
                <a:blip r:embed="rId2"/>
                <a:stretch>
                  <a:fillRect l="-723" r="-578" b="-1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764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A93D24A-C50F-43C0-9C18-804E5C4C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补零并无法提高分辨率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0B0150-256B-4C93-812D-7AE93D505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3200400" cy="4171950"/>
          </a:xfrm>
        </p:spPr>
        <p:txBody>
          <a:bodyPr/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11MHz</a:t>
            </a:r>
          </a:p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11.1MHz</a:t>
            </a:r>
          </a:p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频率分辨率：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0.1MHz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8" name="内容占位符 5">
            <a:extLst>
              <a:ext uri="{FF2B5EF4-FFF2-40B4-BE49-F238E27FC236}">
                <a16:creationId xmlns:a16="http://schemas.microsoft.com/office/drawing/2014/main" id="{C66B893E-CECE-45F4-8CD6-8F091DA01451}"/>
              </a:ext>
            </a:extLst>
          </p:cNvPr>
          <p:cNvSpPr txBox="1">
            <a:spLocks/>
          </p:cNvSpPr>
          <p:nvPr/>
        </p:nvSpPr>
        <p:spPr bwMode="auto">
          <a:xfrm>
            <a:off x="3200400" y="1600200"/>
            <a:ext cx="32004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9048" tIns="34525" rIns="69048" bIns="34525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Wingdings" pitchFamily="2" charset="2"/>
              <a:buChar char="Ø"/>
              <a:defRPr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1pPr>
            <a:lvl2pPr marL="862013" indent="-3413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2pPr>
            <a:lvl3pPr marL="1204913" indent="-2286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p"/>
              <a:defRPr sz="20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3pPr>
            <a:lvl4pPr marL="1546225" indent="-11906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u"/>
              <a:defRPr sz="1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4pPr>
            <a:lvl5pPr marL="1828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Char char=" "/>
              <a:defRPr sz="16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5pPr>
            <a:lvl6pPr marL="22860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6pPr>
            <a:lvl7pPr marL="27432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7pPr>
            <a:lvl8pPr marL="32004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8pPr>
            <a:lvl9pPr marL="36576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11MHz</a:t>
            </a:r>
          </a:p>
          <a:p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11.05MHz</a:t>
            </a:r>
          </a:p>
          <a:p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频率分辨率：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0.1MHz</a:t>
            </a:r>
            <a:endParaRPr lang="zh-CN" altLang="en-US" sz="1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kern="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805A55D-37CE-4D15-AE66-5B0D88492093}"/>
              </a:ext>
            </a:extLst>
          </p:cNvPr>
          <p:cNvCxnSpPr>
            <a:cxnSpLocks/>
          </p:cNvCxnSpPr>
          <p:nvPr/>
        </p:nvCxnSpPr>
        <p:spPr bwMode="auto">
          <a:xfrm>
            <a:off x="1576388" y="2800350"/>
            <a:ext cx="0" cy="109592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57A887AE-9B21-4063-B426-F6E921457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1790" y="3956617"/>
            <a:ext cx="3543300" cy="15607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EF85C92-F2EA-4A29-AD56-930CC01C4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943350"/>
            <a:ext cx="2971800" cy="165735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AE75AEE-121E-4F63-9FF6-EF18C8CAB92C}"/>
              </a:ext>
            </a:extLst>
          </p:cNvPr>
          <p:cNvCxnSpPr>
            <a:cxnSpLocks/>
          </p:cNvCxnSpPr>
          <p:nvPr/>
        </p:nvCxnSpPr>
        <p:spPr bwMode="auto">
          <a:xfrm flipH="1">
            <a:off x="4605168" y="2857500"/>
            <a:ext cx="4933" cy="106952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2" name="内容占位符 5">
            <a:extLst>
              <a:ext uri="{FF2B5EF4-FFF2-40B4-BE49-F238E27FC236}">
                <a16:creationId xmlns:a16="http://schemas.microsoft.com/office/drawing/2014/main" id="{9E44854B-3FC0-4460-8307-56E063BB0BB2}"/>
              </a:ext>
            </a:extLst>
          </p:cNvPr>
          <p:cNvSpPr txBox="1">
            <a:spLocks/>
          </p:cNvSpPr>
          <p:nvPr/>
        </p:nvSpPr>
        <p:spPr bwMode="auto">
          <a:xfrm>
            <a:off x="6115050" y="1600200"/>
            <a:ext cx="32004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9048" tIns="34525" rIns="69048" bIns="34525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Wingdings" pitchFamily="2" charset="2"/>
              <a:buChar char="Ø"/>
              <a:defRPr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1pPr>
            <a:lvl2pPr marL="862013" indent="-3413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2pPr>
            <a:lvl3pPr marL="1204913" indent="-2286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p"/>
              <a:defRPr sz="20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3pPr>
            <a:lvl4pPr marL="1546225" indent="-11906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u"/>
              <a:defRPr sz="1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4pPr>
            <a:lvl5pPr marL="1828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Char char=" "/>
              <a:defRPr sz="16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5pPr>
            <a:lvl6pPr marL="22860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6pPr>
            <a:lvl7pPr marL="27432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7pPr>
            <a:lvl8pPr marL="32004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8pPr>
            <a:lvl9pPr marL="36576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11MHz</a:t>
            </a:r>
          </a:p>
          <a:p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11.05MHz</a:t>
            </a:r>
          </a:p>
          <a:p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频率分辨率：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0.05MHz</a:t>
            </a:r>
            <a:endParaRPr lang="zh-CN" altLang="en-US" sz="1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100" kern="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661BA8A-4E4F-48E8-81B1-BAC0D2356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3907505"/>
            <a:ext cx="3486150" cy="172904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15660AC-7D8A-4B0B-BC22-A3A08D5B30A1}"/>
              </a:ext>
            </a:extLst>
          </p:cNvPr>
          <p:cNvCxnSpPr>
            <a:cxnSpLocks/>
          </p:cNvCxnSpPr>
          <p:nvPr/>
        </p:nvCxnSpPr>
        <p:spPr bwMode="auto">
          <a:xfrm>
            <a:off x="7429500" y="2857501"/>
            <a:ext cx="0" cy="105523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83582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2369BF7-DC4C-41C4-9D07-2871310BA7E9}"/>
              </a:ext>
            </a:extLst>
          </p:cNvPr>
          <p:cNvSpPr txBox="1">
            <a:spLocks/>
          </p:cNvSpPr>
          <p:nvPr/>
        </p:nvSpPr>
        <p:spPr>
          <a:xfrm>
            <a:off x="1028700" y="857250"/>
            <a:ext cx="7086600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marL="0" lvl="1" defTabSz="914400">
              <a:lnSpc>
                <a:spcPct val="150000"/>
              </a:lnSpc>
            </a:pPr>
            <a:r>
              <a:rPr lang="zh-CN" altLang="en-US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r>
              <a:rPr lang="zh-CN" altLang="en-US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进行谱分析的误差问题</a:t>
            </a:r>
            <a:endParaRPr lang="en-US" altLang="zh-CN" sz="27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B3DB882-E60D-432E-A6DF-9EDA82F0A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156" y="1538435"/>
            <a:ext cx="8743950" cy="85725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、截断效应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泄露与谱间干扰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0000CC"/>
                </a:solidFill>
              </a:rPr>
              <a:t>实际中遇到的信号</a:t>
            </a:r>
            <a:r>
              <a:rPr lang="en-US" altLang="zh-CN" sz="1500" dirty="0">
                <a:solidFill>
                  <a:srgbClr val="0000CC"/>
                </a:solidFill>
              </a:rPr>
              <a:t>x(n)</a:t>
            </a:r>
            <a:r>
              <a:rPr lang="zh-CN" altLang="en-US" sz="1500" dirty="0">
                <a:solidFill>
                  <a:srgbClr val="0000CC"/>
                </a:solidFill>
              </a:rPr>
              <a:t>可能是无穷长的，用</a:t>
            </a:r>
            <a:r>
              <a:rPr lang="en-US" altLang="zh-CN" sz="1500" dirty="0">
                <a:solidFill>
                  <a:srgbClr val="0000CC"/>
                </a:solidFill>
              </a:rPr>
              <a:t>DFT</a:t>
            </a:r>
            <a:r>
              <a:rPr lang="zh-CN" altLang="en-US" sz="1500" dirty="0">
                <a:solidFill>
                  <a:srgbClr val="0000CC"/>
                </a:solidFill>
              </a:rPr>
              <a:t>分析必须进行截断，形成有限长序列</a:t>
            </a:r>
            <a:r>
              <a:rPr lang="en-US" altLang="zh-CN" sz="1500" dirty="0">
                <a:solidFill>
                  <a:srgbClr val="0000CC"/>
                </a:solidFill>
              </a:rPr>
              <a:t>y(n)=x(n)·w(n);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500" dirty="0">
                <a:solidFill>
                  <a:srgbClr val="0000CC"/>
                </a:solidFill>
              </a:rPr>
              <a:t>w(n)</a:t>
            </a:r>
            <a:r>
              <a:rPr lang="zh-CN" altLang="en-US" sz="1500" dirty="0">
                <a:solidFill>
                  <a:srgbClr val="0000CC"/>
                </a:solidFill>
              </a:rPr>
              <a:t>称之为窗函数，常用的为</a:t>
            </a:r>
            <a:r>
              <a:rPr lang="en-US" altLang="zh-CN" sz="1500" dirty="0">
                <a:solidFill>
                  <a:srgbClr val="0000CC"/>
                </a:solidFill>
              </a:rPr>
              <a:t>R</a:t>
            </a:r>
            <a:r>
              <a:rPr lang="en-US" altLang="zh-CN" sz="1500" baseline="-25000" dirty="0">
                <a:solidFill>
                  <a:srgbClr val="0000CC"/>
                </a:solidFill>
              </a:rPr>
              <a:t>N</a:t>
            </a:r>
            <a:r>
              <a:rPr lang="en-US" altLang="zh-CN" sz="1500" dirty="0">
                <a:solidFill>
                  <a:srgbClr val="0000CC"/>
                </a:solidFill>
              </a:rPr>
              <a:t>(n)</a:t>
            </a:r>
            <a:r>
              <a:rPr lang="zh-CN" altLang="en-US" sz="1500" dirty="0">
                <a:solidFill>
                  <a:srgbClr val="0000CC"/>
                </a:solidFill>
              </a:rPr>
              <a:t>，根据傅里叶变换的频域卷积定理，有</a:t>
            </a:r>
            <a:endParaRPr lang="en-US" altLang="zh-CN" sz="1500" dirty="0">
              <a:solidFill>
                <a:srgbClr val="0000CC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500" dirty="0">
              <a:solidFill>
                <a:srgbClr val="FF0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C81C620-C326-4ECF-8C81-2D6A609542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57450"/>
            <a:ext cx="5943600" cy="5783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12F670E-D5D3-4DDE-B884-91DE2843A4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058399"/>
            <a:ext cx="3711150" cy="358010"/>
          </a:xfrm>
          <a:prstGeom prst="rect">
            <a:avLst/>
          </a:prstGeom>
        </p:spPr>
      </p:pic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714B6851-B2A8-4173-A699-9831F183C1CD}"/>
              </a:ext>
            </a:extLst>
          </p:cNvPr>
          <p:cNvSpPr txBox="1">
            <a:spLocks/>
          </p:cNvSpPr>
          <p:nvPr/>
        </p:nvSpPr>
        <p:spPr bwMode="auto">
          <a:xfrm>
            <a:off x="263156" y="3393573"/>
            <a:ext cx="8743950" cy="358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9048" tIns="34525" rIns="69048" bIns="34525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Wingdings" pitchFamily="2" charset="2"/>
              <a:buChar char="Ø"/>
              <a:defRPr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1pPr>
            <a:lvl2pPr marL="862013" indent="-3413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2pPr>
            <a:lvl3pPr marL="1204913" indent="-2286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p"/>
              <a:defRPr sz="20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3pPr>
            <a:lvl4pPr marL="1546225" indent="-11906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itchFamily="2" charset="2"/>
              <a:buChar char="u"/>
              <a:defRPr sz="1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4pPr>
            <a:lvl5pPr marL="1828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00000"/>
              <a:buChar char=" "/>
              <a:defRPr sz="16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defRPr>
            </a:lvl5pPr>
            <a:lvl6pPr marL="22860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6pPr>
            <a:lvl7pPr marL="27432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7pPr>
            <a:lvl8pPr marL="32004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8pPr>
            <a:lvl9pPr marL="3657600" algn="l" rtl="0" eaLnBrk="0" fontAlgn="base" hangingPunct="0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SzPct val="100000"/>
              <a:buChar char=" "/>
              <a:defRPr sz="14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5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对矩形函数</a:t>
            </a:r>
            <a:r>
              <a:rPr lang="en-US" altLang="zh-CN" sz="15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w(n)=R</a:t>
            </a:r>
            <a:r>
              <a:rPr lang="en-US" altLang="zh-CN" sz="1500" kern="0" baseline="-25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5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(n),</a:t>
            </a:r>
            <a:r>
              <a:rPr lang="zh-CN" altLang="en-US" sz="1500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频谱为</a:t>
            </a:r>
            <a:endParaRPr lang="en-US" altLang="zh-CN" sz="1500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288AD5B-A126-4F61-974B-66EEEED820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3779198"/>
            <a:ext cx="5486400" cy="93318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2E93883-BA1F-4274-807C-41A2C07DD765}"/>
              </a:ext>
            </a:extLst>
          </p:cNvPr>
          <p:cNvSpPr txBox="1"/>
          <p:nvPr/>
        </p:nvSpPr>
        <p:spPr>
          <a:xfrm>
            <a:off x="285750" y="4800600"/>
            <a:ext cx="46291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solidFill>
                  <a:srgbClr val="0000CC"/>
                </a:solidFill>
              </a:rPr>
              <a:t>对于正弦信号                          ， 频谱为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70D68B2-E01F-486C-B7F8-474D95EC4F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1062" y="4714821"/>
          <a:ext cx="1249877" cy="517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7" imgW="888840" imgH="368280" progId="Equation.DSMT4">
                  <p:embed/>
                </p:oleObj>
              </mc:Choice>
              <mc:Fallback>
                <p:oleObj name="Equation" r:id="rId7" imgW="888840" imgH="3682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770D68B2-E01F-486C-B7F8-474D95EC4F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61062" y="4714821"/>
                        <a:ext cx="1249877" cy="517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AD6E8D7B-D3DD-4243-99E9-1B9C211DCC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668" y="5318406"/>
            <a:ext cx="4368851" cy="51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CC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2369BF7-DC4C-41C4-9D07-2871310BA7E9}"/>
              </a:ext>
            </a:extLst>
          </p:cNvPr>
          <p:cNvSpPr txBox="1">
            <a:spLocks/>
          </p:cNvSpPr>
          <p:nvPr/>
        </p:nvSpPr>
        <p:spPr>
          <a:xfrm>
            <a:off x="1028700" y="857250"/>
            <a:ext cx="7086600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pPr marL="0" lvl="1" defTabSz="914400">
              <a:lnSpc>
                <a:spcPct val="150000"/>
              </a:lnSpc>
            </a:pPr>
            <a:r>
              <a:rPr lang="zh-CN" altLang="en-US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DFT</a:t>
            </a:r>
            <a:r>
              <a:rPr lang="zh-CN" altLang="en-US" sz="2700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进行谱分析的误差问题</a:t>
            </a:r>
            <a:endParaRPr lang="en-US" altLang="zh-CN" sz="27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843D512-2F62-4639-9387-42D4BDB60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600200"/>
            <a:ext cx="8743950" cy="85725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、截断效应；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0000CC"/>
                </a:solidFill>
              </a:rPr>
              <a:t>截断后，频谱与</a:t>
            </a:r>
            <a:r>
              <a:rPr lang="en-US" altLang="zh-CN" sz="1500" dirty="0" err="1">
                <a:solidFill>
                  <a:srgbClr val="0000CC"/>
                </a:solidFill>
              </a:rPr>
              <a:t>sinc</a:t>
            </a:r>
            <a:r>
              <a:rPr lang="zh-CN" altLang="en-US" sz="1500" dirty="0">
                <a:solidFill>
                  <a:srgbClr val="0000CC"/>
                </a:solidFill>
              </a:rPr>
              <a:t>函数进行卷积，得到成对的两个</a:t>
            </a:r>
            <a:r>
              <a:rPr lang="en-US" altLang="zh-CN" sz="1500" dirty="0" err="1">
                <a:solidFill>
                  <a:srgbClr val="0000CC"/>
                </a:solidFill>
              </a:rPr>
              <a:t>sinc</a:t>
            </a:r>
            <a:r>
              <a:rPr lang="zh-CN" altLang="en-US" sz="1500" dirty="0">
                <a:solidFill>
                  <a:srgbClr val="0000CC"/>
                </a:solidFill>
              </a:rPr>
              <a:t>函数</a:t>
            </a:r>
            <a:endParaRPr lang="en-US" altLang="zh-CN" sz="1500" dirty="0">
              <a:solidFill>
                <a:srgbClr val="0000CC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2DC8A5C-7259-410D-B111-4ACEAB1F2C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089" y="2312847"/>
            <a:ext cx="4368851" cy="517806"/>
          </a:xfrm>
          <a:prstGeom prst="rect">
            <a:avLst/>
          </a:prstGeom>
        </p:spPr>
      </p:pic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5EB25DC-C7BD-4F19-963C-8E9C9AF0B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5538" y="2915254"/>
          <a:ext cx="5637518" cy="1116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5" imgW="3784320" imgH="749160" progId="Equation.DSMT4">
                  <p:embed/>
                </p:oleObj>
              </mc:Choice>
              <mc:Fallback>
                <p:oleObj name="Equation" r:id="rId5" imgW="3784320" imgH="7491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15EB25DC-C7BD-4F19-963C-8E9C9AF0B7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5538" y="2915254"/>
                        <a:ext cx="5637518" cy="1116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BE5C4971-A9DA-4088-B58F-DBC8116009D4}"/>
              </a:ext>
            </a:extLst>
          </p:cNvPr>
          <p:cNvSpPr txBox="1"/>
          <p:nvPr/>
        </p:nvSpPr>
        <p:spPr>
          <a:xfrm>
            <a:off x="257438" y="3300205"/>
            <a:ext cx="17430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/>
              <a:t>主值区间的谱为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252A09-D040-497F-851C-CD09C58C1316}"/>
              </a:ext>
            </a:extLst>
          </p:cNvPr>
          <p:cNvSpPr/>
          <p:nvPr/>
        </p:nvSpPr>
        <p:spPr>
          <a:xfrm>
            <a:off x="114300" y="4116007"/>
            <a:ext cx="6057900" cy="175432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、冲击函数变成</a:t>
            </a:r>
            <a:r>
              <a:rPr lang="en-US" altLang="zh-CN" dirty="0" err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sinc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函数，频谱出现展宽，称之为泄露。</a:t>
            </a:r>
            <a:endParaRPr lang="en-US" altLang="zh-CN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、主瓣两边形成很多旁瓣，引起不同不同频率分量之间的干扰</a:t>
            </a:r>
            <a:r>
              <a:rPr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称之为谱间干扰；谱间干扰导致，强信号的谱线可能淹没弱信号的谱线。或者将强信号的旁瓣误认为其它信号的谱线，造成假信号。</a:t>
            </a:r>
            <a:endParaRPr lang="en-US" altLang="zh-CN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矩形窗的旁瓣最大，因此产生的谱间干扰最大。</a:t>
            </a:r>
            <a:endParaRPr lang="zh-CN" altLang="en-US" dirty="0">
              <a:solidFill>
                <a:srgbClr val="FFFF00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543D725-341A-4B49-9C6C-92DD28C3F63C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7" t="19155" r="21490" b="27511"/>
          <a:stretch/>
        </p:blipFill>
        <p:spPr>
          <a:xfrm rot="16200000">
            <a:off x="6915151" y="3630753"/>
            <a:ext cx="1600200" cy="274320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61207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1037699"/>
                <a:ext cx="8362162" cy="5417646"/>
              </a:xfrm>
            </p:spPr>
            <p:txBody>
              <a:bodyPr>
                <a:noAutofit/>
              </a:bodyPr>
              <a:lstStyle/>
              <a:p>
                <a:r>
                  <a:rPr kumimoji="1" lang="zh-CN" altLang="en-US" sz="2000" dirty="0"/>
                  <a:t>时域抽样与信号的重建</a:t>
                </a:r>
                <a:endParaRPr kumimoji="1" lang="en-US" altLang="zh-CN" sz="2000" dirty="0"/>
              </a:p>
              <a:p>
                <a:pPr marL="0" indent="457200">
                  <a:buNone/>
                </a:pPr>
                <a:r>
                  <a:rPr kumimoji="1" lang="zh-CN" altLang="en-US" sz="2000" dirty="0"/>
                  <a:t>时域抽样定理：设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/>
                  <a:t>是带限实信号，最高频率为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zh-CN" altLang="en-US" sz="2000" dirty="0"/>
                  <a:t>，则抽样后信号频谱不混叠的条件为：</a:t>
                </a:r>
                <a:endParaRPr kumimoji="1" lang="en-US" altLang="zh-CN" sz="2000" dirty="0"/>
              </a:p>
              <a:p>
                <a:pPr marL="0" indent="457200">
                  <a:buNone/>
                </a:pPr>
                <a:r>
                  <a:rPr kumimoji="1" lang="zh-CN" altLang="en-US" sz="2000" dirty="0"/>
                  <a:t>抽样频率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𝑠𝑎𝑚</m:t>
                        </m:r>
                      </m:sub>
                    </m:sSub>
                  </m:oMath>
                </a14:m>
                <a:r>
                  <a:rPr kumimoji="1" lang="zh-CN" altLang="en-US" sz="2000" dirty="0"/>
                  <a:t>满足：</a:t>
                </a:r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𝑠𝑎𝑚</m:t>
                        </m:r>
                      </m:sub>
                    </m:sSub>
                    <m:r>
                      <a:rPr kumimoji="1"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或</m:t>
                    </m:r>
                    <m:sSub>
                      <m:sSub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𝑠𝑎𝑚</m:t>
                        </m:r>
                      </m:sub>
                    </m:sSub>
                    <m:r>
                      <a:rPr kumimoji="1"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000" dirty="0"/>
              </a:p>
              <a:p>
                <a:pPr marL="0" indent="457200">
                  <a:buNone/>
                </a:pPr>
                <a:endParaRPr kumimoji="1" lang="en-US" altLang="zh-CN" sz="2000" dirty="0"/>
              </a:p>
              <a:p>
                <a:pPr marL="0" indent="457200">
                  <a:buNone/>
                </a:pPr>
                <a:endParaRPr kumimoji="1" lang="en-US" altLang="zh-CN" sz="2000" dirty="0"/>
              </a:p>
              <a:p>
                <a:pPr marL="0" indent="457200">
                  <a:buNone/>
                </a:pPr>
                <a:endParaRPr kumimoji="1" lang="en-US" altLang="zh-CN" sz="2000" dirty="0"/>
              </a:p>
              <a:p>
                <a:endParaRPr kumimoji="1" lang="en-US" altLang="zh-CN" sz="2000" dirty="0"/>
              </a:p>
              <a:p>
                <a:endParaRPr kumimoji="1" lang="en-US" altLang="zh-CN" sz="2000" dirty="0"/>
              </a:p>
              <a:p>
                <a:pPr marL="0" indent="0">
                  <a:buNone/>
                </a:pPr>
                <a:r>
                  <a:rPr kumimoji="1" lang="zh-CN" altLang="en-US" sz="1800" dirty="0"/>
                  <a:t>理想低通滤波器的频域特性为一矩形，其单位冲击响应为</a:t>
                </a:r>
                <a:endParaRPr kumimoji="1" lang="en-US" altLang="zh-CN" sz="1800" dirty="0"/>
              </a:p>
              <a:p>
                <a:pPr marL="0" indent="0">
                  <a:buNone/>
                </a:pPr>
                <a:r>
                  <a:rPr kumimoji="1" lang="zh-CN" altLang="en-US" sz="1800" dirty="0"/>
                  <a:t>信号通过低通滤波器输出结果为</a:t>
                </a:r>
                <a:endParaRPr kumimoji="1" lang="en-US" altLang="zh-CN" sz="1800" dirty="0"/>
              </a:p>
            </p:txBody>
          </p:sp>
        </mc:Choice>
        <mc:Fallback xmlns="">
          <p:sp>
            <p:nvSpPr>
              <p:cNvPr id="4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1037699"/>
                <a:ext cx="8362162" cy="5417646"/>
              </a:xfrm>
              <a:blipFill>
                <a:blip r:embed="rId4"/>
                <a:stretch>
                  <a:fillRect l="-729" t="-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3FF4FD9C-E0CD-463B-8FB3-A6FFC1EA0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09" y="2907768"/>
            <a:ext cx="7010400" cy="103346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33A1EA6-DA3A-4EE6-A7C4-7BDC623379C2}"/>
              </a:ext>
            </a:extLst>
          </p:cNvPr>
          <p:cNvSpPr/>
          <p:nvPr/>
        </p:nvSpPr>
        <p:spPr>
          <a:xfrm>
            <a:off x="742652" y="3992700"/>
            <a:ext cx="7498155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信号重建方法：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时域信号与理想滤波器单位冲击响应进行卷积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(2)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模拟低通滤波器滤波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BE4F60F-159F-43AC-82EC-D987FACE05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6869" y="4918576"/>
          <a:ext cx="2847131" cy="531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6" imgW="2450880" imgH="457200" progId="Equation.DSMT4">
                  <p:embed/>
                </p:oleObj>
              </mc:Choice>
              <mc:Fallback>
                <p:oleObj name="Equation" r:id="rId6" imgW="2450880" imgH="4572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BE4F60F-159F-43AC-82EC-D987FACE0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96869" y="4918576"/>
                        <a:ext cx="2847131" cy="5310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41BC3B9-63EF-4429-8BEF-72D69EC9F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1445" y="5770059"/>
          <a:ext cx="4080567" cy="580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Equation" r:id="rId8" imgW="3035160" imgH="431640" progId="Equation.DSMT4">
                  <p:embed/>
                </p:oleObj>
              </mc:Choice>
              <mc:Fallback>
                <p:oleObj name="Equation" r:id="rId8" imgW="303516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41BC3B9-63EF-4429-8BEF-72D69EC9FD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51445" y="5770059"/>
                        <a:ext cx="4080567" cy="5804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8145CAE-B311-4252-A984-1DEB8F685604}"/>
              </a:ext>
            </a:extLst>
          </p:cNvPr>
          <p:cNvSpPr/>
          <p:nvPr/>
        </p:nvSpPr>
        <p:spPr>
          <a:xfrm>
            <a:off x="997221" y="587564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内插公式</a:t>
            </a:r>
          </a:p>
        </p:txBody>
      </p:sp>
    </p:spTree>
    <p:extLst>
      <p:ext uri="{BB962C8B-B14F-4D97-AF65-F5344CB8AC3E}">
        <p14:creationId xmlns:p14="http://schemas.microsoft.com/office/powerpoint/2010/main" val="276748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435610" y="1037699"/>
            <a:ext cx="8362162" cy="565013"/>
          </a:xfrm>
        </p:spPr>
        <p:txBody>
          <a:bodyPr>
            <a:noAutofit/>
          </a:bodyPr>
          <a:lstStyle/>
          <a:p>
            <a:r>
              <a:rPr kumimoji="1" lang="zh-CN" altLang="en-US" sz="2000" dirty="0"/>
              <a:t>频域抽样与恢复</a:t>
            </a:r>
            <a:endParaRPr kumimoji="1" lang="en-US" altLang="zh-CN" sz="2000" dirty="0"/>
          </a:p>
          <a:p>
            <a:pPr marL="0" indent="457200">
              <a:buNone/>
            </a:pPr>
            <a:endParaRPr kumimoji="1"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8CDF840-B84D-445A-8E9E-6F0846C0A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480" y="1431288"/>
            <a:ext cx="3650376" cy="86859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00CA95B-462B-42EB-B283-579959CA62E8}"/>
              </a:ext>
            </a:extLst>
          </p:cNvPr>
          <p:cNvSpPr/>
          <p:nvPr/>
        </p:nvSpPr>
        <p:spPr>
          <a:xfrm>
            <a:off x="480829" y="2559495"/>
            <a:ext cx="7805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不失真恢复的条件？  有限长序列长度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与频域抽样点数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6F5362-43A9-4E8D-855A-68EFD445C322}"/>
              </a:ext>
            </a:extLst>
          </p:cNvPr>
          <p:cNvSpPr/>
          <p:nvPr/>
        </p:nvSpPr>
        <p:spPr>
          <a:xfrm>
            <a:off x="480829" y="3070611"/>
            <a:ext cx="6285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从频谱恢复连续时间信号与离散序列有哪些不同？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30B5AF1-D495-4D2B-AA49-1319D9F30FE2}"/>
                  </a:ext>
                </a:extLst>
              </p:cNvPr>
              <p:cNvSpPr txBox="1"/>
              <p:nvPr/>
            </p:nvSpPr>
            <p:spPr>
              <a:xfrm>
                <a:off x="894303" y="3702818"/>
                <a:ext cx="6349623" cy="1495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(1)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选择符合奈奎斯特定理的很小采样周期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(2)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lin"/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6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的频率区间内取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个频点，求出对应的数字频谱</a:t>
                </a:r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(3)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           做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IDFT,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求到的信号是原信号的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点周期延拓取主值区间</a:t>
                </a:r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30B5AF1-D495-4D2B-AA49-1319D9F30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03" y="3702818"/>
                <a:ext cx="6349623" cy="1495409"/>
              </a:xfrm>
              <a:prstGeom prst="rect">
                <a:avLst/>
              </a:prstGeom>
              <a:blipFill>
                <a:blip r:embed="rId5"/>
                <a:stretch>
                  <a:fillRect l="-576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5633DBE-6D11-4986-8210-0B3A36091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1033" y="4272154"/>
          <a:ext cx="1492974" cy="525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Equation" r:id="rId6" imgW="1117440" imgH="393480" progId="Equation.DSMT4">
                  <p:embed/>
                </p:oleObj>
              </mc:Choice>
              <mc:Fallback>
                <p:oleObj name="Equation" r:id="rId6" imgW="1117440" imgH="393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5633DBE-6D11-4986-8210-0B3A36091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11033" y="4272154"/>
                        <a:ext cx="1492974" cy="525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F9BA21D-C908-4A38-A946-128791B9DB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0208" y="4895520"/>
          <a:ext cx="622231" cy="302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Equation" r:id="rId8" imgW="469800" imgH="228600" progId="Equation.DSMT4">
                  <p:embed/>
                </p:oleObj>
              </mc:Choice>
              <mc:Fallback>
                <p:oleObj name="Equation" r:id="rId8" imgW="469800" imgH="228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F9BA21D-C908-4A38-A946-128791B9DB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0208" y="4895520"/>
                        <a:ext cx="622231" cy="3027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CCA17B-4F80-4C41-BF46-4B016588F3B5}"/>
              </a:ext>
            </a:extLst>
          </p:cNvPr>
          <p:cNvGrpSpPr/>
          <p:nvPr/>
        </p:nvGrpSpPr>
        <p:grpSpPr>
          <a:xfrm>
            <a:off x="1593055" y="2043420"/>
            <a:ext cx="330993" cy="247650"/>
            <a:chOff x="2050255" y="2067052"/>
            <a:chExt cx="330993" cy="24765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5991CB2-267E-48B3-8909-05109028C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4891" r="74070"/>
            <a:stretch/>
          </p:blipFill>
          <p:spPr>
            <a:xfrm>
              <a:off x="2050255" y="2067052"/>
              <a:ext cx="92183" cy="247650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FC00A1D-C622-41AB-A0B2-F59A4564C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63713" y="2100262"/>
              <a:ext cx="217535" cy="186857"/>
            </a:xfrm>
            <a:prstGeom prst="rect">
              <a:avLst/>
            </a:prstGeom>
          </p:spPr>
        </p:pic>
      </p:grp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7C126EE3-8299-489B-8017-A21C17D8DEE6}"/>
              </a:ext>
            </a:extLst>
          </p:cNvPr>
          <p:cNvCxnSpPr>
            <a:cxnSpLocks/>
          </p:cNvCxnSpPr>
          <p:nvPr/>
        </p:nvCxnSpPr>
        <p:spPr>
          <a:xfrm>
            <a:off x="1979219" y="2162790"/>
            <a:ext cx="66426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8C28598-A16E-4B79-99B4-BB4852778354}"/>
              </a:ext>
            </a:extLst>
          </p:cNvPr>
          <p:cNvSpPr txBox="1"/>
          <p:nvPr/>
        </p:nvSpPr>
        <p:spPr>
          <a:xfrm>
            <a:off x="1925681" y="1814750"/>
            <a:ext cx="664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DTFT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37826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E4675-4D01-4B01-8ADA-04EB68B84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6E8BF-A73D-4EAB-92E1-81508116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补零的作用。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时域补零，可以提高频域采样密度，类似频域插值；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频域补零，可以提高时域采样密度，类似时域插值。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5EC0BD-C3E9-4502-AE30-8BC2D660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6CCC0-930F-418E-A4E3-7631211F20B0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9999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2532</TotalTime>
  <Words>1721</Words>
  <Application>Microsoft Office PowerPoint</Application>
  <PresentationFormat>全屏显示(4:3)</PresentationFormat>
  <Paragraphs>153</Paragraphs>
  <Slides>15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等线</vt:lpstr>
      <vt:lpstr>黑体</vt:lpstr>
      <vt:lpstr>楷体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主题</vt:lpstr>
      <vt:lpstr>Equation</vt:lpstr>
      <vt:lpstr>数字信号处理实验三</vt:lpstr>
      <vt:lpstr>实验目的</vt:lpstr>
      <vt:lpstr>理论基础</vt:lpstr>
      <vt:lpstr>DFT与FT、ZT之间的关系</vt:lpstr>
      <vt:lpstr>DFT与DFS的关系</vt:lpstr>
      <vt:lpstr>理论基础</vt:lpstr>
      <vt:lpstr>理论基础</vt:lpstr>
      <vt:lpstr>理论基础</vt:lpstr>
      <vt:lpstr>频率分辨率和栅栏效应</vt:lpstr>
      <vt:lpstr>补零并无法提高分辨率</vt:lpstr>
      <vt:lpstr>理论基础</vt:lpstr>
      <vt:lpstr>理论基础</vt:lpstr>
      <vt:lpstr>理论基础</vt:lpstr>
      <vt:lpstr>理论基础</vt:lpstr>
      <vt:lpstr>思考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数字信号处理实验一 MATLAB基础</dc:title>
  <dc:creator>Dell</dc:creator>
  <cp:lastModifiedBy>涛</cp:lastModifiedBy>
  <cp:revision>172</cp:revision>
  <dcterms:created xsi:type="dcterms:W3CDTF">2019-11-06T11:20:58Z</dcterms:created>
  <dcterms:modified xsi:type="dcterms:W3CDTF">2026-05-20T13:52:46Z</dcterms:modified>
</cp:coreProperties>
</file>