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608" r:id="rId2"/>
    <p:sldId id="609" r:id="rId3"/>
    <p:sldId id="610" r:id="rId4"/>
    <p:sldId id="611" r:id="rId5"/>
    <p:sldId id="612" r:id="rId6"/>
    <p:sldId id="615" r:id="rId7"/>
    <p:sldId id="613" r:id="rId8"/>
    <p:sldId id="614" r:id="rId9"/>
    <p:sldId id="622" r:id="rId10"/>
    <p:sldId id="626" r:id="rId11"/>
    <p:sldId id="627" r:id="rId12"/>
    <p:sldId id="628" r:id="rId13"/>
    <p:sldId id="629" r:id="rId14"/>
    <p:sldId id="630" r:id="rId15"/>
    <p:sldId id="631" r:id="rId16"/>
    <p:sldId id="677" r:id="rId17"/>
    <p:sldId id="603" r:id="rId18"/>
    <p:sldId id="633" r:id="rId19"/>
    <p:sldId id="634" r:id="rId20"/>
    <p:sldId id="635" r:id="rId21"/>
    <p:sldId id="636" r:id="rId22"/>
    <p:sldId id="663" r:id="rId23"/>
    <p:sldId id="664" r:id="rId24"/>
  </p:sldIdLst>
  <p:sldSz cx="9144000" cy="6858000" type="screen4x3"/>
  <p:notesSz cx="6985000" cy="9271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36">
          <p15:clr>
            <a:srgbClr val="A4A3A4"/>
          </p15:clr>
        </p15:guide>
        <p15:guide id="2" pos="14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0">
          <p15:clr>
            <a:srgbClr val="A4A3A4"/>
          </p15:clr>
        </p15:guide>
        <p15:guide id="2" pos="22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FF66FF"/>
    <a:srgbClr val="FFE7E7"/>
    <a:srgbClr val="FFF3F3"/>
    <a:srgbClr val="FFCCCC"/>
    <a:srgbClr val="FFEFFF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91" autoAdjust="0"/>
    <p:restoredTop sz="86296" autoAdjust="0"/>
  </p:normalViewPr>
  <p:slideViewPr>
    <p:cSldViewPr>
      <p:cViewPr varScale="1">
        <p:scale>
          <a:sx n="75" d="100"/>
          <a:sy n="75" d="100"/>
        </p:scale>
        <p:origin x="702" y="54"/>
      </p:cViewPr>
      <p:guideLst>
        <p:guide orient="horz" pos="3936"/>
        <p:guide pos="14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-2822" y="-62"/>
      </p:cViewPr>
      <p:guideLst>
        <p:guide orient="horz" pos="2920"/>
        <p:guide pos="22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51" tIns="0" rIns="19351" bIns="0" numCol="1" anchor="t" anchorCtr="0" compatLnSpc="1">
            <a:prstTxWarp prst="textNoShape">
              <a:avLst/>
            </a:prstTxWarp>
          </a:bodyPr>
          <a:lstStyle>
            <a:lvl1pPr defTabSz="928688">
              <a:defRPr sz="1000" b="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51" tIns="0" rIns="19351" bIns="0" numCol="1" anchor="t" anchorCtr="0" compatLnSpc="1">
            <a:prstTxWarp prst="textNoShape">
              <a:avLst/>
            </a:prstTxWarp>
          </a:bodyPr>
          <a:lstStyle>
            <a:lvl1pPr algn="r" defTabSz="928688">
              <a:defRPr sz="1000" b="0" i="1">
                <a:latin typeface="Times New Roman" pitchFamily="18" charset="0"/>
              </a:defRPr>
            </a:lvl1pPr>
          </a:lstStyle>
          <a:p>
            <a:pPr>
              <a:defRPr/>
            </a:pPr>
            <a:fld id="{919AE560-AADD-491A-8188-699F17426580}" type="datetime1">
              <a:rPr lang="zh-CN" altLang="en-US" smtClean="0"/>
              <a:t>2026/06/18</a:t>
            </a:fld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0745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51" tIns="0" rIns="19351" bIns="0" numCol="1" anchor="b" anchorCtr="0" compatLnSpc="1">
            <a:prstTxWarp prst="textNoShape">
              <a:avLst/>
            </a:prstTxWarp>
          </a:bodyPr>
          <a:lstStyle>
            <a:lvl1pPr defTabSz="928688">
              <a:defRPr sz="1000" b="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7638" y="880745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51" tIns="0" rIns="19351" bIns="0" numCol="1" anchor="b" anchorCtr="0" compatLnSpc="1">
            <a:prstTxWarp prst="textNoShape">
              <a:avLst/>
            </a:prstTxWarp>
          </a:bodyPr>
          <a:lstStyle>
            <a:lvl1pPr algn="r" defTabSz="928688">
              <a:defRPr sz="1000" b="0" i="1">
                <a:latin typeface="Times New Roman" panose="02020603050405020304" pitchFamily="18" charset="0"/>
              </a:defRPr>
            </a:lvl1pPr>
          </a:lstStyle>
          <a:p>
            <a:fld id="{10453FC3-BE48-43BB-88C2-B7AF9B4FB9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51" tIns="0" rIns="19351" bIns="0" numCol="1" anchor="t" anchorCtr="0" compatLnSpc="1">
            <a:prstTxWarp prst="textNoShape">
              <a:avLst/>
            </a:prstTxWarp>
          </a:bodyPr>
          <a:lstStyle>
            <a:lvl1pPr defTabSz="928688">
              <a:defRPr sz="1000" b="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51" tIns="0" rIns="19351" bIns="0" numCol="1" anchor="t" anchorCtr="0" compatLnSpc="1">
            <a:prstTxWarp prst="textNoShape">
              <a:avLst/>
            </a:prstTxWarp>
          </a:bodyPr>
          <a:lstStyle>
            <a:lvl1pPr algn="r" defTabSz="928688">
              <a:defRPr sz="1000" b="0" i="1">
                <a:latin typeface="Times New Roman" pitchFamily="18" charset="0"/>
              </a:defRPr>
            </a:lvl1pPr>
          </a:lstStyle>
          <a:p>
            <a:pPr>
              <a:defRPr/>
            </a:pPr>
            <a:fld id="{B03103F6-6CA5-4D42-B8D0-A68F771720B5}" type="datetime1">
              <a:rPr lang="zh-CN" altLang="en-US" smtClean="0"/>
              <a:t>2026/06/18</a:t>
            </a:fld>
            <a:endParaRPr lang="en-US" altLang="zh-CN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0745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51" tIns="0" rIns="19351" bIns="0" numCol="1" anchor="b" anchorCtr="0" compatLnSpc="1">
            <a:prstTxWarp prst="textNoShape">
              <a:avLst/>
            </a:prstTxWarp>
          </a:bodyPr>
          <a:lstStyle>
            <a:lvl1pPr defTabSz="928688">
              <a:defRPr sz="1000" b="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80745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51" tIns="0" rIns="19351" bIns="0" numCol="1" anchor="b" anchorCtr="0" compatLnSpc="1">
            <a:prstTxWarp prst="textNoShape">
              <a:avLst/>
            </a:prstTxWarp>
          </a:bodyPr>
          <a:lstStyle>
            <a:lvl1pPr algn="r" defTabSz="928688">
              <a:defRPr sz="1000" b="0" i="1">
                <a:latin typeface="Times New Roman" panose="02020603050405020304" pitchFamily="18" charset="0"/>
              </a:defRPr>
            </a:lvl1pPr>
          </a:lstStyle>
          <a:p>
            <a:fld id="{A3B93D8A-71E5-473E-A99F-5CDE7223B29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8688" y="4403725"/>
            <a:ext cx="512445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530" tIns="46765" rIns="93530" bIns="467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024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701675"/>
            <a:ext cx="4618038" cy="34639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可以看到，在同一个频率范围内，存在许多信号。那么这些信号之间是如何保证不会互相干扰的呢？</a:t>
            </a:r>
            <a:endParaRPr lang="en-US" altLang="zh-CN"/>
          </a:p>
          <a:p>
            <a:r>
              <a:rPr lang="zh-CN" altLang="en-US"/>
              <a:t>接下来我们来学习一下扩频和码分多址（</a:t>
            </a:r>
            <a:r>
              <a:rPr lang="en-US" altLang="zh-CN"/>
              <a:t>CDMA）</a:t>
            </a:r>
            <a:r>
              <a:rPr lang="zh-CN" altLang="en-US"/>
              <a:t>的原理。</a:t>
            </a:r>
          </a:p>
        </p:txBody>
      </p:sp>
      <p:sp>
        <p:nvSpPr>
          <p:cNvPr id="69636" name="日期占位符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1A8603-677F-4F15-9E4D-E23B30BDD92B}" type="datetime1">
              <a:rPr lang="zh-CN" altLang="en-US" sz="1000" b="0" smtClean="0">
                <a:latin typeface="Times New Roman" panose="02020603050405020304" pitchFamily="18" charset="0"/>
              </a:rPr>
              <a:pPr/>
              <a:t>2026/06/18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  <p:sp>
        <p:nvSpPr>
          <p:cNvPr id="69637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E284CD-A4FF-45CC-851E-C1993CF9E342}" type="slidenum">
              <a:rPr lang="en-US" altLang="zh-CN" sz="1000" b="0">
                <a:latin typeface="Times New Roman" panose="02020603050405020304" pitchFamily="18" charset="0"/>
              </a:rPr>
              <a:pPr/>
              <a:t>1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011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基底噪声的功率谱密度为</a:t>
            </a:r>
            <a:r>
              <a:rPr lang="en-US" altLang="zh-CN"/>
              <a:t>-114dBm/MHz</a:t>
            </a:r>
          </a:p>
          <a:p>
            <a:r>
              <a:rPr lang="en-US" altLang="zh-CN"/>
              <a:t>L1</a:t>
            </a:r>
            <a:r>
              <a:rPr lang="zh-CN" altLang="en-US"/>
              <a:t>信号的带宽约为</a:t>
            </a:r>
            <a:r>
              <a:rPr lang="en-US" altLang="zh-CN"/>
              <a:t>2MHz，</a:t>
            </a:r>
            <a:r>
              <a:rPr lang="zh-CN" altLang="en-US"/>
              <a:t>于是导航信号对应的噪声功率谱密度为</a:t>
            </a:r>
            <a:r>
              <a:rPr lang="en-US" altLang="zh-CN"/>
              <a:t>-114dBm/MHz+10log10(2)=-111dBm/MHz</a:t>
            </a:r>
          </a:p>
          <a:p>
            <a:r>
              <a:rPr lang="zh-CN" altLang="en-US"/>
              <a:t>而由于卫星离地面非常遥远，再加上卫星是由太阳能供电，发射信号的强度不可能太大。因此到达地面的信号非常微弱。通常强度是</a:t>
            </a:r>
            <a:r>
              <a:rPr lang="en-US" altLang="zh-CN"/>
              <a:t>-130dBm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可见，导航信号比噪声还小</a:t>
            </a:r>
            <a:r>
              <a:rPr lang="en-US" altLang="zh-CN"/>
              <a:t>20dB</a:t>
            </a:r>
            <a:r>
              <a:rPr lang="zh-CN" altLang="en-US"/>
              <a:t>。那么，这么微弱的信号是如何实现高精度导航的呢？</a:t>
            </a:r>
          </a:p>
        </p:txBody>
      </p:sp>
      <p:sp>
        <p:nvSpPr>
          <p:cNvPr id="70660" name="日期占位符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64682D-471D-4DE7-A35D-CD5DCD01F6D6}" type="datetime1">
              <a:rPr lang="zh-CN" altLang="en-US" sz="1000" b="0" smtClean="0">
                <a:latin typeface="Times New Roman" panose="02020603050405020304" pitchFamily="18" charset="0"/>
              </a:rPr>
              <a:pPr/>
              <a:t>2026/06/18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  <p:sp>
        <p:nvSpPr>
          <p:cNvPr id="7066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506F8B-769F-4E82-A98F-CF88DB801045}" type="slidenum">
              <a:rPr lang="en-US" altLang="zh-CN" sz="1000" b="0">
                <a:latin typeface="Times New Roman" panose="02020603050405020304" pitchFamily="18" charset="0"/>
              </a:rPr>
              <a:pPr/>
              <a:t>2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292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比较噪声的自相关函数和互相关函数，可以看到：</a:t>
            </a:r>
            <a:endParaRPr lang="en-US" altLang="zh-CN"/>
          </a:p>
          <a:p>
            <a:r>
              <a:rPr lang="zh-CN" altLang="en-US"/>
              <a:t>自相关函数是一个冲激函数，而互相关函数则没有尖峰。</a:t>
            </a:r>
            <a:endParaRPr lang="en-US" altLang="zh-CN"/>
          </a:p>
          <a:p>
            <a:r>
              <a:rPr lang="zh-CN" altLang="en-US"/>
              <a:t>卫星导航信号就是利用这个性质进行设计的。但实际应用中，不采用真正的噪声信号，而采用伪随机编码。</a:t>
            </a:r>
          </a:p>
        </p:txBody>
      </p:sp>
      <p:sp>
        <p:nvSpPr>
          <p:cNvPr id="71684" name="日期占位符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DF446D-F423-4B1D-B4FB-6F0502ADD882}" type="datetime1">
              <a:rPr lang="zh-CN" altLang="en-US" sz="1000" b="0" smtClean="0">
                <a:latin typeface="Times New Roman" panose="02020603050405020304" pitchFamily="18" charset="0"/>
              </a:rPr>
              <a:pPr/>
              <a:t>2026/06/18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  <p:sp>
        <p:nvSpPr>
          <p:cNvPr id="71685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B40C9A-5FE1-4AF8-B202-DEEC764359D1}" type="slidenum">
              <a:rPr lang="en-US" altLang="zh-CN" sz="1000" b="0">
                <a:latin typeface="Times New Roman" panose="02020603050405020304" pitchFamily="18" charset="0"/>
              </a:rPr>
              <a:pPr/>
              <a:t>4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370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说明自相关函数的计算过程</a:t>
            </a:r>
          </a:p>
        </p:txBody>
      </p:sp>
      <p:sp>
        <p:nvSpPr>
          <p:cNvPr id="72708" name="日期占位符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BD5034-ACE8-424F-9E34-F0D54A401612}" type="datetime1">
              <a:rPr lang="zh-CN" altLang="en-US" sz="1000" b="0" smtClean="0">
                <a:latin typeface="Times New Roman" panose="02020603050405020304" pitchFamily="18" charset="0"/>
              </a:rPr>
              <a:pPr/>
              <a:t>2026/06/18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  <p:sp>
        <p:nvSpPr>
          <p:cNvPr id="72709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80FA57-4084-4F38-902D-A657F8E24E1F}" type="slidenum">
              <a:rPr lang="en-US" altLang="zh-CN" sz="1000" b="0">
                <a:latin typeface="Times New Roman" panose="02020603050405020304" pitchFamily="18" charset="0"/>
              </a:rPr>
              <a:pPr/>
              <a:t>7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09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可以看到</a:t>
            </a:r>
            <a:r>
              <a:rPr lang="en-US" altLang="zh-CN"/>
              <a:t>13</a:t>
            </a:r>
            <a:r>
              <a:rPr lang="zh-CN" altLang="en-US"/>
              <a:t>位巴克码的延时自相关函数与噪声的自相关函数很相似。当延时量等于</a:t>
            </a:r>
            <a:r>
              <a:rPr lang="en-US" altLang="zh-CN"/>
              <a:t>0</a:t>
            </a:r>
            <a:r>
              <a:rPr lang="zh-CN" altLang="en-US"/>
              <a:t>时自相关函数达到最大值，其它情况下自相关函数比较小。</a:t>
            </a:r>
            <a:endParaRPr lang="en-US" altLang="zh-CN"/>
          </a:p>
          <a:p>
            <a:r>
              <a:rPr lang="zh-CN" altLang="en-US"/>
              <a:t>卫星导航正是利用了伪随机码的这个特性。</a:t>
            </a:r>
          </a:p>
        </p:txBody>
      </p:sp>
      <p:sp>
        <p:nvSpPr>
          <p:cNvPr id="73732" name="日期占位符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52AA7A0-E50A-4787-A4DD-BD0275E92953}" type="datetime1">
              <a:rPr lang="zh-CN" altLang="en-US" sz="1000" b="0" smtClean="0">
                <a:latin typeface="Times New Roman" panose="02020603050405020304" pitchFamily="18" charset="0"/>
              </a:rPr>
              <a:pPr/>
              <a:t>2026/06/18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  <p:sp>
        <p:nvSpPr>
          <p:cNvPr id="73733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CFE6B59-6647-4499-89DD-DFD6F9E71F42}" type="slidenum">
              <a:rPr lang="en-US" altLang="zh-CN" sz="1000" b="0">
                <a:latin typeface="Times New Roman" panose="02020603050405020304" pitchFamily="18" charset="0"/>
              </a:rPr>
              <a:pPr/>
              <a:t>8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66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8" name="日期占位符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3051B1C-6CBB-4C45-8BEF-350929051843}" type="datetime1">
              <a:rPr lang="zh-CN" altLang="en-US" sz="1000" b="0" smtClean="0">
                <a:latin typeface="Times New Roman" panose="02020603050405020304" pitchFamily="18" charset="0"/>
              </a:rPr>
              <a:pPr/>
              <a:t>2026/06/18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  <p:sp>
        <p:nvSpPr>
          <p:cNvPr id="77829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E99CEBF-184C-4CF1-81EF-27E4DE502F56}" type="slidenum">
              <a:rPr lang="en-US" altLang="zh-CN" sz="1000" b="0">
                <a:latin typeface="Times New Roman" panose="02020603050405020304" pitchFamily="18" charset="0"/>
              </a:rPr>
              <a:pPr/>
              <a:t>11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655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再看看</a:t>
            </a:r>
            <a:r>
              <a:rPr lang="en-US" altLang="zh-CN"/>
              <a:t>GPS L1</a:t>
            </a:r>
            <a:r>
              <a:rPr lang="zh-CN" altLang="en-US"/>
              <a:t>频点的频谱，现在我们就可以知道为什么有几个信号在频谱上是重叠，但不会相互干扰的原因：通过伪随机码的自相关运算可以把其它信号成分的影响基本消除。</a:t>
            </a:r>
          </a:p>
        </p:txBody>
      </p:sp>
      <p:sp>
        <p:nvSpPr>
          <p:cNvPr id="78852" name="日期占位符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C310BE-9BDF-46DD-8CFE-9038E2978D33}" type="datetime1">
              <a:rPr lang="zh-CN" altLang="en-US" sz="1000" b="0" smtClean="0">
                <a:latin typeface="Times New Roman" panose="02020603050405020304" pitchFamily="18" charset="0"/>
              </a:rPr>
              <a:pPr/>
              <a:t>2026/06/18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  <p:sp>
        <p:nvSpPr>
          <p:cNvPr id="78853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00AB82-7EB4-4943-8A69-C52E5F45621F}" type="slidenum">
              <a:rPr lang="en-US" altLang="zh-CN" sz="1000" b="0">
                <a:latin typeface="Times New Roman" panose="02020603050405020304" pitchFamily="18" charset="0"/>
              </a:rPr>
              <a:pPr/>
              <a:t>13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267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再看另一个问题：导航信号比噪声还小</a:t>
            </a:r>
            <a:r>
              <a:rPr lang="en-US" altLang="zh-CN" dirty="0"/>
              <a:t>20dB，</a:t>
            </a:r>
            <a:r>
              <a:rPr lang="zh-CN" altLang="en-US" dirty="0"/>
              <a:t>如何从噪声淹没的信号中提取出导航信号，或者说实现定位？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9876" name="日期占位符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5857EC-A6AF-494B-BC23-03A36A7C036D}" type="datetime1">
              <a:rPr lang="zh-CN" altLang="en-US" sz="1000" b="0" smtClean="0">
                <a:latin typeface="Times New Roman" panose="02020603050405020304" pitchFamily="18" charset="0"/>
              </a:rPr>
              <a:pPr/>
              <a:t>2026/06/18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  <p:sp>
        <p:nvSpPr>
          <p:cNvPr id="79877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AD4AFD-9BD4-4D9C-9ED9-82DA69D8006F}" type="slidenum">
              <a:rPr lang="en-US" altLang="zh-CN" sz="1000" b="0">
                <a:latin typeface="Times New Roman" panose="02020603050405020304" pitchFamily="18" charset="0"/>
              </a:rPr>
              <a:pPr/>
              <a:t>14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605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从接收信号的功率谱中看不出什么信息，信号和噪声的功率基本一样。而经过解扩之后，信号成分成功地从噪声中脱颖而出。</a:t>
            </a:r>
            <a:endParaRPr lang="en-US" altLang="zh-CN"/>
          </a:p>
          <a:p>
            <a:r>
              <a:rPr lang="zh-CN" altLang="en-US"/>
              <a:t>这样发射信号的功率可以很低，甚至低于噪声功率。</a:t>
            </a:r>
            <a:endParaRPr lang="en-US" altLang="zh-CN"/>
          </a:p>
          <a:p>
            <a:endParaRPr lang="zh-CN" altLang="en-US"/>
          </a:p>
        </p:txBody>
      </p:sp>
      <p:sp>
        <p:nvSpPr>
          <p:cNvPr id="80900" name="日期占位符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CF0AC5-4470-4253-BE81-0614F00FB037}" type="datetime1">
              <a:rPr lang="zh-CN" altLang="en-US" sz="1000" b="0" smtClean="0">
                <a:latin typeface="Times New Roman" panose="02020603050405020304" pitchFamily="18" charset="0"/>
              </a:rPr>
              <a:pPr/>
              <a:t>2026/06/18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  <p:sp>
        <p:nvSpPr>
          <p:cNvPr id="80901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54DB3A-A7B8-4BCC-940F-FBF3A1F5160B}" type="slidenum">
              <a:rPr lang="en-US" altLang="zh-CN" sz="1000" b="0">
                <a:latin typeface="Times New Roman" panose="02020603050405020304" pitchFamily="18" charset="0"/>
              </a:rPr>
              <a:pPr/>
              <a:t>15</a:t>
            </a:fld>
            <a:endParaRPr lang="en-US" altLang="zh-CN" sz="10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177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0"/>
            <a:ext cx="7086600" cy="838200"/>
          </a:xfrm>
        </p:spPr>
        <p:txBody>
          <a:bodyPr/>
          <a:lstStyle>
            <a:lvl1pPr>
              <a:lnSpc>
                <a:spcPct val="100000"/>
              </a:lnSpc>
              <a:defRPr sz="3600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90600"/>
            <a:ext cx="8534400" cy="5562600"/>
          </a:xfrm>
        </p:spPr>
        <p:txBody>
          <a:bodyPr/>
          <a:lstStyle>
            <a:lvl1pPr>
              <a:buFont typeface="Wingdings" pitchFamily="2" charset="2"/>
              <a:buChar char="Ø"/>
              <a:defRPr sz="2800">
                <a:latin typeface="宋体" pitchFamily="2" charset="-122"/>
                <a:ea typeface="宋体" pitchFamily="2" charset="-122"/>
                <a:cs typeface="Times New Roman" pitchFamily="18" charset="0"/>
              </a:defRPr>
            </a:lvl1pPr>
            <a:lvl2pPr>
              <a:buFont typeface="Wingdings" pitchFamily="2" charset="2"/>
              <a:buChar char="l"/>
              <a:defRPr sz="2400">
                <a:latin typeface="宋体" pitchFamily="2" charset="-122"/>
                <a:ea typeface="宋体" pitchFamily="2" charset="-122"/>
                <a:cs typeface="Times New Roman" pitchFamily="18" charset="0"/>
              </a:defRPr>
            </a:lvl2pPr>
            <a:lvl3pPr>
              <a:buFont typeface="Wingdings" pitchFamily="2" charset="2"/>
              <a:buChar char="p"/>
              <a:defRPr sz="2000">
                <a:latin typeface="宋体" pitchFamily="2" charset="-122"/>
                <a:ea typeface="宋体" pitchFamily="2" charset="-122"/>
                <a:cs typeface="Times New Roman" pitchFamily="18" charset="0"/>
              </a:defRPr>
            </a:lvl3pPr>
            <a:lvl4pPr>
              <a:buFont typeface="Wingdings" pitchFamily="2" charset="2"/>
              <a:buChar char="u"/>
              <a:defRPr sz="1800">
                <a:latin typeface="宋体" pitchFamily="2" charset="-122"/>
                <a:ea typeface="宋体" pitchFamily="2" charset="-122"/>
                <a:cs typeface="Times New Roman" pitchFamily="18" charset="0"/>
              </a:defRPr>
            </a:lvl4pPr>
            <a:lvl5pPr>
              <a:defRPr sz="1600">
                <a:latin typeface="宋体" pitchFamily="2" charset="-122"/>
                <a:ea typeface="宋体" pitchFamily="2" charset="-122"/>
                <a:cs typeface="Times New Roman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0616276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0"/>
            <a:ext cx="7086600" cy="838200"/>
          </a:xfrm>
        </p:spPr>
        <p:txBody>
          <a:bodyPr/>
          <a:lstStyle>
            <a:lvl1pPr>
              <a:lnSpc>
                <a:spcPct val="100000"/>
              </a:lnSpc>
              <a:defRPr sz="3600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990600"/>
            <a:ext cx="4343400" cy="5334000"/>
          </a:xfrm>
        </p:spPr>
        <p:txBody>
          <a:bodyPr/>
          <a:lstStyle>
            <a:lvl1pPr>
              <a:buFont typeface="Wingdings" pitchFamily="2" charset="2"/>
              <a:buChar char="Ø"/>
              <a:defRPr sz="2800">
                <a:latin typeface="宋体" pitchFamily="2" charset="-122"/>
                <a:ea typeface="宋体" pitchFamily="2" charset="-122"/>
                <a:cs typeface="Times New Roman" pitchFamily="18" charset="0"/>
              </a:defRPr>
            </a:lvl1pPr>
            <a:lvl2pPr>
              <a:buFont typeface="Wingdings" pitchFamily="2" charset="2"/>
              <a:buChar char="l"/>
              <a:defRPr sz="2400">
                <a:latin typeface="宋体" pitchFamily="2" charset="-122"/>
                <a:ea typeface="宋体" pitchFamily="2" charset="-122"/>
                <a:cs typeface="Times New Roman" pitchFamily="18" charset="0"/>
              </a:defRPr>
            </a:lvl2pPr>
            <a:lvl3pPr>
              <a:buFont typeface="Wingdings" pitchFamily="2" charset="2"/>
              <a:buChar char="p"/>
              <a:defRPr sz="2000">
                <a:latin typeface="宋体" pitchFamily="2" charset="-122"/>
                <a:ea typeface="宋体" pitchFamily="2" charset="-122"/>
                <a:cs typeface="Times New Roman" pitchFamily="18" charset="0"/>
              </a:defRPr>
            </a:lvl3pPr>
            <a:lvl4pPr>
              <a:buFont typeface="Wingdings" pitchFamily="2" charset="2"/>
              <a:buChar char="u"/>
              <a:defRPr sz="1800">
                <a:latin typeface="宋体" pitchFamily="2" charset="-122"/>
                <a:ea typeface="宋体" pitchFamily="2" charset="-122"/>
                <a:cs typeface="Times New Roman" pitchFamily="18" charset="0"/>
              </a:defRPr>
            </a:lvl4pPr>
            <a:lvl5pPr>
              <a:defRPr sz="1600">
                <a:latin typeface="宋体" pitchFamily="2" charset="-122"/>
                <a:ea typeface="宋体" pitchFamily="2" charset="-122"/>
                <a:cs typeface="Times New Roman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0"/>
          </p:nvPr>
        </p:nvSpPr>
        <p:spPr>
          <a:xfrm>
            <a:off x="4648200" y="990600"/>
            <a:ext cx="4343400" cy="5334000"/>
          </a:xfrm>
        </p:spPr>
        <p:txBody>
          <a:bodyPr/>
          <a:lstStyle>
            <a:lvl1pPr>
              <a:buFont typeface="Wingdings" pitchFamily="2" charset="2"/>
              <a:buChar char="Ø"/>
              <a:defRPr sz="2800">
                <a:latin typeface="宋体" pitchFamily="2" charset="-122"/>
                <a:ea typeface="宋体" pitchFamily="2" charset="-122"/>
                <a:cs typeface="Times New Roman" pitchFamily="18" charset="0"/>
              </a:defRPr>
            </a:lvl1pPr>
            <a:lvl2pPr>
              <a:buFont typeface="Wingdings" pitchFamily="2" charset="2"/>
              <a:buChar char="l"/>
              <a:defRPr sz="2400">
                <a:latin typeface="宋体" pitchFamily="2" charset="-122"/>
                <a:ea typeface="宋体" pitchFamily="2" charset="-122"/>
                <a:cs typeface="Times New Roman" pitchFamily="18" charset="0"/>
              </a:defRPr>
            </a:lvl2pPr>
            <a:lvl3pPr>
              <a:buFont typeface="Wingdings" pitchFamily="2" charset="2"/>
              <a:buChar char="p"/>
              <a:defRPr sz="2000">
                <a:latin typeface="宋体" pitchFamily="2" charset="-122"/>
                <a:ea typeface="宋体" pitchFamily="2" charset="-122"/>
                <a:cs typeface="Times New Roman" pitchFamily="18" charset="0"/>
              </a:defRPr>
            </a:lvl3pPr>
            <a:lvl4pPr>
              <a:buFont typeface="Wingdings" pitchFamily="2" charset="2"/>
              <a:buChar char="u"/>
              <a:defRPr sz="1800">
                <a:latin typeface="宋体" pitchFamily="2" charset="-122"/>
                <a:ea typeface="宋体" pitchFamily="2" charset="-122"/>
                <a:cs typeface="Times New Roman" pitchFamily="18" charset="0"/>
              </a:defRPr>
            </a:lvl4pPr>
            <a:lvl5pPr>
              <a:defRPr sz="1600">
                <a:latin typeface="宋体" pitchFamily="2" charset="-122"/>
                <a:ea typeface="宋体" pitchFamily="2" charset="-122"/>
                <a:cs typeface="Times New Roman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7581083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781622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8054204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335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335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65597012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838200"/>
            <a:ext cx="8291513" cy="5614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95638" y="6489700"/>
            <a:ext cx="2816225" cy="3238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624638" y="6494463"/>
            <a:ext cx="1979612" cy="3190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44533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0"/>
            <a:ext cx="7086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64" tIns="46033" rIns="92064" bIns="4603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990600"/>
            <a:ext cx="8534400" cy="5559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64" tIns="46033" rIns="92064" bIns="460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48" name="Rectangle 24"/>
          <p:cNvSpPr>
            <a:spLocks noChangeArrowheads="1"/>
          </p:cNvSpPr>
          <p:nvPr/>
        </p:nvSpPr>
        <p:spPr bwMode="auto">
          <a:xfrm>
            <a:off x="457200" y="6553200"/>
            <a:ext cx="666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64" tIns="46033" rIns="92064" bIns="46033" anchor="ctr"/>
          <a:lstStyle/>
          <a:p>
            <a:pPr algn="ctr">
              <a:defRPr/>
            </a:pPr>
            <a:fld id="{02DEF9D2-B74C-4817-A442-C725520E258D}" type="datetime9">
              <a:rPr lang="en-US" altLang="zh-CN" sz="700">
                <a:latin typeface="Arial" charset="0"/>
                <a:ea typeface="宋体" charset="-122"/>
              </a:rPr>
              <a:pPr algn="ctr">
                <a:defRPr/>
              </a:pPr>
              <a:t>6/18/2026 7:46:36 AM</a:t>
            </a:fld>
            <a:endParaRPr lang="en-US" altLang="zh-CN" sz="700" dirty="0">
              <a:latin typeface="Arial" charset="0"/>
              <a:ea typeface="宋体" charset="-122"/>
            </a:endParaRPr>
          </a:p>
        </p:txBody>
      </p:sp>
      <p:sp>
        <p:nvSpPr>
          <p:cNvPr id="1055" name="Line 31"/>
          <p:cNvSpPr>
            <a:spLocks noChangeShapeType="1"/>
          </p:cNvSpPr>
          <p:nvPr/>
        </p:nvSpPr>
        <p:spPr bwMode="auto">
          <a:xfrm>
            <a:off x="-152400" y="6705600"/>
            <a:ext cx="9525000" cy="0"/>
          </a:xfrm>
          <a:prstGeom prst="line">
            <a:avLst/>
          </a:prstGeom>
          <a:noFill/>
          <a:ln w="50800">
            <a:solidFill>
              <a:srgbClr val="333399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1057" name="Line 33"/>
          <p:cNvSpPr>
            <a:spLocks noChangeShapeType="1"/>
          </p:cNvSpPr>
          <p:nvPr/>
        </p:nvSpPr>
        <p:spPr bwMode="auto">
          <a:xfrm>
            <a:off x="-228600" y="838200"/>
            <a:ext cx="9525000" cy="0"/>
          </a:xfrm>
          <a:prstGeom prst="line">
            <a:avLst/>
          </a:prstGeom>
          <a:noFill/>
          <a:ln w="50800">
            <a:solidFill>
              <a:srgbClr val="333399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9" name="Rectangle 1084"/>
          <p:cNvSpPr>
            <a:spLocks noChangeArrowheads="1"/>
          </p:cNvSpPr>
          <p:nvPr userDrawn="1"/>
        </p:nvSpPr>
        <p:spPr bwMode="auto">
          <a:xfrm>
            <a:off x="7315200" y="6550025"/>
            <a:ext cx="1801775" cy="30841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srgbClr val="333399"/>
                </a:solidFill>
                <a:latin typeface="Arial" charset="0"/>
                <a:ea typeface="宋体" charset="-122"/>
              </a:rPr>
              <a:t>电子与通信工程学院</a:t>
            </a:r>
            <a:endParaRPr lang="en-US" altLang="zh-CN" sz="1400" dirty="0">
              <a:solidFill>
                <a:srgbClr val="333399"/>
              </a:solidFill>
              <a:latin typeface="Arial" charset="0"/>
              <a:ea typeface="宋体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26" y="54000"/>
            <a:ext cx="739974" cy="74233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5" r:id="rId4"/>
    <p:sldLayoutId id="2147484176" r:id="rId5"/>
    <p:sldLayoutId id="2147484177" r:id="rId6"/>
  </p:sldLayoutIdLst>
  <p:transition>
    <p:fade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ctr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SzPct val="125000"/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862013" indent="-3413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SzPct val="10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+mn-lt"/>
        </a:defRPr>
      </a:lvl2pPr>
      <a:lvl3pPr marL="1204913" indent="-2286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SzPct val="100000"/>
        <a:buFont typeface="Wingdings" panose="05000000000000000000" pitchFamily="2" charset="2"/>
        <a:buChar char="p"/>
        <a:defRPr sz="2000" b="1">
          <a:solidFill>
            <a:schemeClr val="tx1"/>
          </a:solidFill>
          <a:latin typeface="+mn-lt"/>
        </a:defRPr>
      </a:lvl3pPr>
      <a:lvl4pPr marL="1546225" indent="-11906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SzPct val="100000"/>
        <a:buFont typeface="Wingdings" panose="05000000000000000000" pitchFamily="2" charset="2"/>
        <a:buChar char="u"/>
        <a:defRPr b="1">
          <a:solidFill>
            <a:schemeClr val="tx1"/>
          </a:solidFill>
          <a:latin typeface="+mn-lt"/>
        </a:defRPr>
      </a:lvl4pPr>
      <a:lvl5pPr marL="1828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SzPct val="100000"/>
        <a:buChar char=" "/>
        <a:defRPr sz="1600" b="1">
          <a:solidFill>
            <a:schemeClr val="tx1"/>
          </a:solidFill>
          <a:latin typeface="+mn-lt"/>
        </a:defRPr>
      </a:lvl5pPr>
      <a:lvl6pPr marL="22860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400" b="1">
          <a:solidFill>
            <a:schemeClr val="tx1"/>
          </a:solidFill>
          <a:latin typeface="+mn-lt"/>
        </a:defRPr>
      </a:lvl6pPr>
      <a:lvl7pPr marL="27432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400" b="1">
          <a:solidFill>
            <a:schemeClr val="tx1"/>
          </a:solidFill>
          <a:latin typeface="+mn-lt"/>
        </a:defRPr>
      </a:lvl7pPr>
      <a:lvl8pPr marL="32004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400" b="1">
          <a:solidFill>
            <a:schemeClr val="tx1"/>
          </a:solidFill>
          <a:latin typeface="+mn-lt"/>
        </a:defRPr>
      </a:lvl8pPr>
      <a:lvl9pPr marL="36576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SzPct val="100000"/>
        <a:buChar char=" "/>
        <a:defRPr sz="1400" b="1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24.jpe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23.wmf"/><Relationship Id="rId4" Type="http://schemas.openxmlformats.org/officeDocument/2006/relationships/image" Target="../media/image25.jpeg"/><Relationship Id="rId9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000" y="914400"/>
            <a:ext cx="7659624" cy="5056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GPS</a:t>
            </a:r>
            <a:r>
              <a:rPr lang="zh-CN" altLang="en-US" sz="36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信号的捕获</a:t>
            </a:r>
          </a:p>
        </p:txBody>
      </p:sp>
      <p:pic>
        <p:nvPicPr>
          <p:cNvPr id="7170" name="Picture 2" descr="“GPS 星座 GIF”的图片搜索结果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876800"/>
            <a:ext cx="22860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07669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GPS</a:t>
            </a:r>
            <a:r>
              <a:rPr lang="zh-CN" altLang="en-US">
                <a:ea typeface="宋体" panose="02010600030101010101" pitchFamily="2" charset="-122"/>
              </a:rPr>
              <a:t>信号和噪声的功率谱密度</a:t>
            </a:r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1162050"/>
            <a:ext cx="889635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grpSp>
        <p:nvGrpSpPr>
          <p:cNvPr id="5" name="组合 4"/>
          <p:cNvGrpSpPr/>
          <p:nvPr/>
        </p:nvGrpSpPr>
        <p:grpSpPr>
          <a:xfrm>
            <a:off x="2763322" y="1824335"/>
            <a:ext cx="2189678" cy="842665"/>
            <a:chOff x="2763322" y="1824335"/>
            <a:chExt cx="2189678" cy="842665"/>
          </a:xfrm>
        </p:grpSpPr>
        <p:sp>
          <p:nvSpPr>
            <p:cNvPr id="2" name="文本框 1"/>
            <p:cNvSpPr txBox="1"/>
            <p:nvPr/>
          </p:nvSpPr>
          <p:spPr>
            <a:xfrm>
              <a:off x="2763322" y="1824335"/>
              <a:ext cx="1114408" cy="46166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热噪声</a:t>
              </a:r>
            </a:p>
          </p:txBody>
        </p:sp>
        <p:cxnSp>
          <p:nvCxnSpPr>
            <p:cNvPr id="4" name="直接箭头连接符 3"/>
            <p:cNvCxnSpPr/>
            <p:nvPr/>
          </p:nvCxnSpPr>
          <p:spPr bwMode="auto">
            <a:xfrm>
              <a:off x="4038600" y="2286000"/>
              <a:ext cx="914400" cy="38100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sp>
        <p:nvSpPr>
          <p:cNvPr id="6" name="文本框 5"/>
          <p:cNvSpPr txBox="1"/>
          <p:nvPr/>
        </p:nvSpPr>
        <p:spPr>
          <a:xfrm>
            <a:off x="76200" y="6096000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扩频的优点是把信号的频谱展宽，让信号淹没在噪声中。</a:t>
            </a:r>
          </a:p>
        </p:txBody>
      </p:sp>
    </p:spTree>
    <p:extLst>
      <p:ext uri="{BB962C8B-B14F-4D97-AF65-F5344CB8AC3E}">
        <p14:creationId xmlns:p14="http://schemas.microsoft.com/office/powerpoint/2010/main" val="23424809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噪声的特性</a:t>
            </a:r>
            <a:r>
              <a:rPr lang="en-US" altLang="zh-CN">
                <a:ea typeface="宋体" panose="02010600030101010101" pitchFamily="2" charset="-122"/>
              </a:rPr>
              <a:t>-</a:t>
            </a:r>
            <a:r>
              <a:rPr lang="zh-CN" altLang="en-US">
                <a:ea typeface="宋体" panose="02010600030101010101" pitchFamily="2" charset="-122"/>
              </a:rPr>
              <a:t>自相关函数</a:t>
            </a:r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866775"/>
            <a:ext cx="4689475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908050"/>
            <a:ext cx="4657725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3657600"/>
            <a:ext cx="4678363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3175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657600"/>
            <a:ext cx="4700588" cy="292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363327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噪声的特性</a:t>
            </a:r>
            <a:r>
              <a:rPr lang="en-US" altLang="zh-CN">
                <a:ea typeface="宋体" panose="02010600030101010101" pitchFamily="2" charset="-122"/>
              </a:rPr>
              <a:t>-</a:t>
            </a:r>
            <a:r>
              <a:rPr lang="zh-CN" altLang="en-US">
                <a:ea typeface="宋体" panose="02010600030101010101" pitchFamily="2" charset="-122"/>
              </a:rPr>
              <a:t>互相关函数</a:t>
            </a:r>
          </a:p>
        </p:txBody>
      </p:sp>
      <p:pic>
        <p:nvPicPr>
          <p:cNvPr id="3277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914400"/>
            <a:ext cx="4689475" cy="292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3277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8" y="914400"/>
            <a:ext cx="4678362" cy="292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32773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657600"/>
            <a:ext cx="4689475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347802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伪随机码</a:t>
            </a:r>
          </a:p>
        </p:txBody>
      </p:sp>
      <p:sp>
        <p:nvSpPr>
          <p:cNvPr id="33795" name="TextBox 2"/>
          <p:cNvSpPr txBox="1">
            <a:spLocks noChangeArrowheads="1"/>
          </p:cNvSpPr>
          <p:nvPr/>
        </p:nvSpPr>
        <p:spPr bwMode="auto">
          <a:xfrm>
            <a:off x="381000" y="1009650"/>
            <a:ext cx="8567738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伪随机码</a:t>
            </a:r>
            <a:r>
              <a:rPr lang="zh-CN" altLang="en-US">
                <a:ea typeface="宋体" panose="02010600030101010101" pitchFamily="2" charset="-122"/>
              </a:rPr>
              <a:t>：自相关函数类似噪声。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一组码序列</a:t>
            </a:r>
            <a:r>
              <a:rPr lang="en-US" altLang="zh-CN" i="1">
                <a:ea typeface="宋体" panose="02010600030101010101" pitchFamily="2" charset="-122"/>
              </a:rPr>
              <a:t>u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en-US" altLang="zh-CN">
                <a:ea typeface="宋体" panose="02010600030101010101" pitchFamily="2" charset="-122"/>
              </a:rPr>
              <a:t>) </a:t>
            </a:r>
            <a:r>
              <a:rPr lang="zh-CN" altLang="en-US">
                <a:ea typeface="宋体" panose="02010600030101010101" pitchFamily="2" charset="-122"/>
              </a:rPr>
              <a:t>， 对于某个时刻</a:t>
            </a:r>
            <a:r>
              <a:rPr lang="en-US" altLang="zh-CN" i="1">
                <a:ea typeface="宋体" panose="02010600030101010101" pitchFamily="2" charset="-122"/>
              </a:rPr>
              <a:t>t</a:t>
            </a:r>
            <a:r>
              <a:rPr lang="zh-CN" altLang="en-US">
                <a:ea typeface="宋体" panose="02010600030101010101" pitchFamily="2" charset="-122"/>
              </a:rPr>
              <a:t>而言，码元是</a:t>
            </a:r>
            <a:r>
              <a:rPr lang="en-US" altLang="zh-CN">
                <a:ea typeface="宋体" panose="02010600030101010101" pitchFamily="2" charset="-122"/>
              </a:rPr>
              <a:t>0</a:t>
            </a:r>
            <a:r>
              <a:rPr lang="zh-CN" altLang="en-US">
                <a:ea typeface="宋体" panose="02010600030101010101" pitchFamily="2" charset="-122"/>
              </a:rPr>
              <a:t>或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完全是随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机的，但其出现的概率均为</a:t>
            </a:r>
            <a:r>
              <a:rPr lang="en-US" altLang="zh-CN">
                <a:ea typeface="宋体" panose="02010600030101010101" pitchFamily="2" charset="-122"/>
              </a:rPr>
              <a:t>1/2</a:t>
            </a:r>
            <a:r>
              <a:rPr lang="zh-CN" altLang="en-US">
                <a:ea typeface="宋体" panose="02010600030101010101" pitchFamily="2" charset="-122"/>
              </a:rPr>
              <a:t>。这种码元幅值是完全无规律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的码序列，称为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随机噪声码序列</a:t>
            </a:r>
            <a:r>
              <a:rPr lang="zh-CN" altLang="en-US">
                <a:ea typeface="宋体" panose="02010600030101010101" pitchFamily="2" charset="-122"/>
              </a:rPr>
              <a:t>。它是一种非周期序列，无法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复制。但是随机噪声序列有良好的自相关性，</a:t>
            </a:r>
            <a:r>
              <a:rPr lang="en-US" altLang="zh-CN">
                <a:ea typeface="宋体" panose="02010600030101010101" pitchFamily="2" charset="-122"/>
              </a:rPr>
              <a:t>GPS</a:t>
            </a:r>
            <a:r>
              <a:rPr lang="zh-CN" altLang="en-US">
                <a:ea typeface="宋体" panose="02010600030101010101" pitchFamily="2" charset="-122"/>
              </a:rPr>
              <a:t>测距码就是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利用了其自身良好的自相关性才获得成功的。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以</a:t>
            </a:r>
            <a:r>
              <a:rPr lang="en-US" altLang="zh-CN">
                <a:ea typeface="宋体" panose="02010600030101010101" pitchFamily="2" charset="-122"/>
              </a:rPr>
              <a:t>13</a:t>
            </a:r>
            <a:r>
              <a:rPr lang="zh-CN" altLang="en-US">
                <a:ea typeface="宋体" panose="02010600030101010101" pitchFamily="2" charset="-122"/>
              </a:rPr>
              <a:t>位巴克码为例：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+1，+1，+1，+1，+1，-1，-1，+1，+1，-1，+1，-1，+1</a:t>
            </a:r>
          </a:p>
          <a:p>
            <a:r>
              <a:rPr lang="zh-CN" altLang="en-US">
                <a:ea typeface="宋体" panose="02010600030101010101" pitchFamily="2" charset="-122"/>
              </a:rPr>
              <a:t>计算它的自相关函数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876079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4"/>
          <p:cNvSpPr txBox="1">
            <a:spLocks noChangeArrowheads="1"/>
          </p:cNvSpPr>
          <p:nvPr/>
        </p:nvSpPr>
        <p:spPr bwMode="auto">
          <a:xfrm>
            <a:off x="457200" y="957263"/>
            <a:ext cx="8382000" cy="513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ea typeface="宋体" panose="02010600030101010101" pitchFamily="2" charset="-122"/>
              </a:rPr>
              <a:t>伪随机噪声码简称</a:t>
            </a:r>
            <a:r>
              <a:rPr lang="en-US" altLang="zh-CN" sz="2800">
                <a:ea typeface="宋体" panose="02010600030101010101" pitchFamily="2" charset="-122"/>
              </a:rPr>
              <a:t>PRN(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PRN</a:t>
            </a:r>
            <a:r>
              <a:rPr lang="zh-CN" altLang="en-US" sz="2800">
                <a:ea typeface="宋体" panose="02010600030101010101" pitchFamily="2" charset="-122"/>
                <a:sym typeface="Symbol" panose="05050102010706020507" pitchFamily="18" charset="2"/>
              </a:rPr>
              <a:t>－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Pseudo Random Noise</a:t>
            </a:r>
            <a:r>
              <a:rPr lang="en-US" altLang="zh-CN" sz="2800">
                <a:ea typeface="宋体" panose="02010600030101010101" pitchFamily="2" charset="-122"/>
              </a:rPr>
              <a:t>)</a:t>
            </a:r>
            <a:r>
              <a:rPr lang="zh-CN" altLang="en-US" sz="2800">
                <a:ea typeface="宋体" panose="02010600030101010101" pitchFamily="2" charset="-122"/>
              </a:rPr>
              <a:t>码，是一个具有一定周期的取值</a:t>
            </a:r>
            <a:r>
              <a:rPr lang="en-US" altLang="zh-CN" sz="2800">
                <a:ea typeface="宋体" panose="02010600030101010101" pitchFamily="2" charset="-122"/>
              </a:rPr>
              <a:t>0</a:t>
            </a:r>
            <a:r>
              <a:rPr lang="zh-CN" altLang="en-US" sz="2800">
                <a:ea typeface="宋体" panose="02010600030101010101" pitchFamily="2" charset="-122"/>
              </a:rPr>
              <a:t>和</a:t>
            </a:r>
            <a:r>
              <a:rPr lang="en-US" altLang="zh-CN" sz="2800">
                <a:ea typeface="宋体" panose="02010600030101010101" pitchFamily="2" charset="-122"/>
              </a:rPr>
              <a:t>1</a:t>
            </a:r>
            <a:r>
              <a:rPr lang="zh-CN" altLang="en-US" sz="2800">
                <a:ea typeface="宋体" panose="02010600030101010101" pitchFamily="2" charset="-122"/>
              </a:rPr>
              <a:t>的离散符号串。它不仅具有高斯噪声所有的良好的自相关特征，而且具有某种确定的编码规则。它是周期性的、可人工复制的码序列。</a:t>
            </a:r>
            <a:r>
              <a:rPr lang="en-US" altLang="zh-CN" sz="2800">
                <a:ea typeface="宋体" panose="02010600030101010101" pitchFamily="2" charset="-122"/>
              </a:rPr>
              <a:t>GPS</a:t>
            </a:r>
            <a:r>
              <a:rPr lang="zh-CN" altLang="en-US" sz="2800">
                <a:ea typeface="宋体" panose="02010600030101010101" pitchFamily="2" charset="-122"/>
              </a:rPr>
              <a:t>信号中使用了伪随机码编码技术，</a:t>
            </a:r>
            <a:r>
              <a:rPr lang="zh-CN" altLang="en-US" sz="2800">
                <a:solidFill>
                  <a:srgbClr val="FF0000"/>
                </a:solidFill>
                <a:ea typeface="宋体" panose="02010600030101010101" pitchFamily="2" charset="-122"/>
              </a:rPr>
              <a:t>识别和分离</a:t>
            </a:r>
            <a:r>
              <a:rPr lang="zh-CN" altLang="en-US" sz="2800">
                <a:ea typeface="宋体" panose="02010600030101010101" pitchFamily="2" charset="-122"/>
              </a:rPr>
              <a:t>各颗卫星信号，并提供无模糊度的测距数据。</a:t>
            </a:r>
            <a:r>
              <a:rPr lang="en-US" altLang="zh-CN" sz="2800">
                <a:ea typeface="宋体" panose="02010600030101010101" pitchFamily="2" charset="-122"/>
              </a:rPr>
              <a:t>GPS</a:t>
            </a:r>
            <a:r>
              <a:rPr lang="zh-CN" altLang="en-US" sz="2800">
                <a:ea typeface="宋体" panose="02010600030101010101" pitchFamily="2" charset="-122"/>
              </a:rPr>
              <a:t>信号中的</a:t>
            </a:r>
            <a:r>
              <a:rPr lang="en-US" altLang="zh-CN" sz="2800">
                <a:ea typeface="宋体" panose="02010600030101010101" pitchFamily="2" charset="-122"/>
              </a:rPr>
              <a:t>C/A</a:t>
            </a:r>
            <a:r>
              <a:rPr lang="zh-CN" altLang="en-US" sz="2800">
                <a:ea typeface="宋体" panose="02010600030101010101" pitchFamily="2" charset="-122"/>
              </a:rPr>
              <a:t>码和</a:t>
            </a:r>
            <a:r>
              <a:rPr lang="en-US" altLang="zh-CN" sz="2800">
                <a:ea typeface="宋体" panose="02010600030101010101" pitchFamily="2" charset="-122"/>
              </a:rPr>
              <a:t>P</a:t>
            </a:r>
            <a:r>
              <a:rPr lang="zh-CN" altLang="en-US" sz="2800">
                <a:ea typeface="宋体" panose="02010600030101010101" pitchFamily="2" charset="-122"/>
              </a:rPr>
              <a:t>码，都是由最长线性移位寄存器序列（简称</a:t>
            </a:r>
            <a:r>
              <a:rPr lang="en-US" altLang="zh-CN" sz="2800">
                <a:ea typeface="宋体" panose="02010600030101010101" pitchFamily="2" charset="-122"/>
              </a:rPr>
              <a:t>m</a:t>
            </a:r>
            <a:r>
              <a:rPr lang="zh-CN" altLang="en-US" sz="2800">
                <a:ea typeface="宋体" panose="02010600030101010101" pitchFamily="2" charset="-122"/>
              </a:rPr>
              <a:t>序列）产生的伪随机测距码。 </a:t>
            </a:r>
          </a:p>
        </p:txBody>
      </p:sp>
      <p:sp>
        <p:nvSpPr>
          <p:cNvPr id="36867" name="矩形 2"/>
          <p:cNvSpPr>
            <a:spLocks noChangeArrowheads="1"/>
          </p:cNvSpPr>
          <p:nvPr/>
        </p:nvSpPr>
        <p:spPr bwMode="auto">
          <a:xfrm>
            <a:off x="922338" y="0"/>
            <a:ext cx="4945062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3600">
                <a:ea typeface="宋体" panose="02010600030101010101" pitchFamily="2" charset="-122"/>
              </a:rPr>
              <a:t>伪随机噪声码及其产生 </a:t>
            </a:r>
          </a:p>
        </p:txBody>
      </p:sp>
    </p:spTree>
    <p:extLst>
      <p:ext uri="{BB962C8B-B14F-4D97-AF65-F5344CB8AC3E}">
        <p14:creationId xmlns:p14="http://schemas.microsoft.com/office/powerpoint/2010/main" val="187033636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914400"/>
            <a:ext cx="7105650" cy="568452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13</a:t>
            </a:r>
            <a:r>
              <a:rPr lang="zh-CN" altLang="en-US" dirty="0"/>
              <a:t>位巴克码的自相关过程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D33FEE-1C49-4214-80DA-4129F2419770}"/>
              </a:ext>
            </a:extLst>
          </p:cNvPr>
          <p:cNvSpPr/>
          <p:nvPr/>
        </p:nvSpPr>
        <p:spPr>
          <a:xfrm>
            <a:off x="76200" y="6167735"/>
            <a:ext cx="30376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BarkerCodeConv.m</a:t>
            </a:r>
          </a:p>
        </p:txBody>
      </p:sp>
    </p:spTree>
    <p:extLst>
      <p:ext uri="{BB962C8B-B14F-4D97-AF65-F5344CB8AC3E}">
        <p14:creationId xmlns:p14="http://schemas.microsoft.com/office/powerpoint/2010/main" val="22386423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伪随机码</a:t>
            </a:r>
          </a:p>
        </p:txBody>
      </p:sp>
      <p:pic>
        <p:nvPicPr>
          <p:cNvPr id="3584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066800"/>
            <a:ext cx="5334000" cy="331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5E2E702-6653-4377-84A8-0BB85435D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00" y="1093469"/>
            <a:ext cx="4461384" cy="328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07589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4096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35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40965" name="TextBox 4"/>
          <p:cNvSpPr txBox="1">
            <a:spLocks noChangeArrowheads="1"/>
          </p:cNvSpPr>
          <p:nvPr/>
        </p:nvSpPr>
        <p:spPr bwMode="auto">
          <a:xfrm>
            <a:off x="0" y="5418138"/>
            <a:ext cx="91567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卫星和接收机产生同样的码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卫星信号到达接收机后，接收机检查信号经过多长时间到达接收机</a:t>
            </a:r>
          </a:p>
        </p:txBody>
      </p:sp>
    </p:spTree>
    <p:extLst>
      <p:ext uri="{BB962C8B-B14F-4D97-AF65-F5344CB8AC3E}">
        <p14:creationId xmlns:p14="http://schemas.microsoft.com/office/powerpoint/2010/main" val="167216751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9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1143000"/>
            <a:ext cx="9105900" cy="505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4199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1143000"/>
            <a:ext cx="9123362" cy="506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914400" y="152400"/>
            <a:ext cx="3573463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>
                <a:latin typeface="宋体" panose="02010600030101010101" pitchFamily="2" charset="-122"/>
                <a:ea typeface="宋体" panose="02010600030101010101" pitchFamily="2" charset="-122"/>
              </a:rPr>
              <a:t>PRN=1</a:t>
            </a: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3200">
                <a:ea typeface="宋体" panose="02010600030101010101" pitchFamily="2" charset="-122"/>
              </a:rPr>
              <a:t>C/A</a:t>
            </a: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码产生</a:t>
            </a:r>
            <a:endParaRPr lang="zh-CN" altLang="en-US" sz="3200">
              <a:ea typeface="宋体" panose="02010600030101010101" pitchFamily="2" charset="-122"/>
            </a:endParaRPr>
          </a:p>
        </p:txBody>
      </p:sp>
      <p:pic>
        <p:nvPicPr>
          <p:cNvPr id="4199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1143000"/>
            <a:ext cx="9123362" cy="506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37764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609600" y="4503738"/>
            <a:ext cx="8305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 dirty="0">
                <a:ea typeface="宋体" panose="02010600030101010101" pitchFamily="2" charset="-122"/>
              </a:rPr>
              <a:t>由于伪随机码之间的互相关函数非常小，因此每个伪随机码都可以看成一个唯一的标识信息</a:t>
            </a:r>
            <a:r>
              <a:rPr lang="en-US" altLang="zh-CN" b="0" dirty="0">
                <a:ea typeface="宋体" panose="02010600030101010101" pitchFamily="2" charset="-122"/>
              </a:rPr>
              <a:t>(ID)，</a:t>
            </a:r>
            <a:r>
              <a:rPr lang="zh-CN" altLang="en-US" b="0" dirty="0">
                <a:ea typeface="宋体" panose="02010600030101010101" pitchFamily="2" charset="-122"/>
              </a:rPr>
              <a:t>并且可以和其他伪随机码区分开来。</a:t>
            </a:r>
            <a:endParaRPr lang="en-US" altLang="zh-CN" b="0" dirty="0">
              <a:ea typeface="宋体" panose="02010600030101010101" pitchFamily="2" charset="-122"/>
            </a:endParaRPr>
          </a:p>
          <a:p>
            <a:r>
              <a:rPr lang="zh-CN" altLang="en-US" b="0" dirty="0">
                <a:ea typeface="宋体" panose="02010600030101010101" pitchFamily="2" charset="-122"/>
              </a:rPr>
              <a:t>美国的</a:t>
            </a:r>
            <a:r>
              <a:rPr lang="en-US" altLang="zh-CN" b="0" dirty="0">
                <a:ea typeface="宋体" panose="02010600030101010101" pitchFamily="2" charset="-122"/>
              </a:rPr>
              <a:t>GPS</a:t>
            </a:r>
            <a:r>
              <a:rPr lang="zh-CN" altLang="en-US" b="0" dirty="0">
                <a:ea typeface="宋体" panose="02010600030101010101" pitchFamily="2" charset="-122"/>
              </a:rPr>
              <a:t>民码是</a:t>
            </a:r>
            <a:r>
              <a:rPr lang="en-US" altLang="zh-CN" b="0" dirty="0">
                <a:ea typeface="宋体" panose="02010600030101010101" pitchFamily="2" charset="-122"/>
              </a:rPr>
              <a:t>1023</a:t>
            </a:r>
            <a:r>
              <a:rPr lang="zh-CN" altLang="en-US" b="0" dirty="0">
                <a:ea typeface="宋体" panose="02010600030101010101" pitchFamily="2" charset="-122"/>
              </a:rPr>
              <a:t>，中国的北斗是</a:t>
            </a:r>
            <a:r>
              <a:rPr lang="en-US" altLang="zh-CN" b="0" dirty="0">
                <a:ea typeface="宋体" panose="02010600030101010101" pitchFamily="2" charset="-122"/>
              </a:rPr>
              <a:t>2047</a:t>
            </a:r>
            <a:r>
              <a:rPr lang="zh-CN" altLang="en-US" b="0" dirty="0">
                <a:ea typeface="宋体" panose="02010600030101010101" pitchFamily="2" charset="-122"/>
              </a:rPr>
              <a:t>。</a:t>
            </a:r>
            <a:endParaRPr lang="en-US" altLang="zh-CN" b="0" dirty="0">
              <a:ea typeface="宋体" panose="02010600030101010101" pitchFamily="2" charset="-122"/>
            </a:endParaRPr>
          </a:p>
        </p:txBody>
      </p:sp>
      <p:pic>
        <p:nvPicPr>
          <p:cNvPr id="962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77900"/>
            <a:ext cx="4687888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9626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25" y="955675"/>
            <a:ext cx="4678363" cy="330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grpSp>
        <p:nvGrpSpPr>
          <p:cNvPr id="2" name="组合 15"/>
          <p:cNvGrpSpPr>
            <a:grpSpLocks/>
          </p:cNvGrpSpPr>
          <p:nvPr/>
        </p:nvGrpSpPr>
        <p:grpSpPr bwMode="auto">
          <a:xfrm>
            <a:off x="1295400" y="810002"/>
            <a:ext cx="6229350" cy="4724400"/>
            <a:chOff x="1524000" y="990600"/>
            <a:chExt cx="6229527" cy="4724400"/>
          </a:xfrm>
        </p:grpSpPr>
        <p:grpSp>
          <p:nvGrpSpPr>
            <p:cNvPr id="44039" name="组合 8"/>
            <p:cNvGrpSpPr>
              <a:grpSpLocks/>
            </p:cNvGrpSpPr>
            <p:nvPr/>
          </p:nvGrpSpPr>
          <p:grpSpPr bwMode="auto">
            <a:xfrm>
              <a:off x="1524000" y="990600"/>
              <a:ext cx="6229527" cy="4724400"/>
              <a:chOff x="2209800" y="381000"/>
              <a:chExt cx="6229527" cy="4724400"/>
            </a:xfrm>
          </p:grpSpPr>
          <p:sp>
            <p:nvSpPr>
              <p:cNvPr id="8" name="矩形 7"/>
              <p:cNvSpPr/>
              <p:nvPr/>
            </p:nvSpPr>
            <p:spPr bwMode="auto">
              <a:xfrm>
                <a:off x="2209800" y="381000"/>
                <a:ext cx="5943769" cy="4724400"/>
              </a:xfrm>
              <a:prstGeom prst="rect">
                <a:avLst/>
              </a:prstGeom>
              <a:solidFill>
                <a:schemeClr val="accent5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pitchFamily="2" charset="-122"/>
                </a:endParaRPr>
              </a:p>
            </p:txBody>
          </p:sp>
          <p:pic>
            <p:nvPicPr>
              <p:cNvPr id="44045" name="Picture 5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62200" y="609600"/>
                <a:ext cx="6077127" cy="426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</p:pic>
        </p:grpSp>
        <p:sp>
          <p:nvSpPr>
            <p:cNvPr id="44040" name="TextBox 9"/>
            <p:cNvSpPr txBox="1">
              <a:spLocks noChangeArrowheads="1"/>
            </p:cNvSpPr>
            <p:nvPr/>
          </p:nvSpPr>
          <p:spPr bwMode="auto">
            <a:xfrm>
              <a:off x="3053691" y="3886200"/>
              <a:ext cx="5277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63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cxnSp>
          <p:nvCxnSpPr>
            <p:cNvPr id="44041" name="直接箭头连接符 11"/>
            <p:cNvCxnSpPr>
              <a:cxnSpLocks noChangeShapeType="1"/>
              <a:stCxn id="44040" idx="1"/>
            </p:cNvCxnSpPr>
            <p:nvPr/>
          </p:nvCxnSpPr>
          <p:spPr bwMode="auto">
            <a:xfrm rot="10800000" flipV="1">
              <a:off x="2667001" y="4117032"/>
              <a:ext cx="386691" cy="37876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042" name="TextBox 12"/>
            <p:cNvSpPr txBox="1">
              <a:spLocks noChangeArrowheads="1"/>
            </p:cNvSpPr>
            <p:nvPr/>
          </p:nvSpPr>
          <p:spPr bwMode="auto">
            <a:xfrm>
              <a:off x="5181600" y="1828800"/>
              <a:ext cx="87075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1023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cxnSp>
          <p:nvCxnSpPr>
            <p:cNvPr id="44043" name="直接箭头连接符 14"/>
            <p:cNvCxnSpPr>
              <a:cxnSpLocks noChangeShapeType="1"/>
              <a:stCxn id="44042" idx="1"/>
            </p:cNvCxnSpPr>
            <p:nvPr/>
          </p:nvCxnSpPr>
          <p:spPr bwMode="auto">
            <a:xfrm rot="10800000">
              <a:off x="4876800" y="1600201"/>
              <a:ext cx="304800" cy="459433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9126016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>
                <a:ea typeface="宋体" panose="02010600030101010101" pitchFamily="2" charset="-122"/>
              </a:rPr>
              <a:t>卫星导航信号调制方式</a:t>
            </a:r>
          </a:p>
        </p:txBody>
      </p:sp>
      <p:sp>
        <p:nvSpPr>
          <p:cNvPr id="6150" name="Text Box 4"/>
          <p:cNvSpPr txBox="1">
            <a:spLocks noChangeArrowheads="1"/>
          </p:cNvSpPr>
          <p:nvPr/>
        </p:nvSpPr>
        <p:spPr bwMode="auto">
          <a:xfrm>
            <a:off x="661988" y="990600"/>
            <a:ext cx="1795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BPSK</a:t>
            </a:r>
            <a:r>
              <a:rPr lang="zh-CN" altLang="en-US">
                <a:ea typeface="宋体" panose="02010600030101010101" pitchFamily="2" charset="-122"/>
              </a:rPr>
              <a:t>信号：</a:t>
            </a:r>
          </a:p>
        </p:txBody>
      </p:sp>
      <p:pic>
        <p:nvPicPr>
          <p:cNvPr id="6151" name="Picture 5" descr="BPSK_time_wav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362200"/>
            <a:ext cx="4191000" cy="401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6" descr="BPSK_freq_wav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2362200"/>
            <a:ext cx="4191000" cy="401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1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42507"/>
              </p:ext>
            </p:extLst>
          </p:nvPr>
        </p:nvGraphicFramePr>
        <p:xfrm>
          <a:off x="2452688" y="990600"/>
          <a:ext cx="47799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5" name="Equation" r:id="rId5" imgW="2044440" imgH="228600" progId="Equation.DSMT4">
                  <p:embed/>
                </p:oleObj>
              </mc:Choice>
              <mc:Fallback>
                <p:oleObj name="Equation" r:id="rId5" imgW="2044440" imgH="228600" progId="Equation.DSMT4">
                  <p:embed/>
                  <p:pic>
                    <p:nvPicPr>
                      <p:cNvPr id="61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88" y="990600"/>
                        <a:ext cx="477996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1981200" y="1447800"/>
          <a:ext cx="25892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" name="Equation" r:id="rId7" imgW="1320227" imgH="431613" progId="Equation.DSMT4">
                  <p:embed/>
                </p:oleObj>
              </mc:Choice>
              <mc:Fallback>
                <p:oleObj name="Equation" r:id="rId7" imgW="1320227" imgH="431613" progId="Equation.DSMT4">
                  <p:embed/>
                  <p:pic>
                    <p:nvPicPr>
                      <p:cNvPr id="61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447800"/>
                        <a:ext cx="2589213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4699000" y="1447800"/>
          <a:ext cx="190023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7" name="Equation" r:id="rId9" imgW="888614" imgH="393529" progId="Equation.DSMT4">
                  <p:embed/>
                </p:oleObj>
              </mc:Choice>
              <mc:Fallback>
                <p:oleObj name="Equation" r:id="rId9" imgW="888614" imgH="393529" progId="Equation.DSMT4">
                  <p:embed/>
                  <p:pic>
                    <p:nvPicPr>
                      <p:cNvPr id="61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0" y="1447800"/>
                        <a:ext cx="1900238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404157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4505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19175"/>
            <a:ext cx="7805738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grpSp>
        <p:nvGrpSpPr>
          <p:cNvPr id="2" name="组合 5"/>
          <p:cNvGrpSpPr>
            <a:grpSpLocks/>
          </p:cNvGrpSpPr>
          <p:nvPr/>
        </p:nvGrpSpPr>
        <p:grpSpPr bwMode="auto">
          <a:xfrm>
            <a:off x="838200" y="914400"/>
            <a:ext cx="7543800" cy="5562600"/>
            <a:chOff x="1143000" y="914400"/>
            <a:chExt cx="7112000" cy="5410200"/>
          </a:xfrm>
        </p:grpSpPr>
        <p:pic>
          <p:nvPicPr>
            <p:cNvPr id="4506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914400"/>
              <a:ext cx="7112000" cy="533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sp>
          <p:nvSpPr>
            <p:cNvPr id="45062" name="TextBox 4"/>
            <p:cNvSpPr txBox="1">
              <a:spLocks noChangeArrowheads="1"/>
            </p:cNvSpPr>
            <p:nvPr/>
          </p:nvSpPr>
          <p:spPr bwMode="auto">
            <a:xfrm>
              <a:off x="1752600" y="5862935"/>
              <a:ext cx="5867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L1</a:t>
              </a:r>
              <a:r>
                <a:rPr lang="zh-CN" altLang="en-US">
                  <a:ea typeface="宋体" panose="02010600030101010101" pitchFamily="2" charset="-122"/>
                </a:rPr>
                <a:t> </a:t>
              </a:r>
              <a:r>
                <a:rPr lang="en-US" altLang="zh-CN">
                  <a:ea typeface="宋体" panose="02010600030101010101" pitchFamily="2" charset="-122"/>
                </a:rPr>
                <a:t>C/A</a:t>
              </a:r>
              <a:r>
                <a:rPr lang="zh-CN" altLang="en-US">
                  <a:ea typeface="宋体" panose="02010600030101010101" pitchFamily="2" charset="-122"/>
                </a:rPr>
                <a:t>码的功率谱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21456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GPS</a:t>
            </a:r>
            <a:r>
              <a:rPr lang="zh-CN" altLang="en-US">
                <a:ea typeface="宋体" panose="02010600030101010101" pitchFamily="2" charset="-122"/>
              </a:rPr>
              <a:t>信号和噪声的功率谱密度</a:t>
            </a:r>
          </a:p>
        </p:txBody>
      </p:sp>
      <p:pic>
        <p:nvPicPr>
          <p:cNvPr id="4608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1162050"/>
            <a:ext cx="889635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99994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4710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90675"/>
            <a:ext cx="5089525" cy="364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4710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590675"/>
            <a:ext cx="5100638" cy="364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47109" name="TextBox 4"/>
          <p:cNvSpPr txBox="1">
            <a:spLocks noChangeArrowheads="1"/>
          </p:cNvSpPr>
          <p:nvPr/>
        </p:nvSpPr>
        <p:spPr bwMode="auto">
          <a:xfrm>
            <a:off x="0" y="5257800"/>
            <a:ext cx="4724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接收信号的功率谱</a:t>
            </a:r>
          </a:p>
        </p:txBody>
      </p:sp>
      <p:sp>
        <p:nvSpPr>
          <p:cNvPr id="47110" name="TextBox 5"/>
          <p:cNvSpPr txBox="1">
            <a:spLocks noChangeArrowheads="1"/>
          </p:cNvSpPr>
          <p:nvPr/>
        </p:nvSpPr>
        <p:spPr bwMode="auto">
          <a:xfrm>
            <a:off x="4419600" y="5257800"/>
            <a:ext cx="4724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解扩之后的功率谱</a:t>
            </a:r>
          </a:p>
        </p:txBody>
      </p:sp>
    </p:spTree>
    <p:extLst>
      <p:ext uri="{BB962C8B-B14F-4D97-AF65-F5344CB8AC3E}">
        <p14:creationId xmlns:p14="http://schemas.microsoft.com/office/powerpoint/2010/main" val="35723542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36A4F-EB88-4E9A-A62A-F3686686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0A83D67-6B4F-4FB8-A4D2-318745116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959367"/>
            <a:ext cx="6267450" cy="36126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5A2E9B6-94F2-4E0D-9288-12974F0DBC51}"/>
                  </a:ext>
                </a:extLst>
              </p:cNvPr>
              <p:cNvSpPr/>
              <p:nvPr/>
            </p:nvSpPr>
            <p:spPr>
              <a:xfrm>
                <a:off x="0" y="4724400"/>
                <a:ext cx="9144000" cy="5052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𝐼𝐹</m:t>
                                  </m:r>
                                </m:sub>
                              </m:sSub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𝛿𝜃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5A2E9B6-94F2-4E0D-9288-12974F0DBC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24400"/>
                <a:ext cx="9144000" cy="5052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955675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基于线性卷积和快速卷积的</a:t>
            </a:r>
            <a:r>
              <a:rPr lang="en-US" altLang="zh-CN" sz="2800" dirty="0"/>
              <a:t>GPS</a:t>
            </a:r>
            <a:r>
              <a:rPr lang="zh-CN" altLang="en-US" sz="2800" dirty="0"/>
              <a:t>信号的捕获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dirty="0"/>
                  <a:t>接收信号：</a:t>
                </a:r>
                <a:endParaRPr lang="en-US" altLang="zh-CN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)=</m:t>
                    </m:r>
                    <m:rad>
                      <m:radPr>
                        <m:degHide m:val="on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rad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𝐼𝐹</m:t>
                                </m:r>
                              </m:sub>
                            </m:s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e>
                        </m:d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𝛿𝜃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</a:t>
                </a:r>
              </a:p>
              <a:p>
                <a:r>
                  <a:rPr lang="zh-CN" altLang="en-US" sz="2400" dirty="0"/>
                  <a:t>本地信号：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m:rPr>
                          <m:sty m:val="p"/>
                        </m:rPr>
                        <a:rPr lang="en-US" altLang="zh-CN" sz="2400" b="0" i="0" baseline="-25000" smtClean="0">
                          <a:latin typeface="Cambria Math" panose="02040503050406030204" pitchFamily="18" charset="0"/>
                        </a:rPr>
                        <m:t>Ref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40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𝐼𝐹</m:t>
                              </m:r>
                            </m:sub>
                          </m:s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现在我们把</a:t>
                </a:r>
                <a:r>
                  <a:rPr lang="en-US" altLang="zh-CN" sz="2400" dirty="0"/>
                  <a:t>GPS</a:t>
                </a:r>
                <a:r>
                  <a:rPr lang="zh-CN" altLang="en-US" sz="2400" dirty="0"/>
                  <a:t>信号的捕获看成是一个系统，本地参考信号看成是系统的冲激响应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sz="2400" dirty="0"/>
                  <a:t>，对</a:t>
                </a:r>
                <a:r>
                  <a:rPr lang="en-US" altLang="zh-CN" sz="2400" dirty="0"/>
                  <a:t>GPS</a:t>
                </a:r>
                <a:r>
                  <a:rPr lang="zh-CN" altLang="en-US" sz="2400" dirty="0"/>
                  <a:t>信号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sz="2400" dirty="0"/>
                  <a:t>的捕获过程就可以看成是接收信号经过系统之后的响应。亦即</a:t>
                </a:r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)∗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由于</a:t>
                </a:r>
                <a:r>
                  <a:rPr lang="en-US" altLang="zh-CN" sz="2400" dirty="0"/>
                  <a:t>GPS</a:t>
                </a:r>
                <a:r>
                  <a:rPr lang="zh-CN" altLang="en-US" sz="2400" dirty="0"/>
                  <a:t>信号是连续不断的，因此这就是典型的长信号卷积。</a:t>
                </a:r>
              </a:p>
            </p:txBody>
          </p:sp>
        </mc:Choice>
        <mc:Fallback xmlns="">
          <p:sp>
            <p:nvSpPr>
              <p:cNvPr id="6" name="内容占位符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29" t="-1316" b="-38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0"/>
            <a:ext cx="8124825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019772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基于线性卷积和快速卷积的</a:t>
            </a:r>
            <a:r>
              <a:rPr lang="en-US" altLang="zh-CN" sz="2800" dirty="0"/>
              <a:t>GPS</a:t>
            </a:r>
            <a:r>
              <a:rPr lang="zh-CN" altLang="en-US" sz="2800" dirty="0"/>
              <a:t>信号的捕获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11"/>
              <p:cNvSpPr>
                <a:spLocks noGrp="1"/>
              </p:cNvSpPr>
              <p:nvPr>
                <p:ph idx="1"/>
              </p:nvPr>
            </p:nvSpPr>
            <p:spPr>
              <a:xfrm>
                <a:off x="3048000" y="990600"/>
                <a:ext cx="5791200" cy="55626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b="0" dirty="0">
                    <a:latin typeface="Times New Roman" panose="02020603050405020304" pitchFamily="18" charset="0"/>
                  </a:rPr>
                  <a:t>load </a:t>
                </a:r>
                <a:r>
                  <a:rPr lang="en-US" altLang="zh-CN" sz="2400" b="0" dirty="0" err="1">
                    <a:latin typeface="Times New Roman" panose="02020603050405020304" pitchFamily="18" charset="0"/>
                  </a:rPr>
                  <a:t>longSignal.mat</a:t>
                </a:r>
                <a:endParaRPr lang="en-US" altLang="zh-CN" sz="2400" b="0" dirty="0">
                  <a:latin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b="0" dirty="0">
                    <a:latin typeface="Times New Roman" panose="02020603050405020304" pitchFamily="18" charset="0"/>
                  </a:rPr>
                  <a:t>plot(</a:t>
                </a:r>
                <a:r>
                  <a:rPr lang="en-US" altLang="zh-CN" sz="2400" b="0" dirty="0" err="1">
                    <a:latin typeface="Times New Roman" panose="02020603050405020304" pitchFamily="18" charset="0"/>
                  </a:rPr>
                  <a:t>longSignal</a:t>
                </a:r>
                <a:r>
                  <a:rPr lang="en-US" altLang="zh-CN" sz="2400" b="0" dirty="0">
                    <a:latin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b="0" dirty="0">
                    <a:latin typeface="Times New Roman" panose="02020603050405020304" pitchFamily="18" charset="0"/>
                  </a:rPr>
                  <a:t>plot(abs(</a:t>
                </a:r>
                <a:r>
                  <a:rPr lang="en-US" altLang="zh-CN" sz="2400" b="0" dirty="0" err="1">
                    <a:latin typeface="Times New Roman" panose="02020603050405020304" pitchFamily="18" charset="0"/>
                  </a:rPr>
                  <a:t>fft</a:t>
                </a:r>
                <a:r>
                  <a:rPr lang="en-US" altLang="zh-CN" sz="2400" b="0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400" b="0" dirty="0" err="1">
                    <a:latin typeface="Times New Roman" panose="02020603050405020304" pitchFamily="18" charset="0"/>
                  </a:rPr>
                  <a:t>longSignal</a:t>
                </a:r>
                <a:r>
                  <a:rPr lang="en-US" altLang="zh-CN" sz="2400" b="0" dirty="0">
                    <a:latin typeface="Times New Roman" panose="02020603050405020304" pitchFamily="18" charset="0"/>
                  </a:rPr>
                  <a:t>)))</a:t>
                </a:r>
              </a:p>
              <a:p>
                <a:pPr marL="0" indent="0">
                  <a:buNone/>
                </a:pPr>
                <a:r>
                  <a:rPr lang="en-US" altLang="zh-CN" sz="2400" b="0" dirty="0">
                    <a:latin typeface="Times New Roman" panose="02020603050405020304" pitchFamily="18" charset="0"/>
                  </a:rPr>
                  <a:t>plot(abs(</a:t>
                </a:r>
                <a:r>
                  <a:rPr lang="en-US" altLang="zh-CN" sz="2400" b="0" dirty="0" err="1">
                    <a:latin typeface="Times New Roman" panose="02020603050405020304" pitchFamily="18" charset="0"/>
                  </a:rPr>
                  <a:t>fft</a:t>
                </a:r>
                <a:r>
                  <a:rPr lang="en-US" altLang="zh-CN" sz="2400" b="0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400" b="0" dirty="0" err="1">
                    <a:latin typeface="Times New Roman" panose="02020603050405020304" pitchFamily="18" charset="0"/>
                  </a:rPr>
                  <a:t>longSignal</a:t>
                </a:r>
                <a:r>
                  <a:rPr lang="en-US" altLang="zh-CN" sz="2400" b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-mean(</a:t>
                </a:r>
                <a:r>
                  <a:rPr lang="en-US" altLang="zh-CN" sz="2400" b="0" dirty="0" err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longSignal</a:t>
                </a:r>
                <a:r>
                  <a:rPr lang="en-US" altLang="zh-CN" sz="2400" b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r>
                  <a:rPr lang="en-US" altLang="zh-CN" sz="2400" b="0" dirty="0">
                    <a:latin typeface="Times New Roman" panose="02020603050405020304" pitchFamily="18" charset="0"/>
                  </a:rPr>
                  <a:t>)))</a:t>
                </a:r>
              </a:p>
              <a:p>
                <a:pPr marL="0" indent="0">
                  <a:buNone/>
                </a:pPr>
                <a:endParaRPr lang="en-US" altLang="zh-CN" sz="2400" b="0" dirty="0">
                  <a:latin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内容占位符 1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0" y="990600"/>
                <a:ext cx="5791200" cy="5562600"/>
              </a:xfrm>
              <a:blipFill>
                <a:blip r:embed="rId2"/>
                <a:stretch>
                  <a:fillRect l="-1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0" y="821635"/>
            <a:ext cx="3448422" cy="2581342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-152400" y="2971800"/>
            <a:ext cx="6400800" cy="3343342"/>
            <a:chOff x="-152400" y="2971800"/>
            <a:chExt cx="6400800" cy="3343342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52400" y="3733800"/>
              <a:ext cx="3448422" cy="2581342"/>
            </a:xfrm>
            <a:prstGeom prst="rect">
              <a:avLst/>
            </a:prstGeom>
          </p:spPr>
        </p:pic>
        <p:sp>
          <p:nvSpPr>
            <p:cNvPr id="18" name="矩形标注 17"/>
            <p:cNvSpPr/>
            <p:nvPr/>
          </p:nvSpPr>
          <p:spPr bwMode="auto">
            <a:xfrm>
              <a:off x="3048000" y="2971800"/>
              <a:ext cx="3200400" cy="381000"/>
            </a:xfrm>
            <a:prstGeom prst="wedgeRectCallout">
              <a:avLst>
                <a:gd name="adj1" fmla="val -74711"/>
                <a:gd name="adj2" fmla="val 165357"/>
              </a:avLst>
            </a:prstGeom>
            <a:noFill/>
            <a:ln w="19050" cap="flat" cmpd="sng" algn="ctr">
              <a:solidFill>
                <a:srgbClr val="0000CC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04800" y="4495800"/>
            <a:ext cx="1896388" cy="2152710"/>
            <a:chOff x="304800" y="4495800"/>
            <a:chExt cx="1896388" cy="2152710"/>
          </a:xfrm>
        </p:grpSpPr>
        <p:cxnSp>
          <p:nvCxnSpPr>
            <p:cNvPr id="15" name="直接箭头连接符 14"/>
            <p:cNvCxnSpPr>
              <a:stCxn id="13" idx="0"/>
            </p:cNvCxnSpPr>
            <p:nvPr/>
          </p:nvCxnSpPr>
          <p:spPr bwMode="auto">
            <a:xfrm flipH="1" flipV="1">
              <a:off x="304800" y="4495800"/>
              <a:ext cx="1291094" cy="17526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13" name="文本框 12"/>
            <p:cNvSpPr txBox="1"/>
            <p:nvPr/>
          </p:nvSpPr>
          <p:spPr>
            <a:xfrm>
              <a:off x="990600" y="6248400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/>
                <a:t>直流分量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124200" y="3352800"/>
            <a:ext cx="6115422" cy="3267142"/>
            <a:chOff x="3124200" y="3352800"/>
            <a:chExt cx="6115422" cy="3267142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91200" y="4038600"/>
              <a:ext cx="3448422" cy="2581342"/>
            </a:xfrm>
            <a:prstGeom prst="rect">
              <a:avLst/>
            </a:prstGeom>
          </p:spPr>
        </p:pic>
        <p:sp>
          <p:nvSpPr>
            <p:cNvPr id="20" name="矩形标注 19"/>
            <p:cNvSpPr/>
            <p:nvPr/>
          </p:nvSpPr>
          <p:spPr bwMode="auto">
            <a:xfrm>
              <a:off x="3124200" y="3352800"/>
              <a:ext cx="5410200" cy="447742"/>
            </a:xfrm>
            <a:prstGeom prst="wedgeRectCallout">
              <a:avLst>
                <a:gd name="adj1" fmla="val 32371"/>
                <a:gd name="adj2" fmla="val 115760"/>
              </a:avLst>
            </a:prstGeom>
            <a:noFill/>
            <a:ln w="19050" cap="flat" cmpd="sng" algn="ctr">
              <a:solidFill>
                <a:srgbClr val="0000CC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66097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基于线性卷积和快速卷积的</a:t>
            </a:r>
            <a:r>
              <a:rPr lang="en-US" altLang="zh-CN" sz="2800" dirty="0"/>
              <a:t>GPS</a:t>
            </a:r>
            <a:r>
              <a:rPr lang="zh-CN" altLang="en-US" sz="2800" dirty="0"/>
              <a:t>信号的捕获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5626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b="0" dirty="0" err="1">
                <a:latin typeface="Times New Roman" panose="02020603050405020304" pitchFamily="18" charset="0"/>
              </a:rPr>
              <a:t>samplingFreq</a:t>
            </a:r>
            <a:r>
              <a:rPr lang="en-US" altLang="zh-CN" sz="1800" b="0" dirty="0">
                <a:latin typeface="Times New Roman" panose="02020603050405020304" pitchFamily="18" charset="0"/>
              </a:rPr>
              <a:t>=38192000;  %</a:t>
            </a:r>
            <a:r>
              <a:rPr lang="zh-CN" altLang="en-US" sz="1800" b="0" dirty="0">
                <a:latin typeface="Times New Roman" panose="02020603050405020304" pitchFamily="18" charset="0"/>
              </a:rPr>
              <a:t>采样频率</a:t>
            </a:r>
          </a:p>
          <a:p>
            <a:pPr marL="0" indent="0">
              <a:buNone/>
            </a:pPr>
            <a:r>
              <a:rPr lang="en-US" altLang="zh-CN" sz="1800" b="0" dirty="0" err="1">
                <a:latin typeface="Times New Roman" panose="02020603050405020304" pitchFamily="18" charset="0"/>
              </a:rPr>
              <a:t>codeFreqBasis</a:t>
            </a:r>
            <a:r>
              <a:rPr lang="en-US" altLang="zh-CN" sz="1800" b="0" dirty="0">
                <a:latin typeface="Times New Roman" panose="02020603050405020304" pitchFamily="18" charset="0"/>
              </a:rPr>
              <a:t>=1023000;  %GPS</a:t>
            </a:r>
            <a:r>
              <a:rPr lang="zh-CN" altLang="en-US" sz="1800" b="0" dirty="0">
                <a:latin typeface="Times New Roman" panose="02020603050405020304" pitchFamily="18" charset="0"/>
              </a:rPr>
              <a:t>信号码率</a:t>
            </a:r>
          </a:p>
          <a:p>
            <a:pPr marL="0" indent="0">
              <a:buNone/>
            </a:pPr>
            <a:r>
              <a:rPr lang="en-US" altLang="zh-CN" sz="1800" b="0" dirty="0" err="1">
                <a:latin typeface="Times New Roman" panose="02020603050405020304" pitchFamily="18" charset="0"/>
              </a:rPr>
              <a:t>codeLength</a:t>
            </a:r>
            <a:r>
              <a:rPr lang="en-US" altLang="zh-CN" sz="1800" b="0" dirty="0">
                <a:latin typeface="Times New Roman" panose="02020603050405020304" pitchFamily="18" charset="0"/>
              </a:rPr>
              <a:t>=1023;        %GPS</a:t>
            </a:r>
            <a:r>
              <a:rPr lang="zh-CN" altLang="en-US" sz="1800" b="0" dirty="0">
                <a:latin typeface="Times New Roman" panose="02020603050405020304" pitchFamily="18" charset="0"/>
              </a:rPr>
              <a:t>信号码长</a:t>
            </a:r>
          </a:p>
          <a:p>
            <a:pPr marL="0" indent="0">
              <a:buNone/>
            </a:pPr>
            <a:r>
              <a:rPr lang="en-US" altLang="zh-CN" sz="1800" b="0" dirty="0" err="1">
                <a:latin typeface="Times New Roman" panose="02020603050405020304" pitchFamily="18" charset="0"/>
              </a:rPr>
              <a:t>samplesPerCode</a:t>
            </a:r>
            <a:r>
              <a:rPr lang="en-US" altLang="zh-CN" sz="1800" b="0" dirty="0">
                <a:latin typeface="Times New Roman" panose="02020603050405020304" pitchFamily="18" charset="0"/>
              </a:rPr>
              <a:t> = round(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samplingFreq</a:t>
            </a:r>
            <a:r>
              <a:rPr lang="en-US" altLang="zh-CN" sz="1800" b="0" dirty="0">
                <a:latin typeface="Times New Roman" panose="02020603050405020304" pitchFamily="18" charset="0"/>
              </a:rPr>
              <a:t>/(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codeFreqBasis</a:t>
            </a:r>
            <a:r>
              <a:rPr lang="en-US" altLang="zh-CN" sz="1800" b="0" dirty="0">
                <a:latin typeface="Times New Roman" panose="02020603050405020304" pitchFamily="18" charset="0"/>
              </a:rPr>
              <a:t>/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codeLength</a:t>
            </a:r>
            <a:r>
              <a:rPr lang="en-US" altLang="zh-CN" sz="1800" b="0" dirty="0">
                <a:latin typeface="Times New Roman" panose="02020603050405020304" pitchFamily="18" charset="0"/>
              </a:rPr>
              <a:t>));%</a:t>
            </a:r>
            <a:r>
              <a:rPr lang="zh-CN" altLang="en-US" sz="1800" b="0" dirty="0">
                <a:latin typeface="Times New Roman" panose="02020603050405020304" pitchFamily="18" charset="0"/>
              </a:rPr>
              <a:t>每个码的采样点数</a:t>
            </a:r>
            <a:endParaRPr lang="en-US" altLang="zh-CN" sz="1800" b="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800" b="0" dirty="0" err="1">
                <a:latin typeface="Times New Roman" panose="02020603050405020304" pitchFamily="18" charset="0"/>
              </a:rPr>
              <a:t>ts</a:t>
            </a:r>
            <a:r>
              <a:rPr lang="en-US" altLang="zh-CN" sz="1800" b="0" dirty="0">
                <a:latin typeface="Times New Roman" panose="02020603050405020304" pitchFamily="18" charset="0"/>
              </a:rPr>
              <a:t> = 1 / 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samplingFreq</a:t>
            </a:r>
            <a:r>
              <a:rPr lang="en-US" altLang="zh-CN" sz="1800" b="0" dirty="0">
                <a:latin typeface="Times New Roman" panose="02020603050405020304" pitchFamily="18" charset="0"/>
              </a:rPr>
              <a:t>;	%</a:t>
            </a:r>
            <a:r>
              <a:rPr lang="zh-CN" altLang="en-US" sz="1800" b="0" dirty="0">
                <a:latin typeface="Times New Roman" panose="02020603050405020304" pitchFamily="18" charset="0"/>
              </a:rPr>
              <a:t>采样间隔</a:t>
            </a:r>
          </a:p>
          <a:p>
            <a:pPr marL="0" indent="0">
              <a:buNone/>
            </a:pPr>
            <a:r>
              <a:rPr lang="en-US" altLang="zh-CN" sz="1800" b="0" dirty="0" err="1">
                <a:latin typeface="Times New Roman" panose="02020603050405020304" pitchFamily="18" charset="0"/>
              </a:rPr>
              <a:t>phasePoints</a:t>
            </a:r>
            <a:r>
              <a:rPr lang="en-US" altLang="zh-CN" sz="1800" b="0" dirty="0">
                <a:latin typeface="Times New Roman" panose="02020603050405020304" pitchFamily="18" charset="0"/>
              </a:rPr>
              <a:t> = (0 : (samplesPerCode-1)) * 2 * pi * 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ts</a:t>
            </a:r>
            <a:r>
              <a:rPr lang="en-US" altLang="zh-CN" sz="1800" b="0" dirty="0">
                <a:latin typeface="Times New Roman" panose="02020603050405020304" pitchFamily="18" charset="0"/>
              </a:rPr>
              <a:t>;	%</a:t>
            </a:r>
            <a:r>
              <a:rPr lang="zh-CN" altLang="en-US" sz="1800" b="0" dirty="0">
                <a:latin typeface="Times New Roman" panose="02020603050405020304" pitchFamily="18" charset="0"/>
              </a:rPr>
              <a:t>产生载波相位</a:t>
            </a:r>
          </a:p>
          <a:p>
            <a:pPr marL="0" indent="0">
              <a:buNone/>
            </a:pPr>
            <a:r>
              <a:rPr lang="en-US" altLang="zh-CN" sz="1800" b="0" dirty="0">
                <a:latin typeface="Times New Roman" panose="02020603050405020304" pitchFamily="18" charset="0"/>
              </a:rPr>
              <a:t>load 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caCodesTable.mat</a:t>
            </a:r>
            <a:r>
              <a:rPr lang="en-US" altLang="zh-CN" sz="1800" b="0" dirty="0">
                <a:latin typeface="Times New Roman" panose="02020603050405020304" pitchFamily="18" charset="0"/>
              </a:rPr>
              <a:t>	%</a:t>
            </a:r>
            <a:r>
              <a:rPr lang="zh-CN" altLang="en-US" sz="1800" b="0" dirty="0">
                <a:latin typeface="Times New Roman" panose="02020603050405020304" pitchFamily="18" charset="0"/>
              </a:rPr>
              <a:t>载入</a:t>
            </a:r>
            <a:r>
              <a:rPr lang="en-US" altLang="zh-CN" sz="1800" b="0" dirty="0">
                <a:latin typeface="Times New Roman" panose="02020603050405020304" pitchFamily="18" charset="0"/>
              </a:rPr>
              <a:t>CA</a:t>
            </a:r>
            <a:r>
              <a:rPr lang="zh-CN" altLang="en-US" sz="1800" b="0" dirty="0">
                <a:latin typeface="Times New Roman" panose="02020603050405020304" pitchFamily="18" charset="0"/>
              </a:rPr>
              <a:t>码的码表</a:t>
            </a:r>
            <a:endParaRPr lang="en-US" altLang="zh-CN" sz="1800" b="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800" b="0" dirty="0">
                <a:latin typeface="Times New Roman" panose="02020603050405020304" pitchFamily="18" charset="0"/>
              </a:rPr>
              <a:t>IF=9548000;	%</a:t>
            </a:r>
            <a:r>
              <a:rPr lang="zh-CN" altLang="en-US" sz="1800" b="0" dirty="0">
                <a:latin typeface="Times New Roman" panose="02020603050405020304" pitchFamily="18" charset="0"/>
              </a:rPr>
              <a:t>中频本振信号频率</a:t>
            </a:r>
          </a:p>
          <a:p>
            <a:pPr marL="0" indent="0">
              <a:buNone/>
            </a:pPr>
            <a:r>
              <a:rPr lang="en-US" altLang="zh-CN" sz="1800" b="0" dirty="0" err="1">
                <a:latin typeface="Times New Roman" panose="02020603050405020304" pitchFamily="18" charset="0"/>
              </a:rPr>
              <a:t>acqThreshold</a:t>
            </a:r>
            <a:r>
              <a:rPr lang="en-US" altLang="zh-CN" sz="1800" b="0" dirty="0">
                <a:latin typeface="Times New Roman" panose="02020603050405020304" pitchFamily="18" charset="0"/>
              </a:rPr>
              <a:t>=2.5;</a:t>
            </a:r>
          </a:p>
          <a:p>
            <a:pPr marL="0" indent="0">
              <a:buNone/>
            </a:pPr>
            <a:r>
              <a:rPr lang="en-US" altLang="zh-CN" sz="1800" b="0" dirty="0">
                <a:latin typeface="Times New Roman" panose="02020603050405020304" pitchFamily="18" charset="0"/>
              </a:rPr>
              <a:t>for PRN = 1:32	%</a:t>
            </a:r>
            <a:r>
              <a:rPr lang="zh-CN" altLang="en-US" sz="1800" b="0" dirty="0">
                <a:latin typeface="Times New Roman" panose="02020603050405020304" pitchFamily="18" charset="0"/>
              </a:rPr>
              <a:t>卫星编号</a:t>
            </a:r>
            <a:endParaRPr lang="en-US" altLang="zh-CN" sz="1800" b="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800" b="0" dirty="0">
                <a:latin typeface="Times New Roman" panose="02020603050405020304" pitchFamily="18" charset="0"/>
              </a:rPr>
              <a:t>      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caCodeFreqDom</a:t>
            </a:r>
            <a:r>
              <a:rPr lang="en-US" altLang="zh-CN" sz="1800" b="0" dirty="0">
                <a:latin typeface="Times New Roman" panose="02020603050405020304" pitchFamily="18" charset="0"/>
              </a:rPr>
              <a:t> = 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conj</a:t>
            </a:r>
            <a:r>
              <a:rPr lang="en-US" altLang="zh-CN" sz="1800" b="0" dirty="0">
                <a:latin typeface="Times New Roman" panose="02020603050405020304" pitchFamily="18" charset="0"/>
              </a:rPr>
              <a:t>(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fft</a:t>
            </a:r>
            <a:r>
              <a:rPr lang="en-US" altLang="zh-CN" sz="1800" b="0" dirty="0">
                <a:latin typeface="Times New Roman" panose="02020603050405020304" pitchFamily="18" charset="0"/>
              </a:rPr>
              <a:t>(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caCodesTable</a:t>
            </a:r>
            <a:r>
              <a:rPr lang="en-US" altLang="zh-CN" sz="1800" b="0" dirty="0">
                <a:latin typeface="Times New Roman" panose="02020603050405020304" pitchFamily="18" charset="0"/>
              </a:rPr>
              <a:t>(PRN, :)));</a:t>
            </a:r>
          </a:p>
          <a:p>
            <a:pPr marL="0" indent="0">
              <a:buNone/>
            </a:pPr>
            <a:r>
              <a:rPr lang="en-US" altLang="zh-CN" sz="1800" b="0" dirty="0">
                <a:latin typeface="Times New Roman" panose="02020603050405020304" pitchFamily="18" charset="0"/>
              </a:rPr>
              <a:t>      for 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frqBinIndex</a:t>
            </a:r>
            <a:r>
              <a:rPr lang="en-US" altLang="zh-CN" sz="1800" b="0" dirty="0">
                <a:latin typeface="Times New Roman" panose="02020603050405020304" pitchFamily="18" charset="0"/>
              </a:rPr>
              <a:t> = 1:numberOfFrqBins</a:t>
            </a:r>
          </a:p>
          <a:p>
            <a:pPr marL="0" indent="0">
              <a:buNone/>
            </a:pPr>
            <a:r>
              <a:rPr lang="en-US" altLang="zh-CN" sz="1800" b="0" dirty="0">
                <a:latin typeface="Times New Roman" panose="02020603050405020304" pitchFamily="18" charset="0"/>
              </a:rPr>
              <a:t>            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frqBins</a:t>
            </a:r>
            <a:r>
              <a:rPr lang="en-US" altLang="zh-CN" sz="1800" b="0" dirty="0">
                <a:latin typeface="Times New Roman" panose="02020603050405020304" pitchFamily="18" charset="0"/>
              </a:rPr>
              <a:t>(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frqBinIndex</a:t>
            </a:r>
            <a:r>
              <a:rPr lang="en-US" altLang="zh-CN" sz="1800" b="0" dirty="0">
                <a:latin typeface="Times New Roman" panose="02020603050405020304" pitchFamily="18" charset="0"/>
              </a:rPr>
              <a:t>) = IF - (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acqSearchBand</a:t>
            </a:r>
            <a:r>
              <a:rPr lang="en-US" altLang="zh-CN" sz="1800" b="0" dirty="0">
                <a:latin typeface="Times New Roman" panose="02020603050405020304" pitchFamily="18" charset="0"/>
              </a:rPr>
              <a:t>/2) * 1000 + 0.5e3 * (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frqBinIndex</a:t>
            </a:r>
            <a:r>
              <a:rPr lang="en-US" altLang="zh-CN" sz="1800" b="0" dirty="0">
                <a:latin typeface="Times New Roman" panose="02020603050405020304" pitchFamily="18" charset="0"/>
              </a:rPr>
              <a:t> - 1);</a:t>
            </a:r>
          </a:p>
          <a:p>
            <a:pPr marL="0" indent="0">
              <a:buNone/>
            </a:pPr>
            <a:r>
              <a:rPr lang="en-US" altLang="zh-CN" sz="1800" b="0" dirty="0">
                <a:latin typeface="Times New Roman" panose="02020603050405020304" pitchFamily="18" charset="0"/>
              </a:rPr>
              <a:t>            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sinCarr</a:t>
            </a:r>
            <a:r>
              <a:rPr lang="en-US" altLang="zh-CN" sz="1800" b="0" dirty="0">
                <a:latin typeface="Times New Roman" panose="02020603050405020304" pitchFamily="18" charset="0"/>
              </a:rPr>
              <a:t> = sin(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frqBins</a:t>
            </a:r>
            <a:r>
              <a:rPr lang="en-US" altLang="zh-CN" sz="1800" b="0" dirty="0">
                <a:latin typeface="Times New Roman" panose="02020603050405020304" pitchFamily="18" charset="0"/>
              </a:rPr>
              <a:t>(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frqBinIndex</a:t>
            </a:r>
            <a:r>
              <a:rPr lang="en-US" altLang="zh-CN" sz="1800" b="0" dirty="0">
                <a:latin typeface="Times New Roman" panose="02020603050405020304" pitchFamily="18" charset="0"/>
              </a:rPr>
              <a:t>) * 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phasePoints</a:t>
            </a:r>
            <a:r>
              <a:rPr lang="en-US" altLang="zh-CN" sz="1800" b="0" dirty="0">
                <a:latin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altLang="zh-CN" sz="1800" b="0" dirty="0">
                <a:latin typeface="Times New Roman" panose="02020603050405020304" pitchFamily="18" charset="0"/>
              </a:rPr>
              <a:t>            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cosCarr</a:t>
            </a:r>
            <a:r>
              <a:rPr lang="en-US" altLang="zh-CN" sz="1800" b="0" dirty="0">
                <a:latin typeface="Times New Roman" panose="02020603050405020304" pitchFamily="18" charset="0"/>
              </a:rPr>
              <a:t> = cos(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frqBins</a:t>
            </a:r>
            <a:r>
              <a:rPr lang="en-US" altLang="zh-CN" sz="1800" b="0" dirty="0">
                <a:latin typeface="Times New Roman" panose="02020603050405020304" pitchFamily="18" charset="0"/>
              </a:rPr>
              <a:t>(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frqBinIndex</a:t>
            </a:r>
            <a:r>
              <a:rPr lang="en-US" altLang="zh-CN" sz="1800" b="0" dirty="0">
                <a:latin typeface="Times New Roman" panose="02020603050405020304" pitchFamily="18" charset="0"/>
              </a:rPr>
              <a:t>) * 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phasePoints</a:t>
            </a:r>
            <a:r>
              <a:rPr lang="en-US" altLang="zh-CN" sz="1800" b="0" dirty="0">
                <a:latin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endParaRPr lang="zh-CN" altLang="en-US" sz="1800" b="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291211" y="5410200"/>
                <a:ext cx="242220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211" y="5410200"/>
                <a:ext cx="2422202" cy="461665"/>
              </a:xfrm>
              <a:prstGeom prst="rect">
                <a:avLst/>
              </a:prstGeom>
              <a:blipFill>
                <a:blip r:embed="rId2"/>
                <a:stretch>
                  <a:fillRect t="-129333" r="-28463" b="-20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343400" y="3886200"/>
                <a:ext cx="47244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3886200"/>
                <a:ext cx="4724400" cy="461665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291211" y="5786735"/>
                <a:ext cx="246548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211" y="5786735"/>
                <a:ext cx="2465483" cy="461665"/>
              </a:xfrm>
              <a:prstGeom prst="rect">
                <a:avLst/>
              </a:prstGeom>
              <a:blipFill>
                <a:blip r:embed="rId7"/>
                <a:stretch>
                  <a:fillRect t="-127632" r="-27970" b="-197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141854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基于线性卷积和快速卷积的</a:t>
            </a:r>
            <a:r>
              <a:rPr lang="en-US" altLang="zh-CN" sz="2800" dirty="0"/>
              <a:t>GPS</a:t>
            </a:r>
            <a:r>
              <a:rPr lang="zh-CN" altLang="en-US" sz="2800" dirty="0"/>
              <a:t>信号的捕获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 dirty="0"/>
              <a:t>        I1 = </a:t>
            </a:r>
            <a:r>
              <a:rPr lang="en-US" altLang="zh-CN" sz="1800" dirty="0" err="1"/>
              <a:t>sinCarr</a:t>
            </a:r>
            <a:r>
              <a:rPr lang="en-US" altLang="zh-CN" sz="1800" dirty="0"/>
              <a:t> .* signal1;%</a:t>
            </a:r>
            <a:r>
              <a:rPr lang="zh-CN" altLang="en-US" sz="1800" dirty="0"/>
              <a:t>将信号中的载频成分去掉，变成基带信号</a:t>
            </a:r>
          </a:p>
          <a:p>
            <a:pPr marL="0" indent="0">
              <a:buNone/>
            </a:pPr>
            <a:r>
              <a:rPr lang="zh-CN" altLang="en-US" sz="1800" dirty="0"/>
              <a:t>        </a:t>
            </a:r>
            <a:r>
              <a:rPr lang="en-US" altLang="zh-CN" sz="1800" dirty="0"/>
              <a:t>Q1 = </a:t>
            </a:r>
            <a:r>
              <a:rPr lang="en-US" altLang="zh-CN" sz="1800" dirty="0" err="1"/>
              <a:t>cosCarr</a:t>
            </a:r>
            <a:r>
              <a:rPr lang="en-US" altLang="zh-CN" sz="1800" dirty="0"/>
              <a:t> .* signal1;</a:t>
            </a:r>
          </a:p>
          <a:p>
            <a:pPr marL="0" indent="0">
              <a:buNone/>
            </a:pPr>
            <a:r>
              <a:rPr lang="en-US" altLang="zh-CN" sz="1800" dirty="0"/>
              <a:t>        IQfreqDom1 = </a:t>
            </a:r>
            <a:r>
              <a:rPr lang="en-US" altLang="zh-CN" sz="1800" dirty="0" err="1"/>
              <a:t>fft</a:t>
            </a:r>
            <a:r>
              <a:rPr lang="en-US" altLang="zh-CN" sz="1800" dirty="0"/>
              <a:t>(I1 + j*Q1);%</a:t>
            </a:r>
            <a:r>
              <a:rPr lang="zh-CN" altLang="en-US" sz="1800" dirty="0"/>
              <a:t>将接收信号通过</a:t>
            </a:r>
            <a:r>
              <a:rPr lang="en-US" altLang="zh-CN" sz="1800" dirty="0"/>
              <a:t>DFT</a:t>
            </a:r>
            <a:r>
              <a:rPr lang="zh-CN" altLang="en-US" sz="1800" dirty="0"/>
              <a:t>变换到频域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    convCodeIQ1 = IQfreqDom1 .* </a:t>
            </a:r>
            <a:r>
              <a:rPr lang="en-US" altLang="zh-CN" sz="1800" dirty="0" err="1"/>
              <a:t>caCodeFreqDom</a:t>
            </a:r>
            <a:r>
              <a:rPr lang="en-US" altLang="zh-CN" sz="1800" dirty="0"/>
              <a:t>;%</a:t>
            </a:r>
            <a:r>
              <a:rPr lang="zh-CN" altLang="en-US" sz="1800" dirty="0"/>
              <a:t>频域相乘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    acqRes1 = abs(</a:t>
            </a:r>
            <a:r>
              <a:rPr lang="en-US" altLang="zh-CN" sz="1800" dirty="0" err="1"/>
              <a:t>ifft</a:t>
            </a:r>
            <a:r>
              <a:rPr lang="en-US" altLang="zh-CN" sz="1800" dirty="0"/>
              <a:t>(convCodeIQ1)) .^ 2;%</a:t>
            </a:r>
            <a:r>
              <a:rPr lang="zh-CN" altLang="en-US" sz="1800" dirty="0"/>
              <a:t>进行</a:t>
            </a:r>
            <a:r>
              <a:rPr lang="en-US" altLang="zh-CN" sz="1800" dirty="0"/>
              <a:t>IDFT</a:t>
            </a:r>
            <a:r>
              <a:rPr lang="zh-CN" altLang="en-US" sz="1800" dirty="0"/>
              <a:t>得到相关结果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    figure(4)</a:t>
            </a:r>
          </a:p>
          <a:p>
            <a:pPr marL="0" indent="0">
              <a:buNone/>
            </a:pPr>
            <a:r>
              <a:rPr lang="en-US" altLang="zh-CN" sz="1800" dirty="0"/>
              <a:t>        plot(acqRes1)</a:t>
            </a:r>
          </a:p>
          <a:p>
            <a:pPr marL="0" indent="0">
              <a:buNone/>
            </a:pPr>
            <a:r>
              <a:rPr lang="en-US" altLang="zh-CN" sz="1800" dirty="0"/>
              <a:t>    end</a:t>
            </a:r>
          </a:p>
          <a:p>
            <a:pPr marL="0" indent="0">
              <a:buNone/>
            </a:pPr>
            <a:r>
              <a:rPr lang="en-US" altLang="zh-CN" sz="1800" dirty="0"/>
              <a:t>end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420" y="3747052"/>
            <a:ext cx="3831580" cy="286815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420" y="3747052"/>
            <a:ext cx="3831580" cy="28681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074420" y="3195935"/>
                <a:ext cx="299338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420" y="3195935"/>
                <a:ext cx="2993380" cy="461665"/>
              </a:xfrm>
              <a:prstGeom prst="rect">
                <a:avLst/>
              </a:prstGeom>
              <a:blipFill>
                <a:blip r:embed="rId4"/>
                <a:stretch>
                  <a:fillRect t="-127632" r="-17480" b="-197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667000" y="2738735"/>
                <a:ext cx="64008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∗[</m:t>
                      </m:r>
                      <m:d>
                        <m:dPr>
                          <m:begChr m:val="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⁡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"/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zh-CN" altLang="en-US" b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zh-CN" altLang="en-US" b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2738735"/>
                <a:ext cx="6400800" cy="461665"/>
              </a:xfrm>
              <a:prstGeom prst="rect">
                <a:avLst/>
              </a:prstGeom>
              <a:blipFill>
                <a:blip r:embed="rId5"/>
                <a:stretch>
                  <a:fillRect t="-127632" r="-8667" b="-197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1219200" y="1066800"/>
            <a:ext cx="7696200" cy="2129135"/>
            <a:chOff x="1219200" y="1066800"/>
            <a:chExt cx="7696200" cy="2129135"/>
          </a:xfrm>
        </p:grpSpPr>
        <p:sp>
          <p:nvSpPr>
            <p:cNvPr id="12" name="矩形标注 11"/>
            <p:cNvSpPr/>
            <p:nvPr/>
          </p:nvSpPr>
          <p:spPr bwMode="auto">
            <a:xfrm>
              <a:off x="1219200" y="1066800"/>
              <a:ext cx="2895600" cy="685800"/>
            </a:xfrm>
            <a:prstGeom prst="wedgeRectCallout">
              <a:avLst>
                <a:gd name="adj1" fmla="val 98618"/>
                <a:gd name="adj2" fmla="val 205978"/>
              </a:avLst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2743200" y="2819400"/>
              <a:ext cx="6172200" cy="376535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295400" y="2057400"/>
            <a:ext cx="7543800" cy="1600200"/>
            <a:chOff x="1143000" y="1676400"/>
            <a:chExt cx="7543800" cy="1600200"/>
          </a:xfrm>
        </p:grpSpPr>
        <p:sp>
          <p:nvSpPr>
            <p:cNvPr id="16" name="矩形标注 15"/>
            <p:cNvSpPr/>
            <p:nvPr/>
          </p:nvSpPr>
          <p:spPr bwMode="auto">
            <a:xfrm>
              <a:off x="1143000" y="1676400"/>
              <a:ext cx="4876800" cy="381000"/>
            </a:xfrm>
            <a:prstGeom prst="wedgeRectCallout">
              <a:avLst>
                <a:gd name="adj1" fmla="val 53453"/>
                <a:gd name="adj2" fmla="val 307110"/>
              </a:avLst>
            </a:prstGeom>
            <a:noFill/>
            <a:ln w="19050" cap="flat" cmpd="sng" algn="ctr">
              <a:solidFill>
                <a:srgbClr val="0000CC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6172200" y="2814935"/>
              <a:ext cx="2514600" cy="461665"/>
            </a:xfrm>
            <a:prstGeom prst="rect">
              <a:avLst/>
            </a:prstGeom>
            <a:noFill/>
            <a:ln w="19050" cap="flat" cmpd="sng" algn="ctr">
              <a:solidFill>
                <a:srgbClr val="0000CC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58008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1295400"/>
            <a:ext cx="4981054" cy="3728605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基于线性卷积和快速卷积的</a:t>
            </a:r>
            <a:r>
              <a:rPr lang="en-US" altLang="zh-CN" sz="2800" dirty="0"/>
              <a:t>GPS</a:t>
            </a:r>
            <a:r>
              <a:rPr lang="zh-CN" altLang="en-US" sz="2800" dirty="0"/>
              <a:t>信号的捕获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546" y="1300595"/>
            <a:ext cx="4981054" cy="3728605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838200" y="2743200"/>
            <a:ext cx="5957483" cy="3585865"/>
            <a:chOff x="838200" y="2743200"/>
            <a:chExt cx="5957483" cy="3585865"/>
          </a:xfrm>
        </p:grpSpPr>
        <p:sp>
          <p:nvSpPr>
            <p:cNvPr id="8" name="文本框 7"/>
            <p:cNvSpPr txBox="1"/>
            <p:nvPr/>
          </p:nvSpPr>
          <p:spPr>
            <a:xfrm>
              <a:off x="2438400" y="5867400"/>
              <a:ext cx="43572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每一</a:t>
              </a:r>
              <a:r>
                <a:rPr lang="en-US" altLang="zh-CN" dirty="0" err="1"/>
                <a:t>ms</a:t>
              </a:r>
              <a:r>
                <a:rPr lang="zh-CN" altLang="en-US" dirty="0"/>
                <a:t>就捕获到一次</a:t>
              </a:r>
              <a:r>
                <a:rPr lang="en-US" altLang="zh-CN" dirty="0"/>
                <a:t>GPS</a:t>
              </a:r>
              <a:r>
                <a:rPr lang="zh-CN" altLang="en-US" dirty="0"/>
                <a:t>信号</a:t>
              </a:r>
            </a:p>
          </p:txBody>
        </p:sp>
        <p:cxnSp>
          <p:nvCxnSpPr>
            <p:cNvPr id="10" name="直接箭头连接符 9"/>
            <p:cNvCxnSpPr>
              <a:stCxn id="8" idx="0"/>
            </p:cNvCxnSpPr>
            <p:nvPr/>
          </p:nvCxnSpPr>
          <p:spPr bwMode="auto">
            <a:xfrm flipH="1" flipV="1">
              <a:off x="838200" y="2743200"/>
              <a:ext cx="3778842" cy="31242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1" name="直接箭头连接符 10"/>
            <p:cNvCxnSpPr/>
            <p:nvPr/>
          </p:nvCxnSpPr>
          <p:spPr bwMode="auto">
            <a:xfrm flipH="1" flipV="1">
              <a:off x="1066800" y="2743200"/>
              <a:ext cx="3550242" cy="31242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3" name="直接箭头连接符 12"/>
            <p:cNvCxnSpPr/>
            <p:nvPr/>
          </p:nvCxnSpPr>
          <p:spPr bwMode="auto">
            <a:xfrm flipH="1" flipV="1">
              <a:off x="1447800" y="2819400"/>
              <a:ext cx="3169242" cy="3048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5" name="直接箭头连接符 14"/>
            <p:cNvCxnSpPr/>
            <p:nvPr/>
          </p:nvCxnSpPr>
          <p:spPr bwMode="auto">
            <a:xfrm flipH="1" flipV="1">
              <a:off x="1752600" y="2895600"/>
              <a:ext cx="2864442" cy="29718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7" name="直接箭头连接符 16"/>
            <p:cNvCxnSpPr/>
            <p:nvPr/>
          </p:nvCxnSpPr>
          <p:spPr bwMode="auto">
            <a:xfrm flipH="1" flipV="1">
              <a:off x="2057400" y="2971800"/>
              <a:ext cx="2559642" cy="28956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9" name="直接箭头连接符 18"/>
            <p:cNvCxnSpPr/>
            <p:nvPr/>
          </p:nvCxnSpPr>
          <p:spPr bwMode="auto">
            <a:xfrm flipV="1">
              <a:off x="4617042" y="3048000"/>
              <a:ext cx="668812" cy="28194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2" name="直接箭头连接符 21"/>
            <p:cNvCxnSpPr/>
            <p:nvPr/>
          </p:nvCxnSpPr>
          <p:spPr bwMode="auto">
            <a:xfrm flipV="1">
              <a:off x="4617042" y="2743200"/>
              <a:ext cx="1021758" cy="31242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4" name="直接箭头连接符 23"/>
            <p:cNvCxnSpPr/>
            <p:nvPr/>
          </p:nvCxnSpPr>
          <p:spPr bwMode="auto">
            <a:xfrm flipV="1">
              <a:off x="4617042" y="2743200"/>
              <a:ext cx="1310979" cy="31242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851623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知识点梳理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>
              <a:xfrm>
                <a:off x="302758" y="947530"/>
                <a:ext cx="8534400" cy="5562600"/>
              </a:xfrm>
            </p:spPr>
            <p:txBody>
              <a:bodyPr/>
              <a:lstStyle/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r>
                  <a:rPr lang="zh-CN" altLang="en-US" sz="1800" dirty="0"/>
                  <a:t>天线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接收</m:t>
                    </m:r>
                    <m:r>
                      <a:rPr lang="zh-CN" altLang="en-US" sz="1800" i="1" smtClean="0">
                        <a:latin typeface="Cambria Math" panose="02040503050406030204" pitchFamily="18" charset="0"/>
                      </a:rPr>
                      <m:t>信号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：</m:t>
                    </m:r>
                    <m:d>
                      <m:dPr>
                        <m:begChr m:val="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zh-CN" altLang="en-US" sz="1800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zh-CN" alt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endParaRPr lang="en-US" altLang="zh-CN" sz="1800" dirty="0"/>
              </a:p>
              <a:p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180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zh-CN" altLang="en-US" sz="1800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zh-CN" altLang="en-US" sz="1800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zh-CN" altLang="en-US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e>
                        </m:d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zh-CN" altLang="en-US" sz="18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zh-CN" altLang="en-US" sz="1800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zh-CN" altLang="en-US" sz="18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e>
                        </m:d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zh-CN" altLang="en-US" sz="1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zh-CN" altLang="en-US" sz="1800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zh-CN" sz="1800" dirty="0"/>
              </a:p>
              <a:p>
                <a:r>
                  <a:rPr lang="en-US" altLang="zh-CN" sz="1800" dirty="0"/>
                  <a:t>ADC</a:t>
                </a:r>
                <a:r>
                  <a:rPr lang="zh-CN" altLang="en-US" sz="1800" dirty="0"/>
                  <a:t>后的信号：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zh-CN" altLang="en-US" sz="1800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800" b="1" i="0" smtClean="0">
                            <a:latin typeface="Cambria Math" panose="02040503050406030204" pitchFamily="18" charset="0"/>
                          </a:rPr>
                          <m:t>𝐓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sz="1800" dirty="0"/>
              </a:p>
              <a:p>
                <a:r>
                  <a:rPr lang="zh-CN" altLang="en-US" sz="1800" dirty="0"/>
                  <a:t>有两种处理方法，一种是变成复信号处理，此时采用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Hilbert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变换</a:t>
                </a:r>
                <a:r>
                  <a:rPr lang="zh-CN" altLang="en-US" sz="1800" dirty="0"/>
                  <a:t>，得到复信号</a:t>
                </a:r>
                <a:endParaRPr lang="en-US" altLang="zh-CN" sz="1800" dirty="0"/>
              </a:p>
              <a:p>
                <a:r>
                  <a:rPr lang="zh-CN" altLang="en-US" sz="1800" dirty="0"/>
                  <a:t>还有一个变成复信号的方法，利用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实信号和复信号的频谱特性</a:t>
                </a:r>
                <a:r>
                  <a:rPr lang="zh-CN" altLang="en-US" sz="1800" dirty="0"/>
                  <a:t>，把实信号的负频谱置</a:t>
                </a:r>
                <a:r>
                  <a:rPr lang="en-US" altLang="zh-CN" sz="1800" dirty="0"/>
                  <a:t>0</a:t>
                </a:r>
                <a:r>
                  <a:rPr lang="zh-CN" altLang="en-US" sz="1800" dirty="0"/>
                  <a:t>，然后幅度乘</a:t>
                </a:r>
                <a:r>
                  <a:rPr lang="en-US" altLang="zh-CN" sz="1800" dirty="0"/>
                  <a:t>2</a:t>
                </a:r>
                <a:r>
                  <a:rPr lang="zh-CN" altLang="en-US" sz="1800" dirty="0"/>
                  <a:t>，反变换回来就是复信号。</a:t>
                </a:r>
                <a:endParaRPr lang="en-US" altLang="zh-CN" sz="1800" dirty="0"/>
              </a:p>
              <a:p>
                <a:pPr marL="0" indent="0">
                  <a:buNone/>
                </a:pPr>
                <a:endParaRPr lang="en-US" altLang="zh-CN" sz="1800" b="1" dirty="0"/>
              </a:p>
              <a:p>
                <a:pPr marL="0" indent="0">
                  <a:buNone/>
                </a:pPr>
                <a:endParaRPr lang="en-US" altLang="zh-CN" sz="1800" dirty="0"/>
              </a:p>
            </p:txBody>
          </p:sp>
        </mc:Choice>
        <mc:Fallback xmlns="">
          <p:sp>
            <p:nvSpPr>
              <p:cNvPr id="6" name="内容占位符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2758" y="947530"/>
                <a:ext cx="8534400" cy="5562600"/>
              </a:xfrm>
              <a:blipFill>
                <a:blip r:embed="rId2"/>
                <a:stretch>
                  <a:fillRect l="-857" r="-71" b="-36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066800"/>
            <a:ext cx="7006317" cy="294327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905000" y="243840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前端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077325" y="243542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预处理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180661" y="91440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捕获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448925" y="16764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相关器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744325" y="167342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鉴相器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354989" y="281642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信息解码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086600" y="319742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跟踪环路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486400" y="388620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定位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133600" y="3505200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应用，比如百度导航</a:t>
            </a:r>
          </a:p>
        </p:txBody>
      </p:sp>
      <p:sp>
        <p:nvSpPr>
          <p:cNvPr id="21" name="矩形 20"/>
          <p:cNvSpPr/>
          <p:nvPr/>
        </p:nvSpPr>
        <p:spPr bwMode="auto">
          <a:xfrm>
            <a:off x="6934200" y="4572000"/>
            <a:ext cx="685800" cy="3048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248400" y="4267200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高频成分，通过滤波去除</a:t>
            </a:r>
          </a:p>
        </p:txBody>
      </p:sp>
      <p:sp>
        <p:nvSpPr>
          <p:cNvPr id="23" name="矩形 22"/>
          <p:cNvSpPr/>
          <p:nvPr/>
        </p:nvSpPr>
        <p:spPr bwMode="auto">
          <a:xfrm>
            <a:off x="723900" y="4955303"/>
            <a:ext cx="1562100" cy="3048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279396" y="4952326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噪声频谱被搬移，不改变特性</a:t>
            </a:r>
          </a:p>
        </p:txBody>
      </p:sp>
    </p:spTree>
    <p:extLst>
      <p:ext uri="{BB962C8B-B14F-4D97-AF65-F5344CB8AC3E}">
        <p14:creationId xmlns:p14="http://schemas.microsoft.com/office/powerpoint/2010/main" val="3180957049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1800" dirty="0"/>
                  <a:t>第二种方法非常巧妙：</a:t>
                </a:r>
                <a:endParaRPr lang="en-US" altLang="zh-C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altLang="en-US" sz="1800"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1800" b="1" i="0" smtClean="0">
                          <a:latin typeface="Cambria Math" panose="02040503050406030204" pitchFamily="18" charset="0"/>
                        </a:rPr>
                        <m:t>𝐬𝐢𝐧</m:t>
                      </m:r>
                      <m:d>
                        <m:d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zh-CN" altLang="en-US" sz="1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1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altLang="en-US" sz="1800"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sz="18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"/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zh-CN" altLang="en-US" sz="18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sz="1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800" dirty="0"/>
                  <a:t>1/2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1" i="1" dirty="0" smtClean="0">
                        <a:latin typeface="Cambria Math" panose="02040503050406030204" pitchFamily="18" charset="0"/>
                      </a:rPr>
                      <m:t>𝒄𝒐𝒔</m:t>
                    </m:r>
                    <m:d>
                      <m:dPr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800" b="1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sz="1800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𝐬𝐢𝐧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b>
                            </m:sSub>
                            <m:r>
                              <a:rPr lang="zh-CN" altLang="en-US" sz="18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sz="1800" b="1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zh-CN" altLang="en-US" sz="18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sz="1800" dirty="0"/>
              </a:p>
              <a:p>
                <a:endParaRPr lang="en-US" altLang="zh-C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1800" b="1" i="0" smtClean="0">
                          <a:latin typeface="Cambria Math" panose="02040503050406030204" pitchFamily="18" charset="0"/>
                        </a:rPr>
                        <m:t>𝐬𝐢𝐧</m:t>
                      </m:r>
                      <m:d>
                        <m:d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zh-CN" altLang="en-US" sz="1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1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1800" b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sz="18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"/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zh-CN" altLang="en-US" sz="18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sz="1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800" dirty="0"/>
                  <a:t>1/2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sz="180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1800" b="0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b>
                            </m:sSub>
                            <m:r>
                              <a:rPr lang="zh-CN" altLang="en-US" sz="18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sz="180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zh-CN" altLang="en-US" sz="18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sz="1800" dirty="0"/>
              </a:p>
              <a:p>
                <a:endParaRPr lang="en-US" altLang="zh-CN" sz="1800" dirty="0"/>
              </a:p>
              <a:p>
                <a:r>
                  <a:rPr lang="zh-CN" altLang="en-US" sz="1800" dirty="0"/>
                  <a:t>于是得到复信号为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zh-CN" altLang="en-US" sz="18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sz="1800" b="1" i="0" smtClean="0">
                            <a:latin typeface="Cambria Math" panose="02040503050406030204" pitchFamily="18" charset="0"/>
                          </a:rPr>
                          <m:t>𝐞𝐱𝐩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d>
                          <m:dPr>
                            <m:ctrlPr>
                              <a:rPr lang="en-US" altLang="zh-CN" sz="1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80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180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altLang="zh-CN" sz="1800" b="1" i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zh-CN" altLang="en-US" sz="18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sz="1800" dirty="0"/>
              </a:p>
              <a:p>
                <a:r>
                  <a:rPr lang="zh-CN" altLang="en-US" sz="1800" dirty="0"/>
                  <a:t>经多普勒搜索后，将多普勒补偿后得到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zh-CN" altLang="en-US" sz="1800"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)+</m:t>
                        </m:r>
                        <m:sSup>
                          <m:sSup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zh-CN" altLang="en-US" sz="1800"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sz="1800" dirty="0"/>
                  <a:t> </a:t>
                </a:r>
                <a:endParaRPr lang="en-US" altLang="zh-CN" sz="1800" dirty="0"/>
              </a:p>
              <a:p>
                <a:r>
                  <a:rPr lang="zh-CN" altLang="en-US" sz="1800" dirty="0"/>
                  <a:t>接下来是利用互相关进行解扩，也就是把伪随机码去掉。</a:t>
                </a:r>
                <a:endParaRPr lang="en-US" altLang="zh-CN" sz="1800" dirty="0"/>
              </a:p>
              <a:p>
                <a:r>
                  <a:rPr lang="zh-CN" altLang="en-US" sz="1800" dirty="0"/>
                  <a:t>用到的知识点：</a:t>
                </a:r>
                <a:r>
                  <a:rPr lang="en-US" altLang="zh-CN" sz="1800" dirty="0"/>
                  <a:t>ADC</a:t>
                </a:r>
                <a:r>
                  <a:rPr lang="zh-CN" altLang="en-US" sz="1800" dirty="0"/>
                  <a:t>采样理论，正交变换</a:t>
                </a:r>
                <a:r>
                  <a:rPr lang="en-US" altLang="zh-CN" sz="1800" dirty="0"/>
                  <a:t>(</a:t>
                </a:r>
                <a:r>
                  <a:rPr lang="en-US" altLang="zh-CN" sz="1800" dirty="0">
                    <a:solidFill>
                      <a:srgbClr val="0000CC"/>
                    </a:solidFill>
                  </a:rPr>
                  <a:t>Hilbert</a:t>
                </a:r>
                <a:r>
                  <a:rPr lang="zh-CN" altLang="en-US" sz="1800" dirty="0">
                    <a:solidFill>
                      <a:srgbClr val="0000CC"/>
                    </a:solidFill>
                  </a:rPr>
                  <a:t>变换</a:t>
                </a:r>
                <a:r>
                  <a:rPr lang="en-US" altLang="zh-CN" sz="1800" dirty="0"/>
                  <a:t>)</a:t>
                </a:r>
                <a:r>
                  <a:rPr lang="zh-CN" altLang="en-US" sz="1800" dirty="0"/>
                  <a:t>，实</a:t>
                </a:r>
                <a:r>
                  <a:rPr lang="en-US" altLang="zh-CN" sz="1800" dirty="0"/>
                  <a:t>/</a:t>
                </a:r>
                <a:r>
                  <a:rPr lang="zh-CN" altLang="en-US" sz="1800" dirty="0"/>
                  <a:t>复信号的频谱特性，匹配滤波，傅里叶变换的线性性，噪声经傅里叶变换的特性，</a:t>
                </a:r>
                <a:r>
                  <a:rPr lang="en-US" altLang="zh-CN" sz="1800" dirty="0"/>
                  <a:t>DFT</a:t>
                </a:r>
                <a:r>
                  <a:rPr lang="zh-CN" altLang="en-US" sz="1800" dirty="0"/>
                  <a:t>频谱分析</a:t>
                </a:r>
                <a:r>
                  <a:rPr lang="en-US" altLang="zh-CN" sz="1800" dirty="0"/>
                  <a:t>(</a:t>
                </a:r>
                <a:r>
                  <a:rPr lang="zh-CN" altLang="en-US" sz="1800" dirty="0"/>
                  <a:t>多普勒精估计</a:t>
                </a:r>
                <a:r>
                  <a:rPr lang="en-US" altLang="zh-CN" sz="1800" dirty="0"/>
                  <a:t>)</a:t>
                </a:r>
                <a:r>
                  <a:rPr lang="zh-CN" altLang="en-US" sz="1800" dirty="0"/>
                  <a:t>，时域互相关等于频域乘积，扩频调制的优点及理论，</a:t>
                </a:r>
                <a:r>
                  <a:rPr lang="en-US" altLang="zh-CN" sz="1800" dirty="0"/>
                  <a:t>FFT</a:t>
                </a:r>
                <a:r>
                  <a:rPr lang="zh-CN" altLang="en-US" sz="1800" dirty="0"/>
                  <a:t>运算，数字滤波器设计，。。。</a:t>
                </a:r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6" name="内容占位符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86" t="-1096" r="-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2286000" y="2837364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048747" y="3198168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dirty="0"/>
          </a:p>
        </p:txBody>
      </p:sp>
      <p:sp>
        <p:nvSpPr>
          <p:cNvPr id="10" name="矩形 9"/>
          <p:cNvSpPr/>
          <p:nvPr/>
        </p:nvSpPr>
        <p:spPr bwMode="auto">
          <a:xfrm>
            <a:off x="3200400" y="1752600"/>
            <a:ext cx="2362200" cy="3048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973989" y="2054423"/>
            <a:ext cx="48526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高频成分，接收机后的求和相当于低通滤波，直接将其滤除</a:t>
            </a:r>
          </a:p>
        </p:txBody>
      </p:sp>
      <p:sp>
        <p:nvSpPr>
          <p:cNvPr id="12" name="矩形 11"/>
          <p:cNvSpPr/>
          <p:nvPr/>
        </p:nvSpPr>
        <p:spPr bwMode="auto">
          <a:xfrm>
            <a:off x="1447800" y="1752600"/>
            <a:ext cx="1600200" cy="3048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81200" y="20544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实</a:t>
            </a:r>
            <a:r>
              <a:rPr lang="zh-CN" altLang="en-US" sz="1400">
                <a:solidFill>
                  <a:srgbClr val="FF0000"/>
                </a:solidFill>
              </a:rPr>
              <a:t>部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3200400" y="2819400"/>
            <a:ext cx="2362200" cy="3048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973989" y="312122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高频成分</a:t>
            </a:r>
          </a:p>
        </p:txBody>
      </p:sp>
      <p:sp>
        <p:nvSpPr>
          <p:cNvPr id="16" name="矩形 15"/>
          <p:cNvSpPr/>
          <p:nvPr/>
        </p:nvSpPr>
        <p:spPr bwMode="auto">
          <a:xfrm>
            <a:off x="1447800" y="2819400"/>
            <a:ext cx="1600200" cy="3048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81200" y="31212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虚部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911005"/>
              </p:ext>
            </p:extLst>
          </p:nvPr>
        </p:nvGraphicFramePr>
        <p:xfrm>
          <a:off x="3987800" y="2933700"/>
          <a:ext cx="9144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5" name="Equation" r:id="rId4" imgW="914400" imgH="181440" progId="Equation.DSMT4">
                  <p:embed/>
                </p:oleObj>
              </mc:Choice>
              <mc:Fallback>
                <p:oleObj name="Equation" r:id="rId4" imgW="914400" imgH="18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87800" y="2933700"/>
                        <a:ext cx="914400" cy="180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036840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PJ-Whi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PJ-Whi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/>
        </a:ln>
        <a:effectLst/>
      </a:spPr>
      <a:bodyPr/>
      <a:lstStyle/>
    </a:lnDef>
  </a:objectDefaults>
  <a:extraClrSchemeLst>
    <a:extraClrScheme>
      <a:clrScheme name="PJ-Whi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J-Whi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J-Whi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J-Whi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J-Whi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J-Whi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J-Whi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37193</TotalTime>
  <Pages>1</Pages>
  <Words>1615</Words>
  <Application>Microsoft Office PowerPoint</Application>
  <PresentationFormat>全屏显示(4:3)</PresentationFormat>
  <Paragraphs>168</Paragraphs>
  <Slides>23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宋体</vt:lpstr>
      <vt:lpstr>Arial</vt:lpstr>
      <vt:lpstr>Cambria Math</vt:lpstr>
      <vt:lpstr>Times New Roman</vt:lpstr>
      <vt:lpstr>Wingdings</vt:lpstr>
      <vt:lpstr>PJ-White</vt:lpstr>
      <vt:lpstr>Equation</vt:lpstr>
      <vt:lpstr> GPS信号的捕获</vt:lpstr>
      <vt:lpstr>GPS信号和噪声的功率谱密度</vt:lpstr>
      <vt:lpstr>噪声的特性-自相关函数</vt:lpstr>
      <vt:lpstr>噪声的特性-互相关函数</vt:lpstr>
      <vt:lpstr>伪随机码</vt:lpstr>
      <vt:lpstr>PowerPoint 演示文稿</vt:lpstr>
      <vt:lpstr>13位巴克码的自相关过程</vt:lpstr>
      <vt:lpstr>伪随机码</vt:lpstr>
      <vt:lpstr>PowerPoint 演示文稿</vt:lpstr>
      <vt:lpstr>PowerPoint 演示文稿</vt:lpstr>
      <vt:lpstr>PowerPoint 演示文稿</vt:lpstr>
      <vt:lpstr>卫星导航信号调制方式</vt:lpstr>
      <vt:lpstr>PowerPoint 演示文稿</vt:lpstr>
      <vt:lpstr>GPS信号和噪声的功率谱密度</vt:lpstr>
      <vt:lpstr>PowerPoint 演示文稿</vt:lpstr>
      <vt:lpstr>PowerPoint 演示文稿</vt:lpstr>
      <vt:lpstr>基于线性卷积和快速卷积的GPS信号的捕获</vt:lpstr>
      <vt:lpstr>基于线性卷积和快速卷积的GPS信号的捕获</vt:lpstr>
      <vt:lpstr>基于线性卷积和快速卷积的GPS信号的捕获</vt:lpstr>
      <vt:lpstr>基于线性卷积和快速卷积的GPS信号的捕获</vt:lpstr>
      <vt:lpstr>基于线性卷积和快速卷积的GPS信号的捕获</vt:lpstr>
      <vt:lpstr>知识点梳理</vt:lpstr>
      <vt:lpstr>PowerPoint 演示文稿</vt:lpstr>
    </vt:vector>
  </TitlesOfParts>
  <Company>MIT Lincoln Laboratory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Systolic FFT Architecture for FPGAs</dc:title>
  <dc:subject/>
  <dc:creator>Preston Jackson</dc:creator>
  <cp:keywords/>
  <dc:description/>
  <cp:lastModifiedBy>涛</cp:lastModifiedBy>
  <cp:revision>1611</cp:revision>
  <cp:lastPrinted>2001-06-18T18:57:59Z</cp:lastPrinted>
  <dcterms:created xsi:type="dcterms:W3CDTF">2004-07-20T15:10:20Z</dcterms:created>
  <dcterms:modified xsi:type="dcterms:W3CDTF">2026-06-17T23:46:56Z</dcterms:modified>
</cp:coreProperties>
</file>