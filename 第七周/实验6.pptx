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9"/>
  </p:notesMasterIdLst>
  <p:sldIdLst>
    <p:sldId id="256" r:id="rId2"/>
    <p:sldId id="534" r:id="rId3"/>
    <p:sldId id="543" r:id="rId4"/>
    <p:sldId id="552" r:id="rId5"/>
    <p:sldId id="553" r:id="rId6"/>
    <p:sldId id="555" r:id="rId7"/>
    <p:sldId id="556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3D8832-872C-48B8-867C-328CFDAC4757}">
          <p14:sldIdLst>
            <p14:sldId id="256"/>
            <p14:sldId id="534"/>
            <p14:sldId id="543"/>
            <p14:sldId id="552"/>
            <p14:sldId id="553"/>
            <p14:sldId id="555"/>
            <p14:sldId id="5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9" autoAdjust="0"/>
    <p:restoredTop sz="76736" autoAdjust="0"/>
  </p:normalViewPr>
  <p:slideViewPr>
    <p:cSldViewPr snapToGrid="0">
      <p:cViewPr varScale="1">
        <p:scale>
          <a:sx n="68" d="100"/>
          <a:sy n="68" d="100"/>
        </p:scale>
        <p:origin x="16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24AF-AE0E-414F-922F-726268C1B860}" type="datetimeFigureOut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DBDF9-2ACC-48D7-B2C1-DD875ED5B0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0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5E5E67-3D30-4ADE-9059-B93F7F6C69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65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根据滤波器的单位脉冲响应</a:t>
            </a:r>
            <a:r>
              <a:rPr lang="en-US" altLang="zh-CN" dirty="0"/>
              <a:t>h(n)</a:t>
            </a:r>
            <a:r>
              <a:rPr lang="zh-CN" altLang="en-US" dirty="0"/>
              <a:t>长度的奇偶性以及系统的对称性，将线性相位</a:t>
            </a:r>
            <a:r>
              <a:rPr lang="en-US" altLang="zh-CN" dirty="0"/>
              <a:t>FIR</a:t>
            </a:r>
            <a:r>
              <a:rPr lang="zh-CN" altLang="en-US" dirty="0"/>
              <a:t>滤波器主要分为</a:t>
            </a:r>
            <a:r>
              <a:rPr lang="en-US" altLang="zh-CN" dirty="0"/>
              <a:t>4</a:t>
            </a:r>
            <a:r>
              <a:rPr lang="zh-CN" altLang="en-US" dirty="0"/>
              <a:t>种，理论课上分别推导了</a:t>
            </a:r>
            <a:r>
              <a:rPr lang="en-US" altLang="zh-CN" dirty="0"/>
              <a:t>FIR</a:t>
            </a:r>
            <a:r>
              <a:rPr lang="zh-CN" altLang="en-US" dirty="0"/>
              <a:t>滤波器的幅频特性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90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根据滤波器的单位脉冲响应</a:t>
            </a:r>
            <a:r>
              <a:rPr lang="en-US" altLang="zh-CN" dirty="0"/>
              <a:t>h(n)</a:t>
            </a:r>
            <a:r>
              <a:rPr lang="zh-CN" altLang="en-US" dirty="0"/>
              <a:t>长度的奇偶性以及系统的对称性，将线性相位</a:t>
            </a:r>
            <a:r>
              <a:rPr lang="en-US" altLang="zh-CN" dirty="0"/>
              <a:t>FIR</a:t>
            </a:r>
            <a:r>
              <a:rPr lang="zh-CN" altLang="en-US" dirty="0"/>
              <a:t>滤波器主要分为</a:t>
            </a:r>
            <a:r>
              <a:rPr lang="en-US" altLang="zh-CN" dirty="0"/>
              <a:t>4</a:t>
            </a:r>
            <a:r>
              <a:rPr lang="zh-CN" altLang="en-US" dirty="0"/>
              <a:t>种，理论课上分别推导了</a:t>
            </a:r>
            <a:r>
              <a:rPr lang="en-US" altLang="zh-CN" dirty="0"/>
              <a:t>FIR</a:t>
            </a:r>
            <a:r>
              <a:rPr lang="zh-CN" altLang="en-US" dirty="0"/>
              <a:t>滤波器的幅频特性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98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436687"/>
            <a:ext cx="9144000" cy="1767839"/>
          </a:xfrm>
          <a:prstGeom prst="rect">
            <a:avLst/>
          </a:prstGeom>
          <a:solidFill>
            <a:srgbClr val="33513A"/>
          </a:solidFill>
          <a:ln>
            <a:solidFill>
              <a:srgbClr val="335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6687"/>
            <a:ext cx="7772400" cy="176783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307-BCDA-40C7-9FDE-4F254D1AD999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40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9BA0-6E7F-422C-8A04-F4D99B595A5F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47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781-2582-4954-B52F-43BC81BE50B2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96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00" y="1108800"/>
            <a:ext cx="408560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2640" y="1108800"/>
            <a:ext cx="409448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72B9-21EB-4081-BB06-03B7C2D0554F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6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5156-131E-40BD-9868-EF5BC6617D39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56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026-E0DD-49C6-A175-E099CCD7BC60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98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C652-A981-4EBD-B97F-8231AFF102DC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4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FA27-12DB-4594-8250-EE0E0666AFEB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15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AC9B-964E-41DF-8B13-73ADCEA276E4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8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8849-B68B-4D16-A83D-66262A0C31A9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0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E21-9990-494D-8D2A-9B1911F55239}" type="datetime1">
              <a:rPr lang="zh-CN" altLang="en-US" smtClean="0"/>
              <a:t>2025/06/12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8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610" y="162559"/>
            <a:ext cx="8271510" cy="61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610" y="1107438"/>
            <a:ext cx="8271510" cy="506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117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875A-C419-42F7-9166-A5E3EA936ACF}" type="datetime1">
              <a:rPr lang="zh-CN" altLang="en-US" smtClean="0"/>
              <a:t>2025/06/12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796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9565" y="6560440"/>
            <a:ext cx="903600" cy="269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15D6CCC0-930F-418E-A4E3-7631211F20B0}" type="slidenum">
              <a:rPr lang="zh-CN" altLang="en-US" smtClean="0"/>
              <a:pPr algn="ctr"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9" b="24710"/>
          <a:stretch/>
        </p:blipFill>
        <p:spPr>
          <a:xfrm>
            <a:off x="8001000" y="6560440"/>
            <a:ext cx="1035781" cy="2708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 t="16371"/>
          <a:stretch/>
        </p:blipFill>
        <p:spPr>
          <a:xfrm>
            <a:off x="121404" y="6561019"/>
            <a:ext cx="2043192" cy="26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6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Tx/>
        <a:buBlip>
          <a:blip r:embed="rId15"/>
        </a:buBlip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81E5E"/>
        </a:buClr>
        <a:buFont typeface="Calibri" panose="020F0502020204030204" pitchFamily="34" charset="0"/>
        <a:buChar char="▪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3727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‐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数字信号处理实验六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7774" y="4143286"/>
            <a:ext cx="3408452" cy="165576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电子与通信工程学院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3908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484ED6E-830E-43DA-93F7-E5EBF2525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89" y="1393189"/>
            <a:ext cx="8912711" cy="3131746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信号接收处理过程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信号数字正交解调方法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掌握面向实际信号的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滤波器设计方法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信号多普勒搜索方法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信号的相关接收和捕捉方法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385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内容占位符 5">
                <a:extLst>
                  <a:ext uri="{FF2B5EF4-FFF2-40B4-BE49-F238E27FC236}">
                    <a16:creationId xmlns:a16="http://schemas.microsoft.com/office/drawing/2014/main" id="{50FDD513-0F53-4EFF-AAF3-67072EAC46C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2758" y="947530"/>
                <a:ext cx="8534400" cy="556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2064" tIns="46033" rIns="92064" bIns="46033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25000"/>
                  <a:buFont typeface="Wingdings" pitchFamily="2" charset="2"/>
                  <a:buChar char="Ø"/>
                  <a:defRPr sz="28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1pPr>
                <a:lvl2pPr marL="862013" indent="-34131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l"/>
                  <a:defRPr sz="24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2pPr>
                <a:lvl3pPr marL="1204913" indent="-2286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p"/>
                  <a:defRPr sz="20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3pPr>
                <a:lvl4pPr marL="1546225" indent="-11906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u"/>
                  <a:defRPr sz="18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4pPr>
                <a:lvl5pPr marL="18288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Char char=" "/>
                  <a:defRPr sz="16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5pPr>
                <a:lvl6pPr marL="22860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6pPr>
                <a:lvl7pPr marL="27432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7pPr>
                <a:lvl8pPr marL="32004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8pPr>
                <a:lvl9pPr marL="36576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lvl="0" defTabSz="914400"/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天线</a:t>
                </a:r>
                <a14:m>
                  <m:oMath xmlns:m="http://schemas.openxmlformats.org/officeDocument/2006/math"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接收</m:t>
                    </m:r>
                    <m:r>
                      <a:rPr kumimoji="0" lang="zh-CN" altLang="en-US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信号</m:t>
                    </m:r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kumimoji="0" lang="en-US" altLang="zh-CN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kumimoji="0" lang="en-US" altLang="zh-CN" sz="1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800" b="1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lang="en-US" altLang="zh-CN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lvl="0" defTabSz="914400"/>
                <a14:m>
                  <m:oMath xmlns:m="http://schemas.openxmlformats.org/officeDocument/2006/math"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lang="en-US" altLang="zh-CN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8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lang="en-US" altLang="zh-CN" sz="1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8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ADC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后的信号：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1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𝐓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lang="zh-CN" altLang="en-US" sz="1800" kern="0" dirty="0">
                    <a:solidFill>
                      <a:srgbClr val="000000"/>
                    </a:solidFill>
                  </a:rPr>
                  <a:t>然后将中频信号解调到基带，可以采用正交解调的方法。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内容占位符 5">
                <a:extLst>
                  <a:ext uri="{FF2B5EF4-FFF2-40B4-BE49-F238E27FC236}">
                    <a16:creationId xmlns:a16="http://schemas.microsoft.com/office/drawing/2014/main" id="{50FDD513-0F53-4EFF-AAF3-67072EAC4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758" y="947530"/>
                <a:ext cx="8534400" cy="5562600"/>
              </a:xfrm>
              <a:prstGeom prst="rect">
                <a:avLst/>
              </a:prstGeom>
              <a:blipFill>
                <a:blip r:embed="rId3"/>
                <a:stretch>
                  <a:fillRect l="-8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2E09B60E-5711-463B-B5AC-3495B278A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066800"/>
            <a:ext cx="7006317" cy="294327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EC26EBB-0E84-464F-B5AC-37800026A079}"/>
              </a:ext>
            </a:extLst>
          </p:cNvPr>
          <p:cNvSpPr txBox="1"/>
          <p:nvPr/>
        </p:nvSpPr>
        <p:spPr>
          <a:xfrm>
            <a:off x="1905000" y="24384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前端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1C0F051-30CA-496D-BC6A-204DD5A579FF}"/>
              </a:ext>
            </a:extLst>
          </p:cNvPr>
          <p:cNvSpPr txBox="1"/>
          <p:nvPr/>
        </p:nvSpPr>
        <p:spPr>
          <a:xfrm>
            <a:off x="4077325" y="24354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预处理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E14357F-FE7C-45D2-B034-ADEA393B9A4F}"/>
              </a:ext>
            </a:extLst>
          </p:cNvPr>
          <p:cNvSpPr txBox="1"/>
          <p:nvPr/>
        </p:nvSpPr>
        <p:spPr>
          <a:xfrm>
            <a:off x="4180661" y="9144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捕获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053331-571E-42A4-BDD4-F61747EFE2ED}"/>
              </a:ext>
            </a:extLst>
          </p:cNvPr>
          <p:cNvSpPr txBox="1"/>
          <p:nvPr/>
        </p:nvSpPr>
        <p:spPr>
          <a:xfrm>
            <a:off x="5448925" y="16764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相关器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12FCB01-DA62-46DE-AA4C-78723AE99EFA}"/>
              </a:ext>
            </a:extLst>
          </p:cNvPr>
          <p:cNvSpPr txBox="1"/>
          <p:nvPr/>
        </p:nvSpPr>
        <p:spPr>
          <a:xfrm>
            <a:off x="6744325" y="16734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鉴相器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D771DB-22C0-409C-9C4A-B9D1ECD67B31}"/>
              </a:ext>
            </a:extLst>
          </p:cNvPr>
          <p:cNvSpPr txBox="1"/>
          <p:nvPr/>
        </p:nvSpPr>
        <p:spPr>
          <a:xfrm>
            <a:off x="4354989" y="2816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信息解码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0FB8FA4-E588-4FC3-95E5-1AF72AC21C81}"/>
              </a:ext>
            </a:extLst>
          </p:cNvPr>
          <p:cNvSpPr txBox="1"/>
          <p:nvPr/>
        </p:nvSpPr>
        <p:spPr>
          <a:xfrm>
            <a:off x="7086600" y="3197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跟踪环路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E88CCA-7A55-4541-B71D-937A249D2B5B}"/>
              </a:ext>
            </a:extLst>
          </p:cNvPr>
          <p:cNvSpPr txBox="1"/>
          <p:nvPr/>
        </p:nvSpPr>
        <p:spPr>
          <a:xfrm>
            <a:off x="5486400" y="38862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定位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4E1D532-6D2F-4C28-B32F-1909FD8AF8D6}"/>
              </a:ext>
            </a:extLst>
          </p:cNvPr>
          <p:cNvSpPr txBox="1"/>
          <p:nvPr/>
        </p:nvSpPr>
        <p:spPr>
          <a:xfrm>
            <a:off x="2133600" y="3505200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应用，比如百度导航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E01DD8-981E-4F0E-B508-CE0DEE11FC27}"/>
              </a:ext>
            </a:extLst>
          </p:cNvPr>
          <p:cNvSpPr/>
          <p:nvPr/>
        </p:nvSpPr>
        <p:spPr bwMode="auto">
          <a:xfrm>
            <a:off x="7467600" y="4567315"/>
            <a:ext cx="6858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AAEE4D3-EC4A-4642-9EF0-B87F94C4CE34}"/>
              </a:ext>
            </a:extLst>
          </p:cNvPr>
          <p:cNvSpPr txBox="1"/>
          <p:nvPr/>
        </p:nvSpPr>
        <p:spPr>
          <a:xfrm>
            <a:off x="6744325" y="4219107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高频成分，通过模拟滤波去除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5409A6B-ED27-438A-A97D-7EAFDD799651}"/>
              </a:ext>
            </a:extLst>
          </p:cNvPr>
          <p:cNvSpPr/>
          <p:nvPr/>
        </p:nvSpPr>
        <p:spPr bwMode="auto">
          <a:xfrm>
            <a:off x="723900" y="4955303"/>
            <a:ext cx="15621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D08F660-546B-4C8A-B2DF-5B409999794E}"/>
              </a:ext>
            </a:extLst>
          </p:cNvPr>
          <p:cNvSpPr txBox="1"/>
          <p:nvPr/>
        </p:nvSpPr>
        <p:spPr>
          <a:xfrm>
            <a:off x="4302260" y="4915546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噪声频谱被搬移，不改变特性</a:t>
            </a:r>
          </a:p>
        </p:txBody>
      </p:sp>
    </p:spTree>
    <p:extLst>
      <p:ext uri="{BB962C8B-B14F-4D97-AF65-F5344CB8AC3E}">
        <p14:creationId xmlns:p14="http://schemas.microsoft.com/office/powerpoint/2010/main" val="160615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内容占位符 5">
                <a:extLst>
                  <a:ext uri="{FF2B5EF4-FFF2-40B4-BE49-F238E27FC236}">
                    <a16:creationId xmlns:a16="http://schemas.microsoft.com/office/drawing/2014/main" id="{BCD1C8A0-1A2B-47B7-B34F-976C31B5738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990600"/>
                <a:ext cx="8534400" cy="556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2064" tIns="46033" rIns="92064" bIns="46033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25000"/>
                  <a:buFont typeface="Wingdings" pitchFamily="2" charset="2"/>
                  <a:buChar char="Ø"/>
                  <a:defRPr sz="28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1pPr>
                <a:lvl2pPr marL="862013" indent="-34131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l"/>
                  <a:defRPr sz="24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2pPr>
                <a:lvl3pPr marL="1204913" indent="-2286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p"/>
                  <a:defRPr sz="20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3pPr>
                <a:lvl4pPr marL="1546225" indent="-11906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Wingdings" pitchFamily="2" charset="2"/>
                  <a:buChar char="u"/>
                  <a:defRPr sz="18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4pPr>
                <a:lvl5pPr marL="18288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SzPct val="100000"/>
                  <a:buChar char=" "/>
                  <a:defRPr sz="16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  <a:cs typeface="Times New Roman" pitchFamily="18" charset="0"/>
                  </a:defRPr>
                </a:lvl5pPr>
                <a:lvl6pPr marL="22860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6pPr>
                <a:lvl7pPr marL="27432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7pPr>
                <a:lvl8pPr marL="32004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8pPr>
                <a:lvl9pPr marL="3657600" algn="l" rtl="0" eaLnBrk="0" fontAlgn="base" hangingPunct="0">
                  <a:lnSpc>
                    <a:spcPct val="90000"/>
                  </a:lnSpc>
                  <a:spcBef>
                    <a:spcPct val="25000"/>
                  </a:spcBef>
                  <a:spcAft>
                    <a:spcPct val="0"/>
                  </a:spcAft>
                  <a:buSzPct val="100000"/>
                  <a:buChar char=" "/>
                  <a:defRPr sz="14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数字正交解调：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en-US" altLang="zh-CN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𝐜𝐨𝐬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en-US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CN" altLang="en-US" sz="1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en-US" altLang="zh-CN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kumimoji="0" lang="zh-CN" altLang="en-US" sz="18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0" lang="en-US" altLang="zh-CN" sz="1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𝐜𝐨𝐬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en-US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0" lang="zh-CN" altLang="en-US" sz="18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1/2</a:t>
                </a:r>
                <a14:m>
                  <m:oMath xmlns:m="http://schemas.openxmlformats.org/officeDocument/2006/math"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0" lang="en-US" altLang="zh-CN" sz="18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zh-CN" sz="18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kumimoji="0" lang="en-US" altLang="zh-CN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1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en-US" altLang="zh-CN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kumimoji="0" lang="en-US" altLang="zh-CN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en-US" altLang="zh-CN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sty m:val="p"/>
                        </m:rPr>
                        <a:rPr kumimoji="0" lang="en-US" altLang="zh-CN" sz="18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en-US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CN" altLang="en-US" sz="1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en-US" altLang="zh-CN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kumimoji="0" lang="zh-CN" altLang="en-US" sz="18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0" lang="zh-CN" altLang="en-US" sz="18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sty m:val="p"/>
                        </m:rPr>
                        <a:rPr kumimoji="0" lang="en-US" altLang="zh-CN" sz="18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en-US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ctrlP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zh-CN" altLang="en-US" sz="1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0" lang="zh-CN" altLang="en-US" sz="18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0" lang="zh-CN" altLang="en-US" sz="18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zh-CN" altLang="en-US" sz="1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1/2</a:t>
                </a:r>
                <a14:m>
                  <m:oMath xmlns:m="http://schemas.openxmlformats.org/officeDocument/2006/math">
                    <m:r>
                      <a:rPr kumimoji="0" lang="zh-CN" altLang="en-US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0" lang="en-US" altLang="zh-CN" sz="1800" b="1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zh-CN" sz="1800" b="1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zh-CN" sz="1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𝐬𝐢𝐧</m:t>
                    </m:r>
                    <m:d>
                      <m:dPr>
                        <m:ctrlPr>
                          <a:rPr kumimoji="0" lang="en-US" altLang="zh-CN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en-US" altLang="zh-CN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𝐬𝐢𝐧</m:t>
                    </m:r>
                    <m:d>
                      <m:dPr>
                        <m:ctrlPr>
                          <a:rPr kumimoji="0" lang="en-US" altLang="zh-CN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kumimoji="0" lang="en-US" altLang="zh-CN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  <m:r>
                      <a:rPr kumimoji="0" lang="zh-CN" altLang="en-US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于是得到复信号为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kumimoji="0" lang="en-US" altLang="zh-CN" sz="1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𝐞𝐱𝐩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kumimoji="0" lang="en-US" altLang="zh-CN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zh-CN" altLang="en-US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kumimoji="0" lang="en-US" altLang="zh-CN" sz="1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经多普勒搜索（有时候也可以和中频正交解调放在一起）后，将多普勒补偿后得到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)+</m:t>
                        </m:r>
                        <m:sSup>
                          <m:sSupPr>
                            <m:ctrlP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zh-CN" altLang="en-US" sz="1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kumimoji="0" lang="zh-CN" altLang="en-US" sz="1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kumimoji="0" lang="zh-CN" altLang="en-US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zh-CN" alt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 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接下来是利用互相关进行解扩，提高信噪比的同时，实现延时的测量。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用到的知识点：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ADC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采样理论，正交解调、实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/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复信号的频谱特性，匹配滤波，傅里叶变换的线性性，噪声经傅里叶变换的特性，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DFT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频谱分析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(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多普勒精估计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)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，时域互相关等于频域乘积，扩频调制的优点及理论，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FFT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运算，数字滤波器设计</a:t>
                </a:r>
                <a:r>
                  <a:rPr lang="zh-CN" altLang="en-US" sz="1800" kern="0" dirty="0">
                    <a:solidFill>
                      <a:srgbClr val="000000"/>
                    </a:solidFill>
                  </a:rPr>
                  <a:t>。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125000"/>
                  <a:buFont typeface="Wingdings" pitchFamily="2" charset="2"/>
                  <a:buChar char="Ø"/>
                  <a:tabLst/>
                  <a:defRPr/>
                </a:pP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内容占位符 5">
                <a:extLst>
                  <a:ext uri="{FF2B5EF4-FFF2-40B4-BE49-F238E27FC236}">
                    <a16:creationId xmlns:a16="http://schemas.microsoft.com/office/drawing/2014/main" id="{BCD1C8A0-1A2B-47B7-B34F-976C31B57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990600"/>
                <a:ext cx="8534400" cy="5562600"/>
              </a:xfrm>
              <a:prstGeom prst="rect">
                <a:avLst/>
              </a:prstGeom>
              <a:blipFill>
                <a:blip r:embed="rId4"/>
                <a:stretch>
                  <a:fillRect l="-786" t="-1096" r="-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38F76EE2-2A08-4089-BB68-14CBA8D24532}"/>
              </a:ext>
            </a:extLst>
          </p:cNvPr>
          <p:cNvSpPr/>
          <p:nvPr/>
        </p:nvSpPr>
        <p:spPr>
          <a:xfrm>
            <a:off x="2286000" y="283736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5DF1D2-50F2-4406-90FF-A41351512620}"/>
              </a:ext>
            </a:extLst>
          </p:cNvPr>
          <p:cNvSpPr/>
          <p:nvPr/>
        </p:nvSpPr>
        <p:spPr>
          <a:xfrm>
            <a:off x="4048747" y="3198168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68B390-E243-4391-A358-2E6DF3E5E2AE}"/>
              </a:ext>
            </a:extLst>
          </p:cNvPr>
          <p:cNvSpPr/>
          <p:nvPr/>
        </p:nvSpPr>
        <p:spPr bwMode="auto">
          <a:xfrm>
            <a:off x="3200400" y="1752600"/>
            <a:ext cx="2362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8022FD-0305-4A35-818C-5AFD87E0FEFE}"/>
              </a:ext>
            </a:extLst>
          </p:cNvPr>
          <p:cNvSpPr txBox="1"/>
          <p:nvPr/>
        </p:nvSpPr>
        <p:spPr>
          <a:xfrm>
            <a:off x="3973989" y="2054423"/>
            <a:ext cx="3416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高频成分，数字滤波滤除，直接将其滤除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0E48FF-5671-4ABC-892B-8D655F9092AC}"/>
              </a:ext>
            </a:extLst>
          </p:cNvPr>
          <p:cNvSpPr/>
          <p:nvPr/>
        </p:nvSpPr>
        <p:spPr bwMode="auto">
          <a:xfrm>
            <a:off x="1447800" y="1752600"/>
            <a:ext cx="1600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86DDA2-BCA0-4F14-95D2-6311F7CAF2C9}"/>
              </a:ext>
            </a:extLst>
          </p:cNvPr>
          <p:cNvSpPr txBox="1"/>
          <p:nvPr/>
        </p:nvSpPr>
        <p:spPr>
          <a:xfrm>
            <a:off x="1981200" y="20544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实</a:t>
            </a:r>
            <a:r>
              <a:rPr lang="zh-CN" altLang="en-US" sz="1400" b="1">
                <a:solidFill>
                  <a:srgbClr val="FF0000"/>
                </a:solidFill>
                <a:latin typeface="Arial" panose="020B0604020202020204" pitchFamily="34" charset="0"/>
              </a:rPr>
              <a:t>部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754218-EAB9-424E-89E6-CF058E110780}"/>
              </a:ext>
            </a:extLst>
          </p:cNvPr>
          <p:cNvSpPr/>
          <p:nvPr/>
        </p:nvSpPr>
        <p:spPr bwMode="auto">
          <a:xfrm>
            <a:off x="3200400" y="2819400"/>
            <a:ext cx="2362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B0C13E-3CC2-46C1-AD9A-575E0FD90DD1}"/>
              </a:ext>
            </a:extLst>
          </p:cNvPr>
          <p:cNvSpPr/>
          <p:nvPr/>
        </p:nvSpPr>
        <p:spPr bwMode="auto">
          <a:xfrm>
            <a:off x="1447800" y="2819400"/>
            <a:ext cx="1600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703049-D959-44A7-B411-C8286FDCC84A}"/>
              </a:ext>
            </a:extLst>
          </p:cNvPr>
          <p:cNvSpPr txBox="1"/>
          <p:nvPr/>
        </p:nvSpPr>
        <p:spPr>
          <a:xfrm>
            <a:off x="1981200" y="31212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虚部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0675B4F-D2D5-4AAF-A353-723A475AC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172551"/>
              </p:ext>
            </p:extLst>
          </p:nvPr>
        </p:nvGraphicFramePr>
        <p:xfrm>
          <a:off x="3987800" y="29337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5" imgW="914400" imgH="181440" progId="Equation.DSMT4">
                  <p:embed/>
                </p:oleObj>
              </mc:Choice>
              <mc:Fallback>
                <p:oleObj name="Equation" r:id="rId5" imgW="914400" imgH="1814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7800" y="29337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F0C560CE-B3CD-42BB-8061-401720D106F5}"/>
              </a:ext>
            </a:extLst>
          </p:cNvPr>
          <p:cNvSpPr txBox="1"/>
          <p:nvPr/>
        </p:nvSpPr>
        <p:spPr>
          <a:xfrm>
            <a:off x="3973989" y="3121223"/>
            <a:ext cx="3416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高频成分，数字滤波滤除，直接将其滤除</a:t>
            </a:r>
          </a:p>
        </p:txBody>
      </p:sp>
    </p:spTree>
    <p:extLst>
      <p:ext uri="{BB962C8B-B14F-4D97-AF65-F5344CB8AC3E}">
        <p14:creationId xmlns:p14="http://schemas.microsoft.com/office/powerpoint/2010/main" val="351079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17F89-2349-473F-A99D-5568BE1C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相关的时域和频域形式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56D2E-76F5-438A-901F-17DF3D66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CC0-930F-418E-A4E3-7631211F20B0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7FC2BBF-121E-4A32-AE89-DF8851B56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4" y="983785"/>
            <a:ext cx="7445693" cy="54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9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17F89-2349-473F-A99D-5568BE1C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相关的时域和频域形式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56D2E-76F5-438A-901F-17DF3D66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CC0-930F-418E-A4E3-7631211F20B0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1559BF-FB3C-4744-963C-964228A0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68" y="1211506"/>
            <a:ext cx="7713021" cy="44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3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17F89-2349-473F-A99D-5568BE1C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相关的时域和频域形式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56D2E-76F5-438A-901F-17DF3D66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CC0-930F-418E-A4E3-7631211F20B0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EDB4D0-1F03-4C41-ADBF-D6E0A1992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" y="1016647"/>
            <a:ext cx="6807920" cy="531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3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4458</TotalTime>
  <Words>427</Words>
  <Application>Microsoft Office PowerPoint</Application>
  <PresentationFormat>全屏显示(4:3)</PresentationFormat>
  <Paragraphs>61</Paragraphs>
  <Slides>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黑体</vt:lpstr>
      <vt:lpstr>宋体</vt:lpstr>
      <vt:lpstr>微软雅黑</vt:lpstr>
      <vt:lpstr>Arial</vt:lpstr>
      <vt:lpstr>Calibri</vt:lpstr>
      <vt:lpstr>Cambria Math</vt:lpstr>
      <vt:lpstr>Wingdings</vt:lpstr>
      <vt:lpstr>Office 主题</vt:lpstr>
      <vt:lpstr>Equation</vt:lpstr>
      <vt:lpstr>数字信号处理实验六</vt:lpstr>
      <vt:lpstr>实验目的</vt:lpstr>
      <vt:lpstr>理论基础</vt:lpstr>
      <vt:lpstr>理论基础</vt:lpstr>
      <vt:lpstr>相关的时域和频域形式</vt:lpstr>
      <vt:lpstr>相关的时域和频域形式</vt:lpstr>
      <vt:lpstr>相关的时域和频域形式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数字信号处理实验一 MATLAB基础</dc:title>
  <dc:creator>Dell</dc:creator>
  <cp:lastModifiedBy>涛</cp:lastModifiedBy>
  <cp:revision>249</cp:revision>
  <dcterms:created xsi:type="dcterms:W3CDTF">2019-11-06T11:20:58Z</dcterms:created>
  <dcterms:modified xsi:type="dcterms:W3CDTF">2025-06-12T01:03:19Z</dcterms:modified>
</cp:coreProperties>
</file>