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534" r:id="rId5"/>
    <p:sldId id="568" r:id="rId6"/>
    <p:sldId id="541" r:id="rId7"/>
    <p:sldId id="563" r:id="rId8"/>
    <p:sldId id="565" r:id="rId9"/>
    <p:sldId id="56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3D8832-872C-48B8-867C-328CFDAC4757}">
          <p14:sldIdLst>
            <p14:sldId id="256"/>
            <p14:sldId id="534"/>
            <p14:sldId id="568"/>
            <p14:sldId id="541"/>
            <p14:sldId id="563"/>
            <p14:sldId id="565"/>
            <p14:sldId id="5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9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9" autoAdjust="0"/>
    <p:restoredTop sz="94697"/>
  </p:normalViewPr>
  <p:slideViewPr>
    <p:cSldViewPr snapToGrid="0" showGuides="1">
      <p:cViewPr varScale="1">
        <p:scale>
          <a:sx n="82" d="100"/>
          <a:sy n="82" d="100"/>
        </p:scale>
        <p:origin x="468" y="96"/>
      </p:cViewPr>
      <p:guideLst>
        <p:guide orient="horz" pos="219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924AF-AE0E-414F-922F-726268C1B8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DBDF9-2ACC-48D7-B2C1-DD875ED5B03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5E5E67-3D30-4ADE-9059-B93F7F6C693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Wp</a:t>
            </a:r>
            <a:r>
              <a:rPr lang="zh-CN" altLang="en-US" dirty="0"/>
              <a:t>为通带截至频率，</a:t>
            </a:r>
            <a:r>
              <a:rPr lang="en-US" altLang="zh-CN" dirty="0" err="1"/>
              <a:t>ws</a:t>
            </a:r>
            <a:r>
              <a:rPr lang="zh-CN" altLang="en-US" dirty="0"/>
              <a:t>为阻带的截至频率，</a:t>
            </a:r>
            <a:r>
              <a:rPr lang="en-US" altLang="zh-CN" dirty="0"/>
              <a:t>Wp</a:t>
            </a:r>
            <a:r>
              <a:rPr lang="zh-CN" altLang="en-US" dirty="0"/>
              <a:t>和</a:t>
            </a:r>
            <a:r>
              <a:rPr lang="en-US" altLang="zh-CN" dirty="0" err="1"/>
              <a:t>ws</a:t>
            </a:r>
            <a:r>
              <a:rPr lang="zh-CN" altLang="en-US" dirty="0"/>
              <a:t>可以是实际的频率值或角频率值，</a:t>
            </a:r>
            <a:r>
              <a:rPr lang="en-US" altLang="zh-CN" dirty="0" err="1"/>
              <a:t>wn</a:t>
            </a:r>
            <a:r>
              <a:rPr lang="zh-CN" altLang="en-US" dirty="0"/>
              <a:t>输出相同的量纲。</a:t>
            </a:r>
            <a:r>
              <a:rPr lang="en-US" altLang="zh-CN" dirty="0"/>
              <a:t>RP</a:t>
            </a:r>
            <a:r>
              <a:rPr lang="zh-CN" altLang="en-US" dirty="0"/>
              <a:t>为通带的最大衰减指标，</a:t>
            </a:r>
            <a:r>
              <a:rPr lang="en-US" altLang="zh-CN" dirty="0"/>
              <a:t>As</a:t>
            </a:r>
            <a:r>
              <a:rPr lang="zh-CN" altLang="en-US" dirty="0"/>
              <a:t>为阻带最小衰减指标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436687"/>
            <a:ext cx="9144000" cy="1767839"/>
          </a:xfrm>
          <a:prstGeom prst="rect">
            <a:avLst/>
          </a:prstGeom>
          <a:solidFill>
            <a:srgbClr val="33513A"/>
          </a:solidFill>
          <a:ln>
            <a:solidFill>
              <a:srgbClr val="3351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36687"/>
            <a:ext cx="7772400" cy="176783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B307-BCDA-40C7-9FDE-4F254D1AD99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9BA0-6E7F-422C-8A04-F4D99B595A5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3781-2582-4954-B52F-43BC81BE50B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600" y="1108800"/>
            <a:ext cx="4085600" cy="46824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2640" y="1108800"/>
            <a:ext cx="4094480" cy="46824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872B9-21EB-4081-BB06-03B7C2D0554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65156-131E-40BD-9868-EF5BC6617D3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8026-E0DD-49C6-A175-E099CCD7BC60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4C652-A981-4EBD-B97F-8231AFF102D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FA27-12DB-4594-8250-EE0E0666AFE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1AC9B-964E-41DF-8B13-73ADCEA276E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8849-B68B-4D16-A83D-66262A0C31A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2E21-9990-494D-8D2A-9B1911F5523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610" y="162559"/>
            <a:ext cx="8271510" cy="619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r>
              <a:rPr lang="en-US" altLang="zh-CN" dirty="0"/>
              <a:t>ABC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610" y="1107438"/>
            <a:ext cx="8271510" cy="5069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ABC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r>
              <a:rPr lang="en-US" altLang="zh-CN" dirty="0"/>
              <a:t>ABC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r>
              <a:rPr lang="en-US" altLang="zh-CN" dirty="0"/>
              <a:t>ABC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r>
              <a:rPr lang="en-US" altLang="zh-CN" dirty="0"/>
              <a:t>ABC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r>
              <a:rPr lang="en-US" altLang="zh-CN" dirty="0"/>
              <a:t>ABC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01170" y="6563236"/>
            <a:ext cx="1623600" cy="27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6875A-C419-42F7-9166-A5E3EA936AC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7960" y="6563236"/>
            <a:ext cx="1623600" cy="27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19565" y="6560440"/>
            <a:ext cx="903600" cy="2698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15D6CCC0-930F-418E-A4E3-7631211F20B0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89" b="24710"/>
          <a:stretch>
            <a:fillRect/>
          </a:stretch>
        </p:blipFill>
        <p:spPr>
          <a:xfrm>
            <a:off x="8001000" y="6560440"/>
            <a:ext cx="1035781" cy="27086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06" t="16371"/>
          <a:stretch>
            <a:fillRect/>
          </a:stretch>
        </p:blipFill>
        <p:spPr>
          <a:xfrm>
            <a:off x="121404" y="6561019"/>
            <a:ext cx="2043192" cy="26929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600"/>
        </a:spcBef>
        <a:buFontTx/>
        <a:buBlip>
          <a:blip r:embed="rId14"/>
        </a:buBlip>
        <a:defRPr sz="24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181E5E"/>
        </a:buClr>
        <a:buFont typeface="Calibri" panose="020F0502020204030204" pitchFamily="34" charset="0"/>
        <a:buChar char="▪"/>
        <a:defRPr sz="20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133727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Calibri" panose="020F0502020204030204" pitchFamily="34" charset="0"/>
        <a:buChar char="‐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数字信号处理实验四</a:t>
            </a:r>
            <a:endParaRPr lang="zh-CN" altLang="en-US" sz="4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867774" y="3622586"/>
            <a:ext cx="3408452" cy="1655762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电子与通信工程学院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35610" y="1393189"/>
            <a:ext cx="8391398" cy="3883662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掌握模拟低通滤波器原型的设计方法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掌握模拟低通滤波器原型进行频率变换的方法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掌握模拟滤波器原型进行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脉冲响应变换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的方法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双线性变换法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IIR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数字滤波器的方法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直接设计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IIR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模拟滤波器和数字滤波器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的方法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570650" y="908215"/>
            <a:ext cx="8271510" cy="504156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IIR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滤波器设计步骤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468795" y="2063116"/>
            <a:ext cx="2175030" cy="259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输入数字滤波器设计指标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468795" y="2578021"/>
            <a:ext cx="2175030" cy="259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转换为模拟滤波器指标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4556310" y="2322176"/>
            <a:ext cx="0" cy="255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468795" y="3095144"/>
            <a:ext cx="2175030" cy="5231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求滤波器最小阶数和截止频率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282365" y="3814233"/>
            <a:ext cx="2547891" cy="5231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模拟低通滤波器原型设计：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lang="en-US" altLang="zh-CN" sz="1400" dirty="0" err="1">
                <a:solidFill>
                  <a:schemeClr val="tx1"/>
                </a:solidFill>
              </a:rPr>
              <a:t>Buttap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 err="1">
                <a:solidFill>
                  <a:schemeClr val="tx1"/>
                </a:solidFill>
              </a:rPr>
              <a:t>cheblap</a:t>
            </a:r>
            <a:r>
              <a:rPr lang="en-US" altLang="zh-CN" sz="1400" dirty="0">
                <a:solidFill>
                  <a:schemeClr val="tx1"/>
                </a:solidFill>
              </a:rPr>
              <a:t>  cheb2ap </a:t>
            </a:r>
            <a:r>
              <a:rPr lang="zh-CN" altLang="en-US" sz="1400" dirty="0">
                <a:solidFill>
                  <a:schemeClr val="tx1"/>
                </a:solidFill>
              </a:rPr>
              <a:t>等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282365" y="4587464"/>
            <a:ext cx="2547891" cy="5231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模拟域频率变换，计算实际模拟滤波器的系数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282365" y="5280793"/>
            <a:ext cx="2547891" cy="6596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用脉冲响应不变法或双线性法进行变换</a:t>
            </a:r>
            <a:r>
              <a:rPr lang="en-US" altLang="zh-CN" sz="1400" dirty="0">
                <a:solidFill>
                  <a:schemeClr val="tx1"/>
                </a:solidFill>
              </a:rPr>
              <a:t>,</a:t>
            </a:r>
            <a:r>
              <a:rPr lang="zh-CN" altLang="en-US" sz="1400" dirty="0">
                <a:solidFill>
                  <a:schemeClr val="tx1"/>
                </a:solidFill>
              </a:rPr>
              <a:t>完成模拟滤波器的数字化变换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744003" y="6094954"/>
            <a:ext cx="1624615" cy="3129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数字滤波器系数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9" name="直接箭头连接符 18"/>
          <p:cNvCxnSpPr>
            <a:stCxn id="7" idx="2"/>
            <a:endCxn id="13" idx="0"/>
          </p:cNvCxnSpPr>
          <p:nvPr/>
        </p:nvCxnSpPr>
        <p:spPr>
          <a:xfrm>
            <a:off x="4556310" y="2837081"/>
            <a:ext cx="0" cy="258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3" idx="2"/>
            <a:endCxn id="14" idx="0"/>
          </p:cNvCxnSpPr>
          <p:nvPr/>
        </p:nvCxnSpPr>
        <p:spPr>
          <a:xfrm>
            <a:off x="4556310" y="3618316"/>
            <a:ext cx="1" cy="195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4" idx="2"/>
            <a:endCxn id="15" idx="0"/>
          </p:cNvCxnSpPr>
          <p:nvPr/>
        </p:nvCxnSpPr>
        <p:spPr>
          <a:xfrm>
            <a:off x="4556311" y="4337405"/>
            <a:ext cx="0" cy="250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5" idx="2"/>
            <a:endCxn id="16" idx="0"/>
          </p:cNvCxnSpPr>
          <p:nvPr/>
        </p:nvCxnSpPr>
        <p:spPr>
          <a:xfrm>
            <a:off x="4556311" y="5110636"/>
            <a:ext cx="0" cy="170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endCxn id="17" idx="0"/>
          </p:cNvCxnSpPr>
          <p:nvPr/>
        </p:nvCxnSpPr>
        <p:spPr>
          <a:xfrm>
            <a:off x="4556311" y="5945165"/>
            <a:ext cx="0" cy="149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70649" y="1459996"/>
            <a:ext cx="8313331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间接法：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先设计过度模拟滤波器，得到系统函数，然后将系统函数按某种方法转换成数字滤波器的系统函数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3262082" y="1416722"/>
            <a:ext cx="5795679" cy="504156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模拟原型滤波器设计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n,wn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 = 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buttord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wp,ws,Rp,As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’s’) 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确定巴特沃斯滤波器的阶数和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dB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截止频率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[B,A]=butter(n,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wn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,'s');</a:t>
            </a:r>
            <a:endParaRPr lang="en-US" altLang="zh-CN" sz="1600" b="1" dirty="0">
              <a:solidFill>
                <a:srgbClr val="268D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z,p,k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 = 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buttap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(n)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巴特沃斯模拟低通滤波器原型（零极点）</a:t>
            </a:r>
            <a:endParaRPr lang="en-US" altLang="zh-CN" sz="1600" b="1" dirty="0">
              <a:solidFill>
                <a:srgbClr val="268D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n,wn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 = cheb1ord(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wp,ws,Rp,As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’s’)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确定切比雪夫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Ⅰ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型滤波器的阶数和通带截止频率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z,p,k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 = cheb1ap (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n,Rp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切比雪夫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Ⅰ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型低通滤波器原型</a:t>
            </a:r>
            <a:endParaRPr lang="en-US" altLang="zh-CN" sz="1600" b="1" dirty="0">
              <a:solidFill>
                <a:srgbClr val="268D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n,wn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 = cheb1ord(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wp,ws,Rp,As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’s’)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确定切比雪夫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Ⅱ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型滤波器的阶数和阻带截止频率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z,p,k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 = cheb2ap (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n,As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切比雪夫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Ⅱ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型低通滤波器原型</a:t>
            </a:r>
            <a:endParaRPr lang="en-US" altLang="zh-CN" sz="1600" b="1" dirty="0">
              <a:solidFill>
                <a:srgbClr val="268D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4472" y="2682688"/>
            <a:ext cx="2991957" cy="14655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22040" y="1735024"/>
            <a:ext cx="2175030" cy="259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输入数字滤波器设计指标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22040" y="2249929"/>
            <a:ext cx="2175030" cy="259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转换为模拟滤波器指标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1709555" y="1994084"/>
            <a:ext cx="0" cy="255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22040" y="2767052"/>
            <a:ext cx="2175030" cy="5231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求滤波器最小阶数和截至频率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5610" y="3486141"/>
            <a:ext cx="2547891" cy="5231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模拟低通滤波器原型设计：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lang="en-US" altLang="zh-CN" sz="1400" dirty="0" err="1">
                <a:solidFill>
                  <a:schemeClr val="tx1"/>
                </a:solidFill>
              </a:rPr>
              <a:t>Buttap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 err="1">
                <a:solidFill>
                  <a:schemeClr val="tx1"/>
                </a:solidFill>
              </a:rPr>
              <a:t>cheblap</a:t>
            </a:r>
            <a:r>
              <a:rPr lang="en-US" altLang="zh-CN" sz="1400" dirty="0">
                <a:solidFill>
                  <a:schemeClr val="tx1"/>
                </a:solidFill>
              </a:rPr>
              <a:t>  cheb2ap </a:t>
            </a:r>
            <a:r>
              <a:rPr lang="zh-CN" altLang="en-US" sz="1400" dirty="0">
                <a:solidFill>
                  <a:schemeClr val="tx1"/>
                </a:solidFill>
              </a:rPr>
              <a:t>等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35610" y="4259372"/>
            <a:ext cx="2547891" cy="5231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模拟域频率变换，计算实际模拟滤波器的系数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35610" y="4952701"/>
            <a:ext cx="2547891" cy="6596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用脉冲响应不变法或双线性法进行变换</a:t>
            </a:r>
            <a:r>
              <a:rPr lang="en-US" altLang="zh-CN" sz="1400" dirty="0">
                <a:solidFill>
                  <a:schemeClr val="tx1"/>
                </a:solidFill>
              </a:rPr>
              <a:t>,</a:t>
            </a:r>
            <a:r>
              <a:rPr lang="zh-CN" altLang="en-US" sz="1400" dirty="0">
                <a:solidFill>
                  <a:schemeClr val="tx1"/>
                </a:solidFill>
              </a:rPr>
              <a:t>完成模拟滤波器的数字化变换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97248" y="5766862"/>
            <a:ext cx="1624615" cy="3129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数字滤波器系数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9" name="直接箭头连接符 28"/>
          <p:cNvCxnSpPr>
            <a:stCxn id="22" idx="2"/>
            <a:endCxn id="24" idx="0"/>
          </p:cNvCxnSpPr>
          <p:nvPr/>
        </p:nvCxnSpPr>
        <p:spPr>
          <a:xfrm>
            <a:off x="1709555" y="2508989"/>
            <a:ext cx="0" cy="258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24" idx="2"/>
            <a:endCxn id="25" idx="0"/>
          </p:cNvCxnSpPr>
          <p:nvPr/>
        </p:nvCxnSpPr>
        <p:spPr>
          <a:xfrm>
            <a:off x="1709555" y="3290224"/>
            <a:ext cx="1" cy="195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5" idx="2"/>
            <a:endCxn id="26" idx="0"/>
          </p:cNvCxnSpPr>
          <p:nvPr/>
        </p:nvCxnSpPr>
        <p:spPr>
          <a:xfrm>
            <a:off x="1709556" y="4009313"/>
            <a:ext cx="0" cy="250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6" idx="2"/>
            <a:endCxn id="27" idx="0"/>
          </p:cNvCxnSpPr>
          <p:nvPr/>
        </p:nvCxnSpPr>
        <p:spPr>
          <a:xfrm>
            <a:off x="1709556" y="4782544"/>
            <a:ext cx="0" cy="170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endCxn id="28" idx="0"/>
          </p:cNvCxnSpPr>
          <p:nvPr/>
        </p:nvCxnSpPr>
        <p:spPr>
          <a:xfrm>
            <a:off x="1709556" y="5617073"/>
            <a:ext cx="0" cy="149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3284639" y="1109921"/>
            <a:ext cx="5902694" cy="504156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模拟域频率变换法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lang="zh-CN" altLang="en-US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［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b,  a</a:t>
            </a:r>
            <a:r>
              <a:rPr lang="zh-CN" altLang="en-US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］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cheby1(N,  Rp,  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wpo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′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ftype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′)</a:t>
            </a:r>
            <a:endParaRPr lang="en-US" altLang="zh-CN" sz="1600" b="1" dirty="0">
              <a:solidFill>
                <a:srgbClr val="268D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lang="zh-CN" altLang="en-US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［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b,  a</a:t>
            </a:r>
            <a:r>
              <a:rPr lang="zh-CN" altLang="en-US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］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cheby1(N, Rp, 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wpo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′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ftype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′, ′s′)</a:t>
            </a:r>
            <a:endParaRPr lang="en-US" altLang="zh-CN" sz="1600" b="1" dirty="0">
              <a:solidFill>
                <a:srgbClr val="268D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1.[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bt,at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 = lp2lp(b,a,W0)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低通到低通模拟滤波器变换。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将传递函数表示的截至频率为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rad/s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的模拟低通滤波器原型变换为截至频率为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W0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的低通滤波器，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b,a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为滤波器系数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2.[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bt,at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 = lp2hp(b,a,W0)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低通到高通模拟滤波器变换。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3.[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bt,at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 = lp2bp(b,a,W0,BW)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低通到带通模拟滤波器变换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4.[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bt,at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 = lp2bs(b,a,W0 ,BW)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低通到带阻模拟滤波器变换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掌握模拟频域变换法设计低通、高通与带通、带阻滤波器方法</a:t>
            </a:r>
            <a:endParaRPr kumimoji="1"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34472" y="4155140"/>
            <a:ext cx="2991957" cy="7664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22040" y="1743651"/>
            <a:ext cx="2175030" cy="259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输入数字滤波器设计指标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22040" y="2258556"/>
            <a:ext cx="2175030" cy="259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转换为模拟滤波器指标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1709555" y="2002711"/>
            <a:ext cx="0" cy="255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622040" y="2775679"/>
            <a:ext cx="2175030" cy="5231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求滤波器最小阶数和截至频率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35610" y="3494768"/>
            <a:ext cx="2547891" cy="5231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模拟低通滤波器原型设计：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lang="en-US" altLang="zh-CN" sz="1400" dirty="0" err="1">
                <a:solidFill>
                  <a:schemeClr val="tx1"/>
                </a:solidFill>
              </a:rPr>
              <a:t>Buttap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 err="1">
                <a:solidFill>
                  <a:schemeClr val="tx1"/>
                </a:solidFill>
              </a:rPr>
              <a:t>cheblap</a:t>
            </a:r>
            <a:r>
              <a:rPr lang="en-US" altLang="zh-CN" sz="1400" dirty="0">
                <a:solidFill>
                  <a:schemeClr val="tx1"/>
                </a:solidFill>
              </a:rPr>
              <a:t>  cheb2ap </a:t>
            </a:r>
            <a:r>
              <a:rPr lang="zh-CN" altLang="en-US" sz="1400" dirty="0">
                <a:solidFill>
                  <a:schemeClr val="tx1"/>
                </a:solidFill>
              </a:rPr>
              <a:t>等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35610" y="4267999"/>
            <a:ext cx="2547891" cy="5231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模拟域频率变换，计算实际模拟滤波器的系数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5610" y="4961328"/>
            <a:ext cx="2547891" cy="6596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用脉冲响应不变法或双线性法进行变换</a:t>
            </a:r>
            <a:r>
              <a:rPr lang="en-US" altLang="zh-CN" sz="1400" dirty="0">
                <a:solidFill>
                  <a:schemeClr val="tx1"/>
                </a:solidFill>
              </a:rPr>
              <a:t>,</a:t>
            </a:r>
            <a:r>
              <a:rPr lang="zh-CN" altLang="en-US" sz="1400" dirty="0">
                <a:solidFill>
                  <a:schemeClr val="tx1"/>
                </a:solidFill>
              </a:rPr>
              <a:t>完成模拟滤波器的数字化变换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97248" y="5775489"/>
            <a:ext cx="1624615" cy="3129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数字滤波器系数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直接箭头连接符 26"/>
          <p:cNvCxnSpPr>
            <a:stCxn id="20" idx="2"/>
            <a:endCxn id="22" idx="0"/>
          </p:cNvCxnSpPr>
          <p:nvPr/>
        </p:nvCxnSpPr>
        <p:spPr>
          <a:xfrm>
            <a:off x="1709555" y="2517616"/>
            <a:ext cx="0" cy="258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22" idx="2"/>
            <a:endCxn id="23" idx="0"/>
          </p:cNvCxnSpPr>
          <p:nvPr/>
        </p:nvCxnSpPr>
        <p:spPr>
          <a:xfrm>
            <a:off x="1709555" y="3298851"/>
            <a:ext cx="1" cy="195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3" idx="2"/>
            <a:endCxn id="24" idx="0"/>
          </p:cNvCxnSpPr>
          <p:nvPr/>
        </p:nvCxnSpPr>
        <p:spPr>
          <a:xfrm>
            <a:off x="1709556" y="4017940"/>
            <a:ext cx="0" cy="250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24" idx="2"/>
            <a:endCxn id="25" idx="0"/>
          </p:cNvCxnSpPr>
          <p:nvPr/>
        </p:nvCxnSpPr>
        <p:spPr>
          <a:xfrm>
            <a:off x="1709556" y="4791171"/>
            <a:ext cx="0" cy="170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endCxn id="26" idx="0"/>
          </p:cNvCxnSpPr>
          <p:nvPr/>
        </p:nvCxnSpPr>
        <p:spPr>
          <a:xfrm>
            <a:off x="1709556" y="5625700"/>
            <a:ext cx="0" cy="149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3284639" y="1285931"/>
            <a:ext cx="5734694" cy="504156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脉冲响应不变法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双线性变换法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脉冲响应不变法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：将系统从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平面映射到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平面，使数字滤波器的单位脉冲响应序列模仿模拟滤波器冲击响应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bd,ad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 = 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impinvar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b,a,Fs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b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功能：将模拟滤波器系数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转换为数字滤波器系数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bd,ad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双线性变换法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：将整个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平面映射到整个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平面，消除频谱混叠现象，同时产生了非线性畸变，需要预修正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numd,dend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 = bilinear(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num,den,FS,Fp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sz="1600" b="1" dirty="0">
                <a:solidFill>
                  <a:srgbClr val="268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传递函数输入</a:t>
            </a:r>
            <a:endParaRPr lang="en-US" altLang="zh-CN" sz="1600" b="1" dirty="0">
              <a:solidFill>
                <a:srgbClr val="268D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zd,pd,kd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 = bilinear(</a:t>
            </a:r>
            <a:r>
              <a:rPr lang="en-US" altLang="zh-CN" sz="1600" b="1" dirty="0" err="1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z,p,k,FS,Fp</a:t>
            </a:r>
            <a:r>
              <a:rPr lang="en-US" altLang="zh-CN" sz="1600" b="1" dirty="0">
                <a:solidFill>
                  <a:srgbClr val="268D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</a:t>
            </a:r>
            <a:r>
              <a:rPr lang="zh-CN" altLang="en-US" sz="1600" b="1" dirty="0">
                <a:solidFill>
                  <a:srgbClr val="268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零极点增益系数输入</a:t>
            </a:r>
            <a:endParaRPr lang="en-US" altLang="zh-CN" sz="1600" b="1" dirty="0">
              <a:solidFill>
                <a:srgbClr val="268D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b="1" dirty="0">
                <a:solidFill>
                  <a:srgbClr val="268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功能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将模拟域映射到数字域的方法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13576" y="4813540"/>
            <a:ext cx="2991957" cy="8453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22040" y="1700518"/>
            <a:ext cx="2175030" cy="259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输入数字滤波器设计指标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22040" y="2215423"/>
            <a:ext cx="2175030" cy="259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转换为模拟滤波器指标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1709555" y="1959578"/>
            <a:ext cx="0" cy="255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622040" y="2732546"/>
            <a:ext cx="2175030" cy="5231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求滤波器最小阶数和截至频率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35610" y="3451635"/>
            <a:ext cx="2547891" cy="5231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模拟低通滤波器原型设计：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ctr"/>
            <a:r>
              <a:rPr lang="en-US" altLang="zh-CN" sz="1400" dirty="0" err="1">
                <a:solidFill>
                  <a:schemeClr val="tx1"/>
                </a:solidFill>
              </a:rPr>
              <a:t>Buttap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 err="1">
                <a:solidFill>
                  <a:schemeClr val="tx1"/>
                </a:solidFill>
              </a:rPr>
              <a:t>cheblap</a:t>
            </a:r>
            <a:r>
              <a:rPr lang="en-US" altLang="zh-CN" sz="1400" dirty="0">
                <a:solidFill>
                  <a:schemeClr val="tx1"/>
                </a:solidFill>
              </a:rPr>
              <a:t>  cheb2ap </a:t>
            </a:r>
            <a:r>
              <a:rPr lang="zh-CN" altLang="en-US" sz="1400" dirty="0">
                <a:solidFill>
                  <a:schemeClr val="tx1"/>
                </a:solidFill>
              </a:rPr>
              <a:t>等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35610" y="4224866"/>
            <a:ext cx="2547891" cy="5231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模拟域频率变换，计算实际模拟滤波器的系数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5610" y="4918195"/>
            <a:ext cx="2547891" cy="6596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用脉冲响应不变法或双线性法进行变换</a:t>
            </a:r>
            <a:r>
              <a:rPr lang="en-US" altLang="zh-CN" sz="1400" dirty="0">
                <a:solidFill>
                  <a:schemeClr val="tx1"/>
                </a:solidFill>
              </a:rPr>
              <a:t>,</a:t>
            </a:r>
            <a:r>
              <a:rPr lang="zh-CN" altLang="en-US" sz="1400" dirty="0">
                <a:solidFill>
                  <a:schemeClr val="tx1"/>
                </a:solidFill>
              </a:rPr>
              <a:t>完成模拟滤波器的数字化变换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97248" y="5732356"/>
            <a:ext cx="1624615" cy="3129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数字滤波器系数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直接箭头连接符 26"/>
          <p:cNvCxnSpPr>
            <a:stCxn id="20" idx="2"/>
            <a:endCxn id="22" idx="0"/>
          </p:cNvCxnSpPr>
          <p:nvPr/>
        </p:nvCxnSpPr>
        <p:spPr>
          <a:xfrm>
            <a:off x="1709555" y="2474483"/>
            <a:ext cx="0" cy="258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22" idx="2"/>
            <a:endCxn id="23" idx="0"/>
          </p:cNvCxnSpPr>
          <p:nvPr/>
        </p:nvCxnSpPr>
        <p:spPr>
          <a:xfrm>
            <a:off x="1709555" y="3255718"/>
            <a:ext cx="1" cy="195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3" idx="2"/>
            <a:endCxn id="24" idx="0"/>
          </p:cNvCxnSpPr>
          <p:nvPr/>
        </p:nvCxnSpPr>
        <p:spPr>
          <a:xfrm>
            <a:off x="1709556" y="3974807"/>
            <a:ext cx="0" cy="250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24" idx="2"/>
            <a:endCxn id="25" idx="0"/>
          </p:cNvCxnSpPr>
          <p:nvPr/>
        </p:nvCxnSpPr>
        <p:spPr>
          <a:xfrm>
            <a:off x="1709556" y="4748038"/>
            <a:ext cx="0" cy="170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endCxn id="26" idx="0"/>
          </p:cNvCxnSpPr>
          <p:nvPr/>
        </p:nvCxnSpPr>
        <p:spPr>
          <a:xfrm>
            <a:off x="1709556" y="5582567"/>
            <a:ext cx="0" cy="149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355046" y="4680626"/>
          <a:ext cx="1251668" cy="567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Equation" r:id="rId1" imgW="22860000" imgH="10363200" progId="Equation.DSMT4">
                  <p:embed/>
                </p:oleObj>
              </mc:Choice>
              <mc:Fallback>
                <p:oleObj name="Equation" r:id="rId1" imgW="22860000" imgH="10363200" progId="Equation.DSMT4">
                  <p:embed/>
                  <p:pic>
                    <p:nvPicPr>
                      <p:cNvPr id="0" name="图片 103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55046" y="4680626"/>
                        <a:ext cx="1251668" cy="5674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561772" y="992030"/>
            <a:ext cx="8271510" cy="504156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IIR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滤波器的直接设计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268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1.butter</a:t>
            </a:r>
            <a:br>
              <a:rPr lang="en-US" altLang="zh-CN" sz="2000" b="1" dirty="0">
                <a:solidFill>
                  <a:srgbClr val="268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b="1" dirty="0">
                <a:solidFill>
                  <a:srgbClr val="268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　功能：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巴特沃斯模拟或数字滤波器设计。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268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2.cheby1/ cheby2</a:t>
            </a:r>
            <a:endParaRPr lang="en-US" altLang="zh-CN" sz="2000" b="1" dirty="0">
              <a:solidFill>
                <a:srgbClr val="268D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rgbClr val="268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2000" b="1" dirty="0">
                <a:solidFill>
                  <a:srgbClr val="268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：切比雪夫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/II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型滤波器设计</a:t>
            </a:r>
            <a:endParaRPr lang="en-US" altLang="zh-CN" sz="2000" b="1" dirty="0">
              <a:solidFill>
                <a:srgbClr val="268D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268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3.ellip</a:t>
            </a:r>
            <a:endParaRPr lang="en-US" altLang="zh-CN" sz="2000" b="1" dirty="0">
              <a:solidFill>
                <a:srgbClr val="268D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rgbClr val="268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功能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：椭圆滤波器设计</a:t>
            </a:r>
            <a:endParaRPr lang="en-US" altLang="zh-CN" sz="2000" b="1" dirty="0">
              <a:solidFill>
                <a:srgbClr val="268D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268DFF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rgbClr val="268DFF"/>
                </a:solidFill>
              </a:rPr>
              <a:t>              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1784</Words>
  <Application>WPS 演示</Application>
  <PresentationFormat>全屏显示(4:3)</PresentationFormat>
  <Paragraphs>125</Paragraphs>
  <Slides>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黑体</vt:lpstr>
      <vt:lpstr>Calibri</vt:lpstr>
      <vt:lpstr>微软雅黑</vt:lpstr>
      <vt:lpstr>Calibri</vt:lpstr>
      <vt:lpstr>Times New Roman</vt:lpstr>
      <vt:lpstr>Arial Unicode MS</vt:lpstr>
      <vt:lpstr>等线</vt:lpstr>
      <vt:lpstr>Office 主题</vt:lpstr>
      <vt:lpstr>Equation.DSMT4</vt:lpstr>
      <vt:lpstr>数字信号处理实验四</vt:lpstr>
      <vt:lpstr>实验目的</vt:lpstr>
      <vt:lpstr>理论基础</vt:lpstr>
      <vt:lpstr>理论基础</vt:lpstr>
      <vt:lpstr>理论基础</vt:lpstr>
      <vt:lpstr>理论基础</vt:lpstr>
      <vt:lpstr>理论基础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数字信号处理实验一 MATLAB基础</dc:title>
  <dc:creator>Dell</dc:creator>
  <cp:lastModifiedBy>admin</cp:lastModifiedBy>
  <cp:revision>204</cp:revision>
  <dcterms:created xsi:type="dcterms:W3CDTF">2019-11-06T11:20:00Z</dcterms:created>
  <dcterms:modified xsi:type="dcterms:W3CDTF">2026-05-27T23:54:17Z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EC101DBFE2534C6A8A2284AF2CCE6BAE_12</vt:lpwstr>
  </property>
  <property fmtid="{D5CDD505-2E9C-101B-9397-08002B2CF9AE}" pid="3" name="KSOProductBuildVer">
    <vt:lpwstr>2052-12.1.0.25225</vt:lpwstr>
  </property>
</Properties>
</file>