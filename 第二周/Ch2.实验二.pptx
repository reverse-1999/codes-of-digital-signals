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1"/>
  </p:notesMasterIdLst>
  <p:sldIdLst>
    <p:sldId id="256" r:id="rId2"/>
    <p:sldId id="534" r:id="rId3"/>
    <p:sldId id="522" r:id="rId4"/>
    <p:sldId id="557" r:id="rId5"/>
    <p:sldId id="560" r:id="rId6"/>
    <p:sldId id="561" r:id="rId7"/>
    <p:sldId id="554" r:id="rId8"/>
    <p:sldId id="562" r:id="rId9"/>
    <p:sldId id="5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233D8832-872C-48B8-867C-328CFDAC4757}">
          <p14:sldIdLst>
            <p14:sldId id="256"/>
            <p14:sldId id="534"/>
            <p14:sldId id="522"/>
            <p14:sldId id="557"/>
            <p14:sldId id="560"/>
            <p14:sldId id="561"/>
            <p14:sldId id="554"/>
            <p14:sldId id="562"/>
            <p14:sldId id="559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laitao" initials="l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08"/>
    <p:restoredTop sz="75834" autoAdjust="0"/>
  </p:normalViewPr>
  <p:slideViewPr>
    <p:cSldViewPr snapToGrid="0" showGuides="1">
      <p:cViewPr varScale="1">
        <p:scale>
          <a:sx n="66" d="100"/>
          <a:sy n="66" d="100"/>
        </p:scale>
        <p:origin x="888" y="6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32924AF-AE0E-414F-922F-726268C1B860}" type="datetimeFigureOut">
              <a:rPr lang="zh-CN" altLang="en-US" smtClean="0"/>
              <a:t>2026/05/13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EDDBDF9-2ACC-48D7-B2C1-DD875ED5B03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705E5E67-3D30-4ADE-9059-B93F7F6C6936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1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DDBDF9-2ACC-48D7-B2C1-DD875ED5B031}" type="slidenum">
              <a:rPr lang="zh-CN" altLang="en-US" smtClean="0"/>
              <a:t>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（</a:t>
            </a:r>
            <a:r>
              <a:rPr lang="en-US" altLang="zh-CN" dirty="0"/>
              <a:t>0</a:t>
            </a:r>
            <a:r>
              <a:rPr lang="zh-CN" altLang="en-US" dirty="0"/>
              <a:t>）系统输入为</a:t>
            </a:r>
            <a:r>
              <a:rPr lang="en-US" altLang="zh-CN" dirty="0"/>
              <a:t>delta(n)</a:t>
            </a:r>
            <a:r>
              <a:rPr lang="zh-CN" altLang="en-US" dirty="0"/>
              <a:t>时的输出为</a:t>
            </a:r>
            <a:r>
              <a:rPr lang="en-US" altLang="zh-CN" dirty="0"/>
              <a:t>h(n)</a:t>
            </a:r>
          </a:p>
          <a:p>
            <a:r>
              <a:rPr lang="zh-CN" altLang="en-US" dirty="0"/>
              <a:t>（</a:t>
            </a:r>
            <a:r>
              <a:rPr lang="en-US" altLang="zh-CN" dirty="0"/>
              <a:t>1</a:t>
            </a:r>
            <a:r>
              <a:rPr lang="zh-CN" altLang="en-US" dirty="0"/>
              <a:t>）对于线性移不变系统，任意输入</a:t>
            </a:r>
            <a:r>
              <a:rPr lang="en-US" altLang="zh-CN" dirty="0"/>
              <a:t>x(n)</a:t>
            </a:r>
            <a:r>
              <a:rPr lang="zh-CN" altLang="en-US" dirty="0"/>
              <a:t>都可以用</a:t>
            </a:r>
            <a:r>
              <a:rPr lang="en-US" altLang="zh-CN" dirty="0"/>
              <a:t>delta(n)</a:t>
            </a:r>
            <a:r>
              <a:rPr lang="zh-CN" altLang="en-US" dirty="0"/>
              <a:t>及其位移的线性组合来表示</a:t>
            </a:r>
            <a:endParaRPr lang="en-US" altLang="zh-CN" dirty="0"/>
          </a:p>
          <a:p>
            <a:r>
              <a:rPr lang="zh-CN" altLang="en-US" dirty="0"/>
              <a:t>（</a:t>
            </a:r>
            <a:r>
              <a:rPr lang="en-US" altLang="zh-CN" dirty="0"/>
              <a:t>2</a:t>
            </a:r>
            <a:r>
              <a:rPr lang="zh-CN" altLang="en-US" dirty="0"/>
              <a:t>）由线性系统移不变性质可以得到系统输出</a:t>
            </a:r>
            <a:r>
              <a:rPr lang="en-US" altLang="zh-CN" dirty="0"/>
              <a:t>y(n)</a:t>
            </a:r>
            <a:r>
              <a:rPr lang="zh-CN" altLang="en-US" dirty="0"/>
              <a:t>，就是输入信号与冲激响应的卷积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DDBDF9-2ACC-48D7-B2C1-DD875ED5B031}" type="slidenum">
              <a:rPr lang="zh-CN" altLang="en-US" smtClean="0"/>
              <a:t>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DDBDF9-2ACC-48D7-B2C1-DD875ED5B031}" type="slidenum">
              <a:rPr lang="zh-CN" altLang="en-US" smtClean="0"/>
              <a:t>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使用时须知：</a:t>
            </a:r>
            <a:r>
              <a:rPr lang="en-US" altLang="zh-CN" dirty="0" err="1"/>
              <a:t>ztrans</a:t>
            </a:r>
            <a:r>
              <a:rPr lang="zh-CN" altLang="en-US" dirty="0"/>
              <a:t>只给出了</a:t>
            </a:r>
            <a:r>
              <a:rPr lang="en-US" altLang="zh-CN" dirty="0"/>
              <a:t>Z</a:t>
            </a:r>
            <a:r>
              <a:rPr lang="zh-CN" altLang="en-US" dirty="0"/>
              <a:t>变换的表达式，并没有给出收敛域，且部分序列无法用这个函数求出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X(z)</a:t>
            </a:r>
            <a:r>
              <a:rPr lang="zh-CN" altLang="en-US" dirty="0"/>
              <a:t>看成系统函数，那么其反变换等于这个系统的冲击响应，因此用</a:t>
            </a:r>
            <a:r>
              <a:rPr lang="en-US" altLang="zh-CN" dirty="0" err="1"/>
              <a:t>impz</a:t>
            </a:r>
            <a:r>
              <a:rPr lang="zh-CN" altLang="en-US" dirty="0"/>
              <a:t>结果检验</a:t>
            </a:r>
            <a:r>
              <a:rPr lang="en-US" altLang="zh-CN" dirty="0"/>
              <a:t>z</a:t>
            </a:r>
            <a:r>
              <a:rPr lang="zh-CN" altLang="en-US" dirty="0"/>
              <a:t>反变换结果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DDBDF9-2ACC-48D7-B2C1-DD875ED5B031}" type="slidenum">
              <a:rPr lang="zh-CN" altLang="en-US" smtClean="0"/>
              <a:t>5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使用时须知：</a:t>
            </a:r>
            <a:r>
              <a:rPr lang="en-US" altLang="zh-CN" dirty="0" err="1"/>
              <a:t>ztrans</a:t>
            </a:r>
            <a:r>
              <a:rPr lang="zh-CN" altLang="en-US" dirty="0"/>
              <a:t>只给出了</a:t>
            </a:r>
            <a:r>
              <a:rPr lang="en-US" altLang="zh-CN" dirty="0"/>
              <a:t>Z</a:t>
            </a:r>
            <a:r>
              <a:rPr lang="zh-CN" altLang="en-US" dirty="0"/>
              <a:t>变换的表达式，并没有给出收敛域，且部分序列无法用这个函数求出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X(z)</a:t>
            </a:r>
            <a:r>
              <a:rPr lang="zh-CN" altLang="en-US" dirty="0"/>
              <a:t>看成系统函数，那么其反变换等于这个系统的冲击响应，因此用</a:t>
            </a:r>
            <a:r>
              <a:rPr lang="en-US" altLang="zh-CN" dirty="0" err="1"/>
              <a:t>impz</a:t>
            </a:r>
            <a:r>
              <a:rPr lang="zh-CN" altLang="en-US" dirty="0"/>
              <a:t>结果检验</a:t>
            </a:r>
            <a:r>
              <a:rPr lang="en-US" altLang="zh-CN" dirty="0"/>
              <a:t>z</a:t>
            </a:r>
            <a:r>
              <a:rPr lang="zh-CN" altLang="en-US" dirty="0"/>
              <a:t>反变换结果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DDBDF9-2ACC-48D7-B2C1-DD875ED5B031}" type="slidenum">
              <a:rPr lang="zh-CN" altLang="en-US" smtClean="0"/>
              <a:t>6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使用时须知：</a:t>
            </a:r>
            <a:r>
              <a:rPr lang="en-US" altLang="zh-CN" dirty="0" err="1"/>
              <a:t>ztrans</a:t>
            </a:r>
            <a:r>
              <a:rPr lang="zh-CN" altLang="en-US" dirty="0"/>
              <a:t>只给出了</a:t>
            </a:r>
            <a:r>
              <a:rPr lang="en-US" altLang="zh-CN" dirty="0"/>
              <a:t>Z</a:t>
            </a:r>
            <a:r>
              <a:rPr lang="zh-CN" altLang="en-US" dirty="0"/>
              <a:t>变换的表达式，并没有给出收敛域，且部分序列无法用这个函数求出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X(z)</a:t>
            </a:r>
            <a:r>
              <a:rPr lang="zh-CN" altLang="en-US" dirty="0"/>
              <a:t>看成系统函数，那么其反变换等于这个系统的冲击响应，因此用</a:t>
            </a:r>
            <a:r>
              <a:rPr lang="en-US" altLang="zh-CN" dirty="0" err="1"/>
              <a:t>impz</a:t>
            </a:r>
            <a:r>
              <a:rPr lang="zh-CN" altLang="en-US" dirty="0"/>
              <a:t>结果检验</a:t>
            </a:r>
            <a:r>
              <a:rPr lang="en-US" altLang="zh-CN" dirty="0"/>
              <a:t>z</a:t>
            </a:r>
            <a:r>
              <a:rPr lang="zh-CN" altLang="en-US" dirty="0"/>
              <a:t>反变换结果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DDBDF9-2ACC-48D7-B2C1-DD875ED5B031}" type="slidenum">
              <a:rPr lang="zh-CN" altLang="en-US" smtClean="0"/>
              <a:t>7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使用时须知：</a:t>
            </a:r>
            <a:r>
              <a:rPr lang="en-US" altLang="zh-CN" dirty="0" err="1"/>
              <a:t>ztrans</a:t>
            </a:r>
            <a:r>
              <a:rPr lang="zh-CN" altLang="en-US" dirty="0"/>
              <a:t>只给出了</a:t>
            </a:r>
            <a:r>
              <a:rPr lang="en-US" altLang="zh-CN" dirty="0"/>
              <a:t>Z</a:t>
            </a:r>
            <a:r>
              <a:rPr lang="zh-CN" altLang="en-US" dirty="0"/>
              <a:t>变换的表达式，并没有给出收敛域，且部分序列无法用这个函数求出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X(z)</a:t>
            </a:r>
            <a:r>
              <a:rPr lang="zh-CN" altLang="en-US" dirty="0"/>
              <a:t>看成系统函数，那么其反变换等于这个系统的冲击响应，因此用</a:t>
            </a:r>
            <a:r>
              <a:rPr lang="en-US" altLang="zh-CN" dirty="0" err="1"/>
              <a:t>impz</a:t>
            </a:r>
            <a:r>
              <a:rPr lang="zh-CN" altLang="en-US" dirty="0"/>
              <a:t>结果检验</a:t>
            </a:r>
            <a:r>
              <a:rPr lang="en-US" altLang="zh-CN" dirty="0"/>
              <a:t>z</a:t>
            </a:r>
            <a:r>
              <a:rPr lang="zh-CN" altLang="en-US" dirty="0"/>
              <a:t>反变换结果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DDBDF9-2ACC-48D7-B2C1-DD875ED5B031}" type="slidenum">
              <a:rPr lang="zh-CN" altLang="en-US" smtClean="0"/>
              <a:t>8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DDBDF9-2ACC-48D7-B2C1-DD875ED5B031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528822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14"/>
          <p:cNvSpPr/>
          <p:nvPr userDrawn="1"/>
        </p:nvSpPr>
        <p:spPr>
          <a:xfrm>
            <a:off x="0" y="1436687"/>
            <a:ext cx="9144000" cy="1767839"/>
          </a:xfrm>
          <a:prstGeom prst="rect">
            <a:avLst/>
          </a:prstGeom>
          <a:solidFill>
            <a:srgbClr val="33513A"/>
          </a:solidFill>
          <a:ln>
            <a:solidFill>
              <a:srgbClr val="33513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436687"/>
            <a:ext cx="7772400" cy="1767839"/>
          </a:xfrm>
        </p:spPr>
        <p:txBody>
          <a:bodyPr anchor="ctr" anchorCtr="0"/>
          <a:lstStyle>
            <a:lvl1pPr algn="ctr">
              <a:lnSpc>
                <a:spcPct val="100000"/>
              </a:lnSpc>
              <a:defRPr sz="4800">
                <a:solidFill>
                  <a:schemeClr val="bg1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46B307-BCDA-40C7-9FDE-4F254D1AD999}" type="datetime1">
              <a:rPr lang="zh-CN" altLang="en-US" smtClean="0"/>
              <a:t>2026/05/13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ctr">
              <a:defRPr/>
            </a:lvl1pPr>
          </a:lstStyle>
          <a:p>
            <a:fld id="{15D6CCC0-930F-418E-A4E3-7631211F20B0}" type="slidenum">
              <a:rPr lang="zh-CN" altLang="en-US" smtClean="0"/>
              <a:t>‹#›</a:t>
            </a:fld>
            <a:endParaRPr lang="zh-CN" altLang="en-US" dirty="0"/>
          </a:p>
        </p:txBody>
      </p:sp>
      <p:cxnSp>
        <p:nvCxnSpPr>
          <p:cNvPr id="8" name="直接连接符 7"/>
          <p:cNvCxnSpPr/>
          <p:nvPr userDrawn="1"/>
        </p:nvCxnSpPr>
        <p:spPr>
          <a:xfrm>
            <a:off x="0" y="6539231"/>
            <a:ext cx="9144000" cy="0"/>
          </a:xfrm>
          <a:prstGeom prst="line">
            <a:avLst/>
          </a:prstGeom>
          <a:ln>
            <a:solidFill>
              <a:srgbClr val="13372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0" y="0"/>
            <a:ext cx="9144000" cy="944879"/>
          </a:xfrm>
          <a:prstGeom prst="rect">
            <a:avLst/>
          </a:prstGeom>
          <a:solidFill>
            <a:srgbClr val="133727"/>
          </a:solidFill>
          <a:ln>
            <a:solidFill>
              <a:srgbClr val="13372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EF9BA0-6E7F-422C-8A04-F4D99B595A5F}" type="datetime1">
              <a:rPr lang="zh-CN" altLang="en-US" smtClean="0"/>
              <a:t>2026/05/13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ctr">
              <a:defRPr/>
            </a:lvl1pPr>
          </a:lstStyle>
          <a:p>
            <a:fld id="{15D6CCC0-930F-418E-A4E3-7631211F20B0}" type="slidenum">
              <a:rPr lang="zh-CN" altLang="en-US" smtClean="0"/>
              <a:t>‹#›</a:t>
            </a:fld>
            <a:endParaRPr lang="zh-CN" altLang="en-US" dirty="0"/>
          </a:p>
        </p:txBody>
      </p:sp>
      <p:cxnSp>
        <p:nvCxnSpPr>
          <p:cNvPr id="9" name="直接连接符 8"/>
          <p:cNvCxnSpPr/>
          <p:nvPr userDrawn="1"/>
        </p:nvCxnSpPr>
        <p:spPr>
          <a:xfrm>
            <a:off x="0" y="6539231"/>
            <a:ext cx="9144000" cy="0"/>
          </a:xfrm>
          <a:prstGeom prst="line">
            <a:avLst/>
          </a:prstGeom>
          <a:ln>
            <a:solidFill>
              <a:srgbClr val="13372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A3781-2582-4954-B52F-43BC81BE50B2}" type="datetime1">
              <a:rPr lang="zh-CN" altLang="en-US" smtClean="0"/>
              <a:t>2026/05/13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ctr">
              <a:defRPr/>
            </a:lvl1pPr>
          </a:lstStyle>
          <a:p>
            <a:fld id="{15D6CCC0-930F-418E-A4E3-7631211F20B0}" type="slidenum">
              <a:rPr lang="zh-CN" altLang="en-US" smtClean="0"/>
              <a:t>‹#›</a:t>
            </a:fld>
            <a:endParaRPr lang="zh-CN" altLang="en-US" dirty="0"/>
          </a:p>
        </p:txBody>
      </p:sp>
      <p:cxnSp>
        <p:nvCxnSpPr>
          <p:cNvPr id="8" name="直接连接符 7"/>
          <p:cNvCxnSpPr/>
          <p:nvPr userDrawn="1"/>
        </p:nvCxnSpPr>
        <p:spPr>
          <a:xfrm>
            <a:off x="0" y="6539231"/>
            <a:ext cx="9144000" cy="0"/>
          </a:xfrm>
          <a:prstGeom prst="line">
            <a:avLst/>
          </a:prstGeom>
          <a:ln>
            <a:solidFill>
              <a:srgbClr val="13372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 userDrawn="1"/>
        </p:nvSpPr>
        <p:spPr>
          <a:xfrm>
            <a:off x="0" y="0"/>
            <a:ext cx="9144000" cy="944879"/>
          </a:xfrm>
          <a:prstGeom prst="rect">
            <a:avLst/>
          </a:prstGeom>
          <a:solidFill>
            <a:srgbClr val="133727"/>
          </a:solidFill>
          <a:ln>
            <a:solidFill>
              <a:srgbClr val="13372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35600" y="1108800"/>
            <a:ext cx="4085600" cy="46824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12640" y="1108800"/>
            <a:ext cx="4094480" cy="46824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3872B9-21EB-4081-BB06-03B7C2D0554F}" type="datetime1">
              <a:rPr lang="zh-CN" altLang="en-US" smtClean="0"/>
              <a:t>2026/05/13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ctr">
              <a:defRPr/>
            </a:lvl1pPr>
          </a:lstStyle>
          <a:p>
            <a:fld id="{15D6CCC0-930F-418E-A4E3-7631211F20B0}" type="slidenum">
              <a:rPr lang="zh-CN" altLang="en-US" smtClean="0"/>
              <a:t>‹#›</a:t>
            </a:fld>
            <a:endParaRPr lang="zh-CN" altLang="en-US" dirty="0"/>
          </a:p>
        </p:txBody>
      </p:sp>
      <p:cxnSp>
        <p:nvCxnSpPr>
          <p:cNvPr id="10" name="直接连接符 9"/>
          <p:cNvCxnSpPr/>
          <p:nvPr userDrawn="1"/>
        </p:nvCxnSpPr>
        <p:spPr>
          <a:xfrm>
            <a:off x="0" y="6539231"/>
            <a:ext cx="9144000" cy="0"/>
          </a:xfrm>
          <a:prstGeom prst="line">
            <a:avLst/>
          </a:prstGeom>
          <a:ln>
            <a:solidFill>
              <a:srgbClr val="13372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865156-131E-40BD-9868-EF5BC6617D39}" type="datetime1">
              <a:rPr lang="zh-CN" altLang="en-US" smtClean="0"/>
              <a:t>2026/05/13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ctr">
              <a:defRPr/>
            </a:lvl1pPr>
          </a:lstStyle>
          <a:p>
            <a:fld id="{15D6CCC0-930F-418E-A4E3-7631211F20B0}" type="slidenum">
              <a:rPr lang="zh-CN" altLang="en-US" smtClean="0"/>
              <a:t>‹#›</a:t>
            </a:fld>
            <a:endParaRPr lang="zh-CN" altLang="en-US" dirty="0"/>
          </a:p>
        </p:txBody>
      </p:sp>
      <p:cxnSp>
        <p:nvCxnSpPr>
          <p:cNvPr id="11" name="直接连接符 10"/>
          <p:cNvCxnSpPr/>
          <p:nvPr userDrawn="1"/>
        </p:nvCxnSpPr>
        <p:spPr>
          <a:xfrm>
            <a:off x="0" y="6539231"/>
            <a:ext cx="9144000" cy="0"/>
          </a:xfrm>
          <a:prstGeom prst="line">
            <a:avLst/>
          </a:prstGeom>
          <a:ln>
            <a:solidFill>
              <a:srgbClr val="13372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 userDrawn="1"/>
        </p:nvSpPr>
        <p:spPr>
          <a:xfrm>
            <a:off x="0" y="0"/>
            <a:ext cx="9144000" cy="944879"/>
          </a:xfrm>
          <a:prstGeom prst="rect">
            <a:avLst/>
          </a:prstGeom>
          <a:solidFill>
            <a:srgbClr val="133727"/>
          </a:solidFill>
          <a:ln>
            <a:solidFill>
              <a:srgbClr val="13372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B18026-E0DD-49C6-A175-E099CCD7BC60}" type="datetime1">
              <a:rPr lang="zh-CN" altLang="en-US" smtClean="0"/>
              <a:t>2026/05/13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ctr">
              <a:defRPr/>
            </a:lvl1pPr>
          </a:lstStyle>
          <a:p>
            <a:fld id="{15D6CCC0-930F-418E-A4E3-7631211F20B0}" type="slidenum">
              <a:rPr lang="zh-CN" altLang="en-US" smtClean="0"/>
              <a:t>‹#›</a:t>
            </a:fld>
            <a:endParaRPr lang="zh-CN" altLang="en-US" dirty="0"/>
          </a:p>
        </p:txBody>
      </p:sp>
      <p:cxnSp>
        <p:nvCxnSpPr>
          <p:cNvPr id="10" name="直接连接符 9"/>
          <p:cNvCxnSpPr/>
          <p:nvPr userDrawn="1"/>
        </p:nvCxnSpPr>
        <p:spPr>
          <a:xfrm>
            <a:off x="0" y="6539231"/>
            <a:ext cx="9144000" cy="0"/>
          </a:xfrm>
          <a:prstGeom prst="line">
            <a:avLst/>
          </a:prstGeom>
          <a:ln>
            <a:solidFill>
              <a:srgbClr val="13372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A4C652-A981-4EBD-B97F-8231AFF102DC}" type="datetime1">
              <a:rPr lang="zh-CN" altLang="en-US" smtClean="0"/>
              <a:t>2026/05/13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ctr">
              <a:defRPr/>
            </a:lvl1pPr>
          </a:lstStyle>
          <a:p>
            <a:fld id="{15D6CCC0-930F-418E-A4E3-7631211F20B0}" type="slidenum">
              <a:rPr lang="zh-CN" altLang="en-US" smtClean="0"/>
              <a:t>‹#›</a:t>
            </a:fld>
            <a:endParaRPr lang="zh-CN" altLang="en-US" dirty="0"/>
          </a:p>
        </p:txBody>
      </p:sp>
      <p:cxnSp>
        <p:nvCxnSpPr>
          <p:cNvPr id="6" name="直接连接符 5"/>
          <p:cNvCxnSpPr/>
          <p:nvPr userDrawn="1"/>
        </p:nvCxnSpPr>
        <p:spPr>
          <a:xfrm>
            <a:off x="0" y="6539231"/>
            <a:ext cx="9144000" cy="0"/>
          </a:xfrm>
          <a:prstGeom prst="line">
            <a:avLst/>
          </a:prstGeom>
          <a:ln>
            <a:solidFill>
              <a:srgbClr val="13372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D1FA27-12DB-4594-8250-EE0E0666AFEB}" type="datetime1">
              <a:rPr lang="zh-CN" altLang="en-US" smtClean="0"/>
              <a:t>2026/05/13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ctr">
              <a:defRPr/>
            </a:lvl1pPr>
          </a:lstStyle>
          <a:p>
            <a:fld id="{15D6CCC0-930F-418E-A4E3-7631211F20B0}" type="slidenum">
              <a:rPr lang="zh-CN" altLang="en-US" smtClean="0"/>
              <a:t>‹#›</a:t>
            </a:fld>
            <a:endParaRPr lang="zh-CN" altLang="en-US" dirty="0"/>
          </a:p>
        </p:txBody>
      </p:sp>
      <p:cxnSp>
        <p:nvCxnSpPr>
          <p:cNvPr id="9" name="直接连接符 8"/>
          <p:cNvCxnSpPr/>
          <p:nvPr userDrawn="1"/>
        </p:nvCxnSpPr>
        <p:spPr>
          <a:xfrm>
            <a:off x="0" y="6539231"/>
            <a:ext cx="9144000" cy="0"/>
          </a:xfrm>
          <a:prstGeom prst="line">
            <a:avLst/>
          </a:prstGeom>
          <a:ln>
            <a:solidFill>
              <a:srgbClr val="13372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51AC9B-964E-41DF-8B13-73ADCEA276E4}" type="datetime1">
              <a:rPr lang="zh-CN" altLang="en-US" smtClean="0"/>
              <a:t>2026/05/13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ctr">
              <a:defRPr/>
            </a:lvl1pPr>
          </a:lstStyle>
          <a:p>
            <a:fld id="{15D6CCC0-930F-418E-A4E3-7631211F20B0}" type="slidenum">
              <a:rPr lang="zh-CN" altLang="en-US" smtClean="0"/>
              <a:t>‹#›</a:t>
            </a:fld>
            <a:endParaRPr lang="zh-CN" altLang="en-US" dirty="0"/>
          </a:p>
        </p:txBody>
      </p:sp>
      <p:cxnSp>
        <p:nvCxnSpPr>
          <p:cNvPr id="8" name="直接连接符 7"/>
          <p:cNvCxnSpPr/>
          <p:nvPr userDrawn="1"/>
        </p:nvCxnSpPr>
        <p:spPr>
          <a:xfrm>
            <a:off x="0" y="6539231"/>
            <a:ext cx="9144000" cy="0"/>
          </a:xfrm>
          <a:prstGeom prst="line">
            <a:avLst/>
          </a:prstGeom>
          <a:ln>
            <a:solidFill>
              <a:srgbClr val="13372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0" y="0"/>
            <a:ext cx="9144000" cy="944879"/>
          </a:xfrm>
          <a:prstGeom prst="rect">
            <a:avLst/>
          </a:prstGeom>
          <a:solidFill>
            <a:srgbClr val="133727"/>
          </a:solidFill>
          <a:ln>
            <a:solidFill>
              <a:srgbClr val="13372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2B8849-B68B-4D16-A83D-66262A0C31A9}" type="datetime1">
              <a:rPr lang="zh-CN" altLang="en-US" smtClean="0"/>
              <a:t>2026/05/13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ctr">
              <a:defRPr/>
            </a:lvl1pPr>
          </a:lstStyle>
          <a:p>
            <a:fld id="{15D6CCC0-930F-418E-A4E3-7631211F20B0}" type="slidenum">
              <a:rPr lang="zh-CN" altLang="en-US" smtClean="0"/>
              <a:t>‹#›</a:t>
            </a:fld>
            <a:endParaRPr lang="zh-CN" altLang="en-US" dirty="0"/>
          </a:p>
        </p:txBody>
      </p:sp>
      <p:cxnSp>
        <p:nvCxnSpPr>
          <p:cNvPr id="9" name="直接连接符 8"/>
          <p:cNvCxnSpPr/>
          <p:nvPr userDrawn="1"/>
        </p:nvCxnSpPr>
        <p:spPr>
          <a:xfrm>
            <a:off x="0" y="6539231"/>
            <a:ext cx="9144000" cy="0"/>
          </a:xfrm>
          <a:prstGeom prst="line">
            <a:avLst/>
          </a:prstGeom>
          <a:ln>
            <a:solidFill>
              <a:srgbClr val="13372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642E21-9990-494D-8D2A-9B1911F55239}" type="datetime1">
              <a:rPr lang="zh-CN" altLang="en-US" smtClean="0"/>
              <a:t>2026/05/13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ctr">
              <a:defRPr/>
            </a:lvl1pPr>
          </a:lstStyle>
          <a:p>
            <a:fld id="{15D6CCC0-930F-418E-A4E3-7631211F20B0}" type="slidenum">
              <a:rPr lang="zh-CN" altLang="en-US" smtClean="0"/>
              <a:t>‹#›</a:t>
            </a:fld>
            <a:endParaRPr lang="zh-CN" altLang="en-US" dirty="0"/>
          </a:p>
        </p:txBody>
      </p:sp>
      <p:cxnSp>
        <p:nvCxnSpPr>
          <p:cNvPr id="7" name="直接连接符 6"/>
          <p:cNvCxnSpPr/>
          <p:nvPr userDrawn="1"/>
        </p:nvCxnSpPr>
        <p:spPr>
          <a:xfrm>
            <a:off x="0" y="6539231"/>
            <a:ext cx="9144000" cy="0"/>
          </a:xfrm>
          <a:prstGeom prst="line">
            <a:avLst/>
          </a:prstGeom>
          <a:ln>
            <a:solidFill>
              <a:srgbClr val="13372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jpe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35610" y="162559"/>
            <a:ext cx="8271510" cy="61976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zh-CN" altLang="en-US" dirty="0"/>
              <a:t>单击此处编辑母版标题样式</a:t>
            </a:r>
            <a:r>
              <a:rPr lang="en-US" altLang="zh-CN" dirty="0"/>
              <a:t>ABC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35610" y="1107438"/>
            <a:ext cx="8271510" cy="50695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r>
              <a:rPr lang="en-US" altLang="zh-CN" dirty="0"/>
              <a:t>ABC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r>
              <a:rPr lang="en-US" altLang="zh-CN" dirty="0"/>
              <a:t>ABC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r>
              <a:rPr lang="en-US" altLang="zh-CN" dirty="0"/>
              <a:t>ABC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r>
              <a:rPr lang="en-US" altLang="zh-CN" dirty="0"/>
              <a:t>ABC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r>
              <a:rPr lang="en-US" altLang="zh-CN" dirty="0"/>
              <a:t>ABC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701170" y="6563236"/>
            <a:ext cx="1623600" cy="270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7E6875A-C419-42F7-9166-A5E3EA936ACF}" type="datetime1">
              <a:rPr lang="zh-CN" altLang="en-US" smtClean="0"/>
              <a:t>2026/05/13</a:t>
            </a:fld>
            <a:endParaRPr lang="zh-CN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7960" y="6563236"/>
            <a:ext cx="1623600" cy="270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119565" y="6560440"/>
            <a:ext cx="903600" cy="26987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algn="ctr"/>
            <a:fld id="{15D6CCC0-930F-418E-A4E3-7631211F20B0}" type="slidenum">
              <a:rPr lang="zh-CN" altLang="en-US" smtClean="0"/>
              <a:t>‹#›</a:t>
            </a:fld>
            <a:endParaRPr lang="zh-CN" altLang="en-US" dirty="0"/>
          </a:p>
        </p:txBody>
      </p:sp>
      <p:pic>
        <p:nvPicPr>
          <p:cNvPr id="9" name="图片 8"/>
          <p:cNvPicPr>
            <a:picLocks noChangeAspect="1"/>
          </p:cNvPicPr>
          <p:nvPr userDrawn="1"/>
        </p:nvPicPr>
        <p:blipFill rotWithShape="1"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989" b="24710"/>
          <a:stretch>
            <a:fillRect/>
          </a:stretch>
        </p:blipFill>
        <p:spPr>
          <a:xfrm>
            <a:off x="8001000" y="6560440"/>
            <a:ext cx="1035781" cy="270861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 userDrawn="1"/>
        </p:nvPicPr>
        <p:blipFill rotWithShape="1"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06" t="16371"/>
          <a:stretch>
            <a:fillRect/>
          </a:stretch>
        </p:blipFill>
        <p:spPr>
          <a:xfrm>
            <a:off x="121404" y="6561019"/>
            <a:ext cx="2043192" cy="269297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kern="1200">
          <a:solidFill>
            <a:schemeClr val="bg1"/>
          </a:solidFill>
          <a:latin typeface="黑体" panose="02010609060101010101" pitchFamily="49" charset="-122"/>
          <a:ea typeface="黑体" panose="02010609060101010101" pitchFamily="49" charset="-122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600"/>
        </a:spcBef>
        <a:buFontTx/>
        <a:buBlip>
          <a:blip r:embed="rId15"/>
        </a:buBlip>
        <a:defRPr sz="2400" kern="1200" baseline="0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buClr>
          <a:srgbClr val="181E5E"/>
        </a:buClr>
        <a:buFont typeface="Calibri" panose="020F0502020204030204" pitchFamily="34" charset="0"/>
        <a:buChar char="▪"/>
        <a:defRPr sz="2000" kern="1200" baseline="0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buClr>
          <a:srgbClr val="133727"/>
        </a:buClr>
        <a:buFont typeface="Arial" panose="020B0604020202020204" pitchFamily="34" charset="0"/>
        <a:buChar char="•"/>
        <a:defRPr sz="1800" kern="1200" baseline="0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Font typeface="Calibri" panose="020F0502020204030204" pitchFamily="34" charset="0"/>
        <a:buChar char="‐"/>
        <a:defRPr sz="1800" kern="1200" baseline="0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800" kern="1200" baseline="0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sz="4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数字信号处理实验二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2867774" y="4036243"/>
            <a:ext cx="3408452" cy="1655762"/>
          </a:xfrm>
        </p:spPr>
        <p:txBody>
          <a:bodyPr/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电子与通信工程学院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实验目的</a:t>
            </a:r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435609" y="1107438"/>
            <a:ext cx="8408353" cy="5069525"/>
          </a:xfrm>
        </p:spPr>
        <p:txBody>
          <a:bodyPr>
            <a:noAutofit/>
          </a:bodyPr>
          <a:lstStyle/>
          <a:p>
            <a:pPr>
              <a:lnSpc>
                <a:spcPct val="200000"/>
              </a:lnSpc>
            </a:pPr>
            <a:r>
              <a:rPr lang="zh-CN" altLang="en-US" sz="2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通过实验进一步理解卷积定理，了解</a:t>
            </a:r>
            <a:r>
              <a:rPr lang="zh-CN" altLang="en-US" sz="26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卷积</a:t>
            </a:r>
            <a:r>
              <a:rPr lang="zh-CN" altLang="en-US" sz="2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的过程</a:t>
            </a:r>
          </a:p>
          <a:p>
            <a:pPr>
              <a:lnSpc>
                <a:spcPct val="200000"/>
              </a:lnSpc>
            </a:pPr>
            <a:r>
              <a:rPr lang="zh-CN" altLang="en-US" sz="2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加深对离散系统变换域分析</a:t>
            </a:r>
            <a:r>
              <a:rPr lang="en-US" altLang="zh-CN" sz="2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—</a:t>
            </a:r>
            <a:r>
              <a:rPr lang="en-US" altLang="zh-CN" sz="26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Z</a:t>
            </a:r>
            <a:r>
              <a:rPr lang="zh-CN" altLang="en-US" sz="26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变换</a:t>
            </a:r>
            <a:r>
              <a:rPr lang="zh-CN" altLang="en-US" sz="2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的理解</a:t>
            </a:r>
          </a:p>
          <a:p>
            <a:pPr>
              <a:lnSpc>
                <a:spcPct val="200000"/>
              </a:lnSpc>
            </a:pPr>
            <a:r>
              <a:rPr lang="zh-CN" altLang="en-US" sz="2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掌握进行</a:t>
            </a:r>
            <a:r>
              <a:rPr lang="en-US" altLang="zh-CN" sz="2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Z</a:t>
            </a:r>
            <a:r>
              <a:rPr lang="zh-CN" altLang="en-US" sz="2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变换和</a:t>
            </a:r>
            <a:r>
              <a:rPr lang="en-US" altLang="zh-CN" sz="2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Z</a:t>
            </a:r>
            <a:r>
              <a:rPr lang="zh-CN" altLang="en-US" sz="2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反变换的基本方法，了解</a:t>
            </a:r>
            <a:r>
              <a:rPr lang="zh-CN" altLang="en-US" sz="26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部分分式法</a:t>
            </a:r>
            <a:r>
              <a:rPr lang="zh-CN" altLang="en-US" sz="2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在</a:t>
            </a:r>
            <a:r>
              <a:rPr lang="en-US" altLang="zh-CN" sz="2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Z</a:t>
            </a:r>
            <a:r>
              <a:rPr lang="zh-CN" altLang="en-US" sz="2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反变换中的应用</a:t>
            </a:r>
            <a:endParaRPr lang="en-US" altLang="zh-CN" sz="2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200000"/>
              </a:lnSpc>
            </a:pPr>
            <a:r>
              <a:rPr lang="zh-CN" altLang="en-US" sz="2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掌握</a:t>
            </a:r>
            <a:r>
              <a:rPr lang="en-US" altLang="zh-CN" sz="2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MATLAB</a:t>
            </a:r>
            <a:r>
              <a:rPr lang="zh-CN" altLang="en-US" sz="2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求解</a:t>
            </a:r>
            <a:r>
              <a:rPr lang="zh-CN" altLang="en-US" sz="26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离散系统零极点特性、频率响应、幅频</a:t>
            </a:r>
            <a:r>
              <a:rPr lang="en-US" altLang="zh-CN" sz="26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26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相频响应、群延时，以及滤波特性</a:t>
            </a:r>
            <a:r>
              <a:rPr lang="zh-CN" altLang="en-US" sz="2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的方法</a:t>
            </a:r>
            <a:endParaRPr lang="en-US" altLang="zh-CN" sz="2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内容占位符 5"/>
              <p:cNvSpPr>
                <a:spLocks noGrp="1"/>
              </p:cNvSpPr>
              <p:nvPr>
                <p:ph idx="1"/>
              </p:nvPr>
            </p:nvSpPr>
            <p:spPr>
              <a:xfrm>
                <a:off x="304165" y="967630"/>
                <a:ext cx="8534400" cy="5715000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zh-CN" altLang="en-US" b="1" dirty="0">
                    <a:solidFill>
                      <a:srgbClr val="CC00CC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单位冲击响应是系统对于</a:t>
                </a:r>
                <a14:m>
                  <m:oMath xmlns:m="http://schemas.openxmlformats.org/officeDocument/2006/math">
                    <m:d>
                      <m:dPr>
                        <m:begChr m:val=""/>
                        <m:ctrlPr>
                          <a:rPr lang="zh-CN" altLang="en-US" b="1" i="1">
                            <a:solidFill>
                              <a:srgbClr val="CC00CC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en-US" b="1" i="1">
                            <a:solidFill>
                              <a:srgbClr val="CC00CC"/>
                            </a:solidFill>
                            <a:latin typeface="Cambria Math" panose="02040503050406030204" pitchFamily="18" charset="0"/>
                          </a:rPr>
                          <m:t>𝜹</m:t>
                        </m:r>
                        <m:r>
                          <a:rPr lang="zh-CN" altLang="en-US" b="1">
                            <a:solidFill>
                              <a:srgbClr val="CC00CC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zh-CN" altLang="en-US" b="1" i="1">
                            <a:solidFill>
                              <a:srgbClr val="CC00CC"/>
                            </a:solidFill>
                            <a:latin typeface="Cambria Math" panose="02040503050406030204" pitchFamily="18" charset="0"/>
                          </a:rPr>
                          <m:t>𝒏</m:t>
                        </m:r>
                      </m:e>
                    </m:d>
                  </m:oMath>
                </a14:m>
                <a:r>
                  <a:rPr lang="zh-CN" altLang="en-US" b="1" dirty="0">
                    <a:solidFill>
                      <a:srgbClr val="CC00CC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的零状态响应</a:t>
                </a:r>
                <a:r>
                  <a:rPr lang="zh-CN" altLang="en-US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：</a:t>
                </a:r>
                <a:endParaRPr lang="en-US" altLang="zh-CN" b="1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"/>
                          <m:endChr m:val="]"/>
                          <m:ctrlPr>
                            <a:rPr lang="zh-CN" altLang="en-US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b="1" i="1">
                              <a:latin typeface="Cambria Math" panose="02040503050406030204" pitchFamily="18" charset="0"/>
                            </a:rPr>
                            <m:t>𝒉</m:t>
                          </m:r>
                          <m:r>
                            <a:rPr lang="zh-CN" altLang="en-US" b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zh-CN" altLang="en-US" b="1" i="1">
                              <a:latin typeface="Cambria Math" panose="02040503050406030204" pitchFamily="18" charset="0"/>
                            </a:rPr>
                            <m:t>𝒏</m:t>
                          </m:r>
                          <m:r>
                            <a:rPr lang="zh-CN" altLang="en-US" b="1">
                              <a:latin typeface="Cambria Math" panose="02040503050406030204" pitchFamily="18" charset="0"/>
                            </a:rPr>
                            <m:t>)=</m:t>
                          </m:r>
                          <m:r>
                            <a:rPr lang="zh-CN" altLang="en-US" b="1" i="1">
                              <a:latin typeface="Cambria Math" panose="02040503050406030204" pitchFamily="18" charset="0"/>
                            </a:rPr>
                            <m:t>𝑻</m:t>
                          </m:r>
                          <m:r>
                            <a:rPr lang="zh-CN" altLang="en-US" b="1">
                              <a:latin typeface="Cambria Math" panose="02040503050406030204" pitchFamily="18" charset="0"/>
                            </a:rPr>
                            <m:t>[</m:t>
                          </m:r>
                          <m:r>
                            <a:rPr lang="zh-CN" altLang="en-US" b="1" i="1">
                              <a:latin typeface="Cambria Math" panose="02040503050406030204" pitchFamily="18" charset="0"/>
                            </a:rPr>
                            <m:t>𝜹</m:t>
                          </m:r>
                          <m:r>
                            <a:rPr lang="zh-CN" altLang="en-US" b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zh-CN" altLang="en-US" b="1" i="1">
                              <a:latin typeface="Cambria Math" panose="02040503050406030204" pitchFamily="18" charset="0"/>
                            </a:rPr>
                            <m:t>𝒏</m:t>
                          </m:r>
                          <m:r>
                            <a:rPr lang="zh-CN" altLang="en-US" b="1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d>
                    </m:oMath>
                  </m:oMathPara>
                </a14:m>
                <a:br>
                  <a:rPr lang="en-US" altLang="zh-CN" b="1" dirty="0">
                    <a:latin typeface="黑体" panose="02010609060101010101" pitchFamily="49" charset="-122"/>
                  </a:rPr>
                </a:br>
                <a:endParaRPr lang="en-US" altLang="zh-CN" b="1" dirty="0">
                  <a:latin typeface="黑体" panose="02010609060101010101" pitchFamily="49" charset="-122"/>
                </a:endParaRPr>
              </a:p>
              <a:p>
                <a:pPr marL="0" indent="0">
                  <a:buNone/>
                </a:pPr>
                <a:r>
                  <a:rPr lang="zh-CN" altLang="en-US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设系统输入</a:t>
                </a:r>
                <a14:m>
                  <m:oMath xmlns:m="http://schemas.openxmlformats.org/officeDocument/2006/math">
                    <m:r>
                      <a:rPr lang="zh-CN" altLang="en-US" b="1" i="1">
                        <a:latin typeface="Cambria Math" panose="02040503050406030204" pitchFamily="18" charset="0"/>
                      </a:rPr>
                      <m:t>𝒙</m:t>
                    </m:r>
                    <m:r>
                      <a:rPr lang="zh-CN" altLang="en-US" b="1">
                        <a:latin typeface="Cambria Math" panose="02040503050406030204" pitchFamily="18" charset="0"/>
                      </a:rPr>
                      <m:t>(</m:t>
                    </m:r>
                    <m:r>
                      <a:rPr lang="zh-CN" altLang="en-US" b="1" i="1">
                        <a:latin typeface="Cambria Math" panose="02040503050406030204" pitchFamily="18" charset="0"/>
                      </a:rPr>
                      <m:t>𝒏</m:t>
                    </m:r>
                    <m:r>
                      <a:rPr lang="zh-CN" altLang="en-US" b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用表示，则它可表示为：</a:t>
                </a:r>
                <a:endParaRPr lang="en-US" altLang="zh-CN" b="1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0" indent="0">
                  <a:buNone/>
                </a:pPr>
                <a:r>
                  <a:rPr lang="en-US" altLang="zh-CN" b="1" dirty="0">
                    <a:latin typeface="黑体" panose="02010609060101010101" pitchFamily="49" charset="-122"/>
                  </a:rPr>
                  <a:t>                 </a:t>
                </a:r>
                <a14:m>
                  <m:oMath xmlns:m="http://schemas.openxmlformats.org/officeDocument/2006/math">
                    <m:r>
                      <a:rPr lang="zh-CN" altLang="en-US" b="1" i="1">
                        <a:latin typeface="Cambria Math" panose="02040503050406030204" pitchFamily="18" charset="0"/>
                      </a:rPr>
                      <m:t>𝒙</m:t>
                    </m:r>
                    <m:r>
                      <a:rPr lang="zh-CN" altLang="en-US" b="1">
                        <a:latin typeface="Cambria Math" panose="02040503050406030204" pitchFamily="18" charset="0"/>
                      </a:rPr>
                      <m:t>(</m:t>
                    </m:r>
                    <m:r>
                      <a:rPr lang="zh-CN" altLang="en-US" b="1" i="1">
                        <a:latin typeface="Cambria Math" panose="02040503050406030204" pitchFamily="18" charset="0"/>
                      </a:rPr>
                      <m:t>𝒏</m:t>
                    </m:r>
                    <m:r>
                      <a:rPr lang="zh-CN" altLang="en-US" b="1">
                        <a:latin typeface="Cambria Math" panose="02040503050406030204" pitchFamily="18" charset="0"/>
                      </a:rPr>
                      <m:t>)=</m:t>
                    </m:r>
                    <m:nary>
                      <m:naryPr>
                        <m:chr m:val="∑"/>
                        <m:limLoc m:val="undOvr"/>
                        <m:grow m:val="on"/>
                        <m:ctrlPr>
                          <a:rPr lang="zh-CN" altLang="en-US" b="1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zh-CN" altLang="en-US" b="1" i="1">
                            <a:latin typeface="Cambria Math" panose="02040503050406030204" pitchFamily="18" charset="0"/>
                          </a:rPr>
                          <m:t>𝒎</m:t>
                        </m:r>
                        <m:r>
                          <a:rPr lang="zh-CN" altLang="en-US" b="1">
                            <a:latin typeface="Cambria Math" panose="02040503050406030204" pitchFamily="18" charset="0"/>
                          </a:rPr>
                          <m:t>=−∞</m:t>
                        </m:r>
                      </m:sub>
                      <m:sup>
                        <m:r>
                          <a:rPr lang="zh-CN" altLang="en-US" b="1">
                            <a:latin typeface="Cambria Math" panose="02040503050406030204" pitchFamily="18" charset="0"/>
                          </a:rPr>
                          <m:t>∞</m:t>
                        </m:r>
                      </m:sup>
                      <m:e>
                        <m:d>
                          <m:dPr>
                            <m:begChr m:val=""/>
                            <m:ctrlPr>
                              <a:rPr lang="zh-CN" altLang="en-US" b="1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zh-CN" altLang="en-US" b="1" i="1">
                                <a:latin typeface="Cambria Math" panose="02040503050406030204" pitchFamily="18" charset="0"/>
                              </a:rPr>
                              <m:t>𝒙</m:t>
                            </m:r>
                            <m:r>
                              <a:rPr lang="zh-CN" altLang="en-US" b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zh-CN" altLang="en-US" b="1" i="1">
                                <a:latin typeface="Cambria Math" panose="02040503050406030204" pitchFamily="18" charset="0"/>
                              </a:rPr>
                              <m:t>𝒎</m:t>
                            </m:r>
                            <m:r>
                              <a:rPr lang="zh-CN" altLang="en-US" b="1">
                                <a:latin typeface="Cambria Math" panose="02040503050406030204" pitchFamily="18" charset="0"/>
                              </a:rPr>
                              <m:t>)</m:t>
                            </m:r>
                            <m:r>
                              <a:rPr lang="zh-CN" altLang="en-US" b="1" i="1">
                                <a:latin typeface="Cambria Math" panose="02040503050406030204" pitchFamily="18" charset="0"/>
                              </a:rPr>
                              <m:t>𝜹</m:t>
                            </m:r>
                            <m:r>
                              <a:rPr lang="zh-CN" altLang="en-US" b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zh-CN" altLang="en-US" b="1" i="1">
                                <a:latin typeface="Cambria Math" panose="02040503050406030204" pitchFamily="18" charset="0"/>
                              </a:rPr>
                              <m:t>𝒏</m:t>
                            </m:r>
                            <m:r>
                              <a:rPr lang="zh-CN" altLang="en-US" b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zh-CN" altLang="en-US" b="1" i="1">
                                <a:latin typeface="Cambria Math" panose="02040503050406030204" pitchFamily="18" charset="0"/>
                              </a:rPr>
                              <m:t>𝒎</m:t>
                            </m:r>
                          </m:e>
                        </m:d>
                      </m:e>
                    </m:nary>
                  </m:oMath>
                </a14:m>
                <a:r>
                  <a:rPr lang="en-US" altLang="zh-CN" b="1" dirty="0">
                    <a:latin typeface="黑体" panose="02010609060101010101" pitchFamily="49" charset="-122"/>
                  </a:rPr>
                  <a:t>  </a:t>
                </a:r>
              </a:p>
              <a:p>
                <a:pPr marL="0" indent="0">
                  <a:buNone/>
                </a:pPr>
                <a:r>
                  <a:rPr lang="zh-CN" altLang="en-US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则系统输出为</a:t>
                </a:r>
                <a:endParaRPr lang="en-US" altLang="zh-CN" b="1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a:rPr lang="en-US" altLang="zh-CN" b="1" i="1">
                        <a:latin typeface="Cambria Math" panose="02040503050406030204" pitchFamily="18" charset="0"/>
                      </a:rPr>
                      <m:t>𝐲</m:t>
                    </m:r>
                    <m:r>
                      <a:rPr lang="zh-CN" altLang="en-US" b="1">
                        <a:latin typeface="Cambria Math" panose="02040503050406030204" pitchFamily="18" charset="0"/>
                      </a:rPr>
                      <m:t>(</m:t>
                    </m:r>
                    <m:r>
                      <a:rPr lang="zh-CN" altLang="en-US" b="1" i="1">
                        <a:latin typeface="Cambria Math" panose="02040503050406030204" pitchFamily="18" charset="0"/>
                      </a:rPr>
                      <m:t>𝒏</m:t>
                    </m:r>
                    <m:r>
                      <a:rPr lang="zh-CN" altLang="en-US" b="1">
                        <a:latin typeface="Cambria Math" panose="02040503050406030204" pitchFamily="18" charset="0"/>
                      </a:rPr>
                      <m:t>)=</m:t>
                    </m:r>
                    <m:r>
                      <a:rPr lang="zh-CN" altLang="en-US" b="1" i="1">
                        <a:latin typeface="Cambria Math" panose="02040503050406030204" pitchFamily="18" charset="0"/>
                      </a:rPr>
                      <m:t>𝑻</m:t>
                    </m:r>
                    <m:r>
                      <a:rPr lang="zh-CN" altLang="en-US" b="1">
                        <a:latin typeface="Cambria Math" panose="02040503050406030204" pitchFamily="18" charset="0"/>
                      </a:rPr>
                      <m:t>[</m:t>
                    </m:r>
                    <m:nary>
                      <m:naryPr>
                        <m:chr m:val="∑"/>
                        <m:limLoc m:val="undOvr"/>
                        <m:grow m:val="on"/>
                        <m:ctrlPr>
                          <a:rPr lang="zh-CN" altLang="en-US" b="1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zh-CN" altLang="en-US" b="1" i="1">
                            <a:latin typeface="Cambria Math" panose="02040503050406030204" pitchFamily="18" charset="0"/>
                          </a:rPr>
                          <m:t>𝒎</m:t>
                        </m:r>
                        <m:r>
                          <a:rPr lang="zh-CN" altLang="en-US" b="1">
                            <a:latin typeface="Cambria Math" panose="02040503050406030204" pitchFamily="18" charset="0"/>
                          </a:rPr>
                          <m:t>=−∞</m:t>
                        </m:r>
                      </m:sub>
                      <m:sup>
                        <m:r>
                          <a:rPr lang="zh-CN" altLang="en-US" b="1">
                            <a:latin typeface="Cambria Math" panose="02040503050406030204" pitchFamily="18" charset="0"/>
                          </a:rPr>
                          <m:t>∞</m:t>
                        </m:r>
                      </m:sup>
                      <m:e>
                        <m:d>
                          <m:dPr>
                            <m:begChr m:val=""/>
                            <m:ctrlPr>
                              <a:rPr lang="zh-CN" altLang="en-US" b="1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zh-CN" altLang="en-US" b="1" i="1">
                                <a:latin typeface="Cambria Math" panose="02040503050406030204" pitchFamily="18" charset="0"/>
                              </a:rPr>
                              <m:t>𝒙</m:t>
                            </m:r>
                            <m:r>
                              <a:rPr lang="zh-CN" altLang="en-US" b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zh-CN" altLang="en-US" b="1" i="1">
                                <a:latin typeface="Cambria Math" panose="02040503050406030204" pitchFamily="18" charset="0"/>
                              </a:rPr>
                              <m:t>𝒎</m:t>
                            </m:r>
                            <m:r>
                              <a:rPr lang="zh-CN" altLang="en-US" b="1">
                                <a:latin typeface="Cambria Math" panose="02040503050406030204" pitchFamily="18" charset="0"/>
                              </a:rPr>
                              <m:t>)</m:t>
                            </m:r>
                            <m:r>
                              <a:rPr lang="zh-CN" altLang="en-US" b="1" i="1">
                                <a:latin typeface="Cambria Math" panose="02040503050406030204" pitchFamily="18" charset="0"/>
                              </a:rPr>
                              <m:t>𝜹</m:t>
                            </m:r>
                            <m:r>
                              <a:rPr lang="zh-CN" altLang="en-US" b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zh-CN" altLang="en-US" b="1" i="1">
                                <a:latin typeface="Cambria Math" panose="02040503050406030204" pitchFamily="18" charset="0"/>
                              </a:rPr>
                              <m:t>𝒏</m:t>
                            </m:r>
                            <m:r>
                              <a:rPr lang="zh-CN" altLang="en-US" b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zh-CN" altLang="en-US" b="1" i="1">
                                <a:latin typeface="Cambria Math" panose="02040503050406030204" pitchFamily="18" charset="0"/>
                              </a:rPr>
                              <m:t>𝒎</m:t>
                            </m:r>
                          </m:e>
                        </m:d>
                      </m:e>
                    </m:nary>
                  </m:oMath>
                </a14:m>
                <a:r>
                  <a:rPr lang="en-US" altLang="zh-CN" b="1" dirty="0">
                    <a:latin typeface="黑体" panose="02010609060101010101" pitchFamily="49" charset="-122"/>
                  </a:rPr>
                  <a:t>]</a:t>
                </a:r>
                <a:r>
                  <a:rPr lang="zh-CN" altLang="en-US" b="1" dirty="0">
                    <a:latin typeface="黑体" panose="02010609060101010101" pitchFamily="49" charset="-122"/>
                  </a:rPr>
                  <a:t> </a:t>
                </a:r>
              </a:p>
              <a:p>
                <a:pPr marL="0" indent="0">
                  <a:buNone/>
                </a:pPr>
                <a:r>
                  <a:rPr lang="zh-CN" altLang="en-US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根据线性叠加的性质和移不变性</a:t>
                </a:r>
                <a:endParaRPr lang="en-US" altLang="zh-CN" b="1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altLang="zh-CN" b="1" i="1">
                        <a:latin typeface="Cambria Math" panose="02040503050406030204" pitchFamily="18" charset="0"/>
                      </a:rPr>
                      <m:t>𝐲</m:t>
                    </m:r>
                    <m:r>
                      <a:rPr lang="zh-CN" altLang="en-US" b="1">
                        <a:latin typeface="Cambria Math" panose="02040503050406030204" pitchFamily="18" charset="0"/>
                      </a:rPr>
                      <m:t>(</m:t>
                    </m:r>
                    <m:r>
                      <a:rPr lang="zh-CN" altLang="en-US" b="1" i="1">
                        <a:latin typeface="Cambria Math" panose="02040503050406030204" pitchFamily="18" charset="0"/>
                      </a:rPr>
                      <m:t>𝒏</m:t>
                    </m:r>
                    <m:r>
                      <a:rPr lang="zh-CN" altLang="en-US" b="1">
                        <a:latin typeface="Cambria Math" panose="02040503050406030204" pitchFamily="18" charset="0"/>
                      </a:rPr>
                      <m:t>)=</m:t>
                    </m:r>
                    <m:nary>
                      <m:naryPr>
                        <m:chr m:val="∑"/>
                        <m:limLoc m:val="undOvr"/>
                        <m:grow m:val="on"/>
                        <m:ctrlPr>
                          <a:rPr lang="zh-CN" altLang="en-US" b="1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zh-CN" altLang="en-US" b="1" i="1">
                            <a:latin typeface="Cambria Math" panose="02040503050406030204" pitchFamily="18" charset="0"/>
                          </a:rPr>
                          <m:t>𝒎</m:t>
                        </m:r>
                        <m:r>
                          <a:rPr lang="zh-CN" altLang="en-US" b="1">
                            <a:latin typeface="Cambria Math" panose="02040503050406030204" pitchFamily="18" charset="0"/>
                          </a:rPr>
                          <m:t>=−∞</m:t>
                        </m:r>
                      </m:sub>
                      <m:sup>
                        <m:r>
                          <a:rPr lang="zh-CN" altLang="en-US" b="1">
                            <a:latin typeface="Cambria Math" panose="02040503050406030204" pitchFamily="18" charset="0"/>
                          </a:rPr>
                          <m:t>∞</m:t>
                        </m:r>
                      </m:sup>
                      <m:e>
                        <m:d>
                          <m:dPr>
                            <m:begChr m:val=""/>
                            <m:ctrlPr>
                              <a:rPr lang="zh-CN" altLang="en-US" b="1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zh-CN" altLang="en-US" b="1" i="1">
                                <a:latin typeface="Cambria Math" panose="02040503050406030204" pitchFamily="18" charset="0"/>
                              </a:rPr>
                              <m:t>𝒙</m:t>
                            </m:r>
                            <m:r>
                              <a:rPr lang="zh-CN" altLang="en-US" b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zh-CN" altLang="en-US" b="1" i="1">
                                <a:latin typeface="Cambria Math" panose="02040503050406030204" pitchFamily="18" charset="0"/>
                              </a:rPr>
                              <m:t>𝒎</m:t>
                            </m:r>
                            <m:r>
                              <a:rPr lang="zh-CN" altLang="en-US" b="1">
                                <a:latin typeface="Cambria Math" panose="02040503050406030204" pitchFamily="18" charset="0"/>
                              </a:rPr>
                              <m:t>)</m:t>
                            </m:r>
                            <m:r>
                              <a:rPr lang="zh-CN" altLang="en-US" b="1" i="1">
                                <a:latin typeface="Cambria Math" panose="02040503050406030204" pitchFamily="18" charset="0"/>
                              </a:rPr>
                              <m:t>𝑻</m:t>
                            </m:r>
                            <m:r>
                              <a:rPr lang="zh-CN" altLang="en-US" b="1">
                                <a:latin typeface="Cambria Math" panose="02040503050406030204" pitchFamily="18" charset="0"/>
                              </a:rPr>
                              <m:t>[</m:t>
                            </m:r>
                            <m:r>
                              <a:rPr lang="zh-CN" altLang="en-US" b="1" i="1">
                                <a:latin typeface="Cambria Math" panose="02040503050406030204" pitchFamily="18" charset="0"/>
                              </a:rPr>
                              <m:t>𝜹</m:t>
                            </m:r>
                            <m:r>
                              <a:rPr lang="zh-CN" altLang="en-US" b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zh-CN" altLang="en-US" b="1" i="1">
                                <a:latin typeface="Cambria Math" panose="02040503050406030204" pitchFamily="18" charset="0"/>
                              </a:rPr>
                              <m:t>𝒏</m:t>
                            </m:r>
                            <m:r>
                              <a:rPr lang="zh-CN" altLang="en-US" b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zh-CN" altLang="en-US" b="1" i="1">
                                <a:latin typeface="Cambria Math" panose="02040503050406030204" pitchFamily="18" charset="0"/>
                              </a:rPr>
                              <m:t>𝒎</m:t>
                            </m:r>
                          </m:e>
                        </m:d>
                      </m:e>
                    </m:nary>
                  </m:oMath>
                </a14:m>
                <a:r>
                  <a:rPr lang="en-US" altLang="zh-CN" b="1" dirty="0">
                    <a:latin typeface="黑体" panose="02010609060101010101" pitchFamily="49" charset="-122"/>
                  </a:rPr>
                  <a:t>]=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grow m:val="on"/>
                        <m:ctrlPr>
                          <a:rPr lang="zh-CN" altLang="en-US" b="1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zh-CN" altLang="en-US" b="1" i="1">
                            <a:latin typeface="Cambria Math" panose="02040503050406030204" pitchFamily="18" charset="0"/>
                          </a:rPr>
                          <m:t>𝒎</m:t>
                        </m:r>
                        <m:r>
                          <a:rPr lang="zh-CN" altLang="en-US" b="1">
                            <a:latin typeface="Cambria Math" panose="02040503050406030204" pitchFamily="18" charset="0"/>
                          </a:rPr>
                          <m:t>=−∞</m:t>
                        </m:r>
                      </m:sub>
                      <m:sup>
                        <m:r>
                          <a:rPr lang="zh-CN" altLang="en-US" b="1">
                            <a:latin typeface="Cambria Math" panose="02040503050406030204" pitchFamily="18" charset="0"/>
                          </a:rPr>
                          <m:t>∞</m:t>
                        </m:r>
                      </m:sup>
                      <m:e>
                        <m:d>
                          <m:dPr>
                            <m:begChr m:val=""/>
                            <m:ctrlPr>
                              <a:rPr lang="zh-CN" altLang="en-US" b="1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zh-CN" altLang="en-US" b="1" i="1">
                                <a:latin typeface="Cambria Math" panose="02040503050406030204" pitchFamily="18" charset="0"/>
                              </a:rPr>
                              <m:t>𝒙</m:t>
                            </m:r>
                            <m:r>
                              <a:rPr lang="zh-CN" altLang="en-US" b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zh-CN" altLang="en-US" b="1" i="1">
                                <a:latin typeface="Cambria Math" panose="02040503050406030204" pitchFamily="18" charset="0"/>
                              </a:rPr>
                              <m:t>𝒎</m:t>
                            </m:r>
                            <m:r>
                              <a:rPr lang="zh-CN" altLang="en-US" b="1">
                                <a:latin typeface="Cambria Math" panose="02040503050406030204" pitchFamily="18" charset="0"/>
                              </a:rPr>
                              <m:t>)</m:t>
                            </m:r>
                            <m:r>
                              <a:rPr lang="en-US" altLang="zh-CN" b="1" i="1">
                                <a:latin typeface="Cambria Math" panose="02040503050406030204" pitchFamily="18" charset="0"/>
                              </a:rPr>
                              <m:t>𝒉</m:t>
                            </m:r>
                            <m:r>
                              <a:rPr lang="zh-CN" altLang="en-US" b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zh-CN" altLang="en-US" b="1" i="1">
                                <a:latin typeface="Cambria Math" panose="02040503050406030204" pitchFamily="18" charset="0"/>
                              </a:rPr>
                              <m:t>𝒏</m:t>
                            </m:r>
                            <m:r>
                              <a:rPr lang="zh-CN" altLang="en-US" b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zh-CN" altLang="en-US" b="1" i="1">
                                <a:latin typeface="Cambria Math" panose="02040503050406030204" pitchFamily="18" charset="0"/>
                              </a:rPr>
                              <m:t>𝒎</m:t>
                            </m:r>
                          </m:e>
                        </m:d>
                      </m:e>
                    </m:nary>
                  </m:oMath>
                </a14:m>
                <a:endParaRPr lang="en-US" altLang="zh-CN" b="1" dirty="0">
                  <a:latin typeface="黑体" panose="02010609060101010101" pitchFamily="49" charset="-122"/>
                </a:endParaRPr>
              </a:p>
              <a:p>
                <a:pPr marL="0" indent="0">
                  <a:buNone/>
                </a:pPr>
                <a:r>
                  <a:rPr lang="zh-CN" altLang="en-US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上式为卷积</a:t>
                </a:r>
                <a14:m>
                  <m:oMath xmlns:m="http://schemas.openxmlformats.org/officeDocument/2006/math">
                    <m:r>
                      <a:rPr lang="en-US" altLang="zh-CN" b="1" i="1">
                        <a:latin typeface="Cambria Math" panose="02040503050406030204" pitchFamily="18" charset="0"/>
                      </a:rPr>
                      <m:t>                  </m:t>
                    </m:r>
                    <m:r>
                      <a:rPr lang="en-US" altLang="zh-CN" b="1" i="1">
                        <a:latin typeface="Cambria Math" panose="02040503050406030204" pitchFamily="18" charset="0"/>
                      </a:rPr>
                      <m:t>𝐲</m:t>
                    </m:r>
                    <m:r>
                      <a:rPr lang="zh-CN" altLang="en-US" b="1">
                        <a:latin typeface="Cambria Math" panose="02040503050406030204" pitchFamily="18" charset="0"/>
                      </a:rPr>
                      <m:t>(</m:t>
                    </m:r>
                    <m:r>
                      <a:rPr lang="zh-CN" altLang="en-US" b="1" i="1">
                        <a:latin typeface="Cambria Math" panose="02040503050406030204" pitchFamily="18" charset="0"/>
                      </a:rPr>
                      <m:t>𝒏</m:t>
                    </m:r>
                    <m:r>
                      <a:rPr lang="zh-CN" altLang="en-US" b="1">
                        <a:latin typeface="Cambria Math" panose="02040503050406030204" pitchFamily="18" charset="0"/>
                      </a:rPr>
                      <m:t>)=</m:t>
                    </m:r>
                    <m:d>
                      <m:dPr>
                        <m:begChr m:val=""/>
                        <m:ctrlPr>
                          <a:rPr lang="zh-CN" altLang="en-US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en-US" b="1" i="1">
                            <a:latin typeface="Cambria Math" panose="02040503050406030204" pitchFamily="18" charset="0"/>
                          </a:rPr>
                          <m:t>𝒙</m:t>
                        </m:r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𝒏</m:t>
                        </m:r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a:rPr lang="en-US" altLang="zh-CN" b="1" i="0" smtClean="0">
                            <a:latin typeface="Cambria Math" panose="02040503050406030204" pitchFamily="18" charset="0"/>
                          </a:rPr>
                          <m:t>∗</m:t>
                        </m:r>
                        <m:r>
                          <a:rPr lang="en-US" altLang="zh-CN" b="1" i="1">
                            <a:latin typeface="Cambria Math" panose="02040503050406030204" pitchFamily="18" charset="0"/>
                          </a:rPr>
                          <m:t>𝒉</m:t>
                        </m:r>
                        <m:r>
                          <a:rPr lang="zh-CN" altLang="en-US" b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zh-CN" altLang="en-US" b="1" i="1">
                            <a:latin typeface="Cambria Math" panose="02040503050406030204" pitchFamily="18" charset="0"/>
                          </a:rPr>
                          <m:t>𝒏</m:t>
                        </m:r>
                      </m:e>
                    </m:d>
                  </m:oMath>
                </a14:m>
                <a:r>
                  <a:rPr lang="en-US" altLang="zh-CN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</a:p>
            </p:txBody>
          </p:sp>
        </mc:Choice>
        <mc:Fallback xmlns="">
          <p:sp>
            <p:nvSpPr>
              <p:cNvPr id="6" name="内容占位符 5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04165" y="967630"/>
                <a:ext cx="8534400" cy="5715000"/>
              </a:xfrm>
              <a:blipFill rotWithShape="1">
                <a:blip r:embed="rId3"/>
                <a:stretch>
                  <a:fillRect t="-9" b="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云形标注 8"/>
          <p:cNvSpPr/>
          <p:nvPr/>
        </p:nvSpPr>
        <p:spPr bwMode="auto">
          <a:xfrm>
            <a:off x="7147440" y="5422857"/>
            <a:ext cx="1559680" cy="935025"/>
          </a:xfrm>
          <a:prstGeom prst="cloudCallout">
            <a:avLst>
              <a:gd name="adj1" fmla="val -121269"/>
              <a:gd name="adj2" fmla="val 38509"/>
            </a:avLst>
          </a:prstGeom>
          <a:solidFill>
            <a:srgbClr val="FFFF00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ctr" anchorCtr="1" compatLnSpc="1"/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zh-CN" altLang="en-US" sz="3200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卷积</a:t>
            </a:r>
            <a:endParaRPr kumimoji="0" lang="zh-CN" altLang="en-US" sz="3200" b="1" i="0" u="none" strike="noStrike" cap="none" normalizeH="0" baseline="0" dirty="0">
              <a:ln>
                <a:noFill/>
              </a:ln>
              <a:solidFill>
                <a:srgbClr val="0000FF"/>
              </a:solidFill>
              <a:effectLst/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7" name="标题 1"/>
          <p:cNvSpPr>
            <a:spLocks noGrp="1"/>
          </p:cNvSpPr>
          <p:nvPr>
            <p:ph type="title"/>
          </p:nvPr>
        </p:nvSpPr>
        <p:spPr>
          <a:xfrm>
            <a:off x="434975" y="161925"/>
            <a:ext cx="8272463" cy="620713"/>
          </a:xfrm>
        </p:spPr>
        <p:txBody>
          <a:bodyPr/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理论基础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内容占位符 5"/>
          <p:cNvSpPr>
            <a:spLocks noGrp="1"/>
          </p:cNvSpPr>
          <p:nvPr>
            <p:ph idx="1"/>
          </p:nvPr>
        </p:nvSpPr>
        <p:spPr>
          <a:xfrm>
            <a:off x="304006" y="1143000"/>
            <a:ext cx="8534400" cy="5715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zh-CN" altLang="en-US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三种求解离散线性时不变系统响应的方法</a:t>
            </a:r>
            <a:endParaRPr lang="en-US" altLang="zh-CN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buNone/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（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1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）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filter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、</a:t>
            </a:r>
            <a:r>
              <a:rPr lang="en-US" altLang="zh-CN" b="1" dirty="0" err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filtic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求任意输入的系统完全响应</a:t>
            </a: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buNone/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（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2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）</a:t>
            </a:r>
            <a:r>
              <a:rPr lang="en-US" altLang="zh-CN" b="1" dirty="0" err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dlsim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求任意输入的系统零状态响应</a:t>
            </a: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buNone/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（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3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）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conv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函数进行卷积积分，求任意输入的系统零状态响应</a:t>
            </a: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buNone/>
            </a:pP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conv: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进行两个序列间的卷积运算</a:t>
            </a: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buNone/>
            </a:pP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x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h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的长度分别为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M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，那么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y=conv(</a:t>
            </a:r>
            <a:r>
              <a:rPr lang="en-US" altLang="zh-CN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x,h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),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输出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y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的长度为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M+N-1</a:t>
            </a:r>
          </a:p>
          <a:p>
            <a:pPr marL="0" indent="0">
              <a:buNone/>
            </a:pPr>
            <a:r>
              <a:rPr lang="zh-CN" altLang="en-US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注意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conv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默认两个信号的时间序列从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n=0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开始</a:t>
            </a: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buNone/>
            </a:pPr>
            <a:endParaRPr lang="en-US" altLang="zh-CN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buNone/>
            </a:pPr>
            <a:endParaRPr lang="en-US" altLang="zh-CN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buNone/>
            </a:pPr>
            <a:endParaRPr lang="en-US" altLang="zh-CN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buNone/>
            </a:pPr>
            <a:endParaRPr lang="en-US" altLang="zh-CN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标题 1"/>
          <p:cNvSpPr>
            <a:spLocks noGrp="1"/>
          </p:cNvSpPr>
          <p:nvPr>
            <p:ph type="title"/>
          </p:nvPr>
        </p:nvSpPr>
        <p:spPr>
          <a:xfrm>
            <a:off x="434975" y="161925"/>
            <a:ext cx="8272463" cy="620713"/>
          </a:xfrm>
        </p:spPr>
        <p:txBody>
          <a:bodyPr/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理论基础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卷积函数</a:t>
            </a:r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435610" y="1107441"/>
            <a:ext cx="8271510" cy="1975344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conv: 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返回两个输入序列的卷积</a:t>
            </a: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buNone/>
            </a:pP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输入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x(n)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的非零值范围（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N1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N2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），输入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h(n)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的非零值范围（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M1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M2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）；则输出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y(n)=conv(x(n),h(n))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的非零取值范围为（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N1+M1,N2+M2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）。</a:t>
            </a:r>
            <a:endParaRPr lang="en-US" altLang="zh-CN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buNone/>
            </a:pPr>
            <a:endParaRPr lang="en-US" altLang="zh-CN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6" name="文本框 45"/>
              <p:cNvSpPr txBox="1"/>
              <p:nvPr/>
            </p:nvSpPr>
            <p:spPr>
              <a:xfrm>
                <a:off x="454025" y="5428244"/>
                <a:ext cx="3425825" cy="84747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1" i="1" smtClean="0">
                          <a:latin typeface="Cambria Math" panose="02040503050406030204" pitchFamily="18" charset="0"/>
                        </a:rPr>
                        <m:t>𝐲</m:t>
                      </m:r>
                      <m:r>
                        <a:rPr lang="zh-CN" altLang="en-US" b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b="1" i="1">
                          <a:latin typeface="Cambria Math" panose="02040503050406030204" pitchFamily="18" charset="0"/>
                        </a:rPr>
                        <m:t>𝒏</m:t>
                      </m:r>
                      <m:r>
                        <a:rPr lang="zh-CN" altLang="en-US" b="1">
                          <a:latin typeface="Cambria Math" panose="02040503050406030204" pitchFamily="18" charset="0"/>
                        </a:rPr>
                        <m:t>)=</m:t>
                      </m:r>
                      <m:nary>
                        <m:naryPr>
                          <m:chr m:val="∑"/>
                          <m:limLoc m:val="undOvr"/>
                          <m:grow m:val="on"/>
                          <m:ctrlPr>
                            <a:rPr lang="zh-CN" altLang="en-US" b="1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b="1" i="1">
                              <a:latin typeface="Cambria Math" panose="02040503050406030204" pitchFamily="18" charset="0"/>
                            </a:rPr>
                            <m:t>𝒎</m:t>
                          </m:r>
                          <m:r>
                            <a:rPr lang="zh-CN" altLang="en-US" b="1">
                              <a:latin typeface="Cambria Math" panose="02040503050406030204" pitchFamily="18" charset="0"/>
                            </a:rPr>
                            <m:t>=−∞</m:t>
                          </m:r>
                        </m:sub>
                        <m:sup>
                          <m:r>
                            <a:rPr lang="zh-CN" altLang="en-US" b="1"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d>
                            <m:dPr>
                              <m:begChr m:val=""/>
                              <m:ctrlPr>
                                <a:rPr lang="zh-CN" altLang="en-US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CN" altLang="en-US" b="1" i="1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  <m:r>
                                <a:rPr lang="zh-CN" altLang="en-US" b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zh-CN" altLang="en-US" b="1" i="1">
                                  <a:latin typeface="Cambria Math" panose="02040503050406030204" pitchFamily="18" charset="0"/>
                                </a:rPr>
                                <m:t>𝒎</m:t>
                              </m:r>
                              <m:r>
                                <a:rPr lang="zh-CN" altLang="en-US" b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  <m:r>
                                <a:rPr lang="en-US" altLang="zh-CN" b="1" i="1">
                                  <a:latin typeface="Cambria Math" panose="02040503050406030204" pitchFamily="18" charset="0"/>
                                </a:rPr>
                                <m:t>𝒉</m:t>
                              </m:r>
                              <m:r>
                                <a:rPr lang="zh-CN" altLang="en-US" b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zh-CN" altLang="en-US" b="1" i="1"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  <m:r>
                                <a:rPr lang="zh-CN" altLang="en-US" b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zh-CN" altLang="en-US" b="1" i="1">
                                  <a:latin typeface="Cambria Math" panose="02040503050406030204" pitchFamily="18" charset="0"/>
                                </a:rPr>
                                <m:t>𝒎</m:t>
                              </m:r>
                            </m:e>
                          </m:d>
                        </m:e>
                      </m:nary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46" name="文本框 4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4025" y="5428244"/>
                <a:ext cx="3425825" cy="847476"/>
              </a:xfrm>
              <a:prstGeom prst="rect">
                <a:avLst/>
              </a:prstGeom>
              <a:blipFill rotWithShape="1">
                <a:blip r:embed="rId3"/>
                <a:stretch>
                  <a:fillRect t="-31" b="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5" name="文本框 44"/>
          <p:cNvSpPr txBox="1"/>
          <p:nvPr/>
        </p:nvSpPr>
        <p:spPr>
          <a:xfrm>
            <a:off x="3719693" y="5113318"/>
            <a:ext cx="522759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zh-CN" altLang="en-US" dirty="0"/>
              <a:t>当</a:t>
            </a:r>
            <a:r>
              <a:rPr lang="en-US" altLang="zh-CN" dirty="0"/>
              <a:t>h(-m)</a:t>
            </a:r>
            <a:r>
              <a:rPr lang="zh-CN" altLang="en-US" dirty="0"/>
              <a:t>往右移动</a:t>
            </a:r>
            <a:r>
              <a:rPr lang="en-US" altLang="zh-CN" dirty="0"/>
              <a:t>N1-</a:t>
            </a:r>
            <a:r>
              <a:rPr lang="zh-CN" altLang="en-US" dirty="0"/>
              <a:t>（</a:t>
            </a:r>
            <a:r>
              <a:rPr lang="en-US" altLang="zh-CN" dirty="0"/>
              <a:t>-M1</a:t>
            </a:r>
            <a:r>
              <a:rPr lang="zh-CN" altLang="en-US" dirty="0"/>
              <a:t>）个点，则</a:t>
            </a:r>
            <a:r>
              <a:rPr lang="en-US" altLang="zh-CN" dirty="0"/>
              <a:t>h(n-m)</a:t>
            </a:r>
            <a:r>
              <a:rPr lang="zh-CN" altLang="en-US" dirty="0"/>
              <a:t>右边第一个点和</a:t>
            </a:r>
            <a:r>
              <a:rPr lang="en-US" altLang="zh-CN" dirty="0"/>
              <a:t>x(m)</a:t>
            </a:r>
            <a:r>
              <a:rPr lang="zh-CN" altLang="en-US" dirty="0"/>
              <a:t>的最左边点重合，即</a:t>
            </a:r>
            <a:r>
              <a:rPr lang="en-US" altLang="zh-CN" dirty="0"/>
              <a:t>n=N1+M1</a:t>
            </a:r>
            <a:r>
              <a:rPr lang="zh-CN" altLang="en-US" dirty="0"/>
              <a:t>时，得到第一个非零点输出，当</a:t>
            </a:r>
            <a:r>
              <a:rPr lang="en-US" altLang="zh-CN" dirty="0"/>
              <a:t>n=M2+N2</a:t>
            </a:r>
            <a:r>
              <a:rPr lang="zh-CN" altLang="en-US" dirty="0"/>
              <a:t>时，为最后一个非零点输出。因此</a:t>
            </a:r>
            <a:r>
              <a:rPr lang="en-US" altLang="zh-CN" dirty="0"/>
              <a:t>n</a:t>
            </a:r>
            <a:r>
              <a:rPr lang="zh-CN" altLang="en-US" dirty="0"/>
              <a:t>的取值范围为（</a:t>
            </a:r>
            <a:r>
              <a:rPr lang="en-US" altLang="zh-CN" dirty="0"/>
              <a:t>N1+M1,N2+M2</a:t>
            </a:r>
            <a:r>
              <a:rPr lang="zh-CN" altLang="en-US" dirty="0"/>
              <a:t>）</a:t>
            </a:r>
            <a:r>
              <a:rPr lang="zh-CN" altLang="en-US" sz="1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dirty="0"/>
          </a:p>
        </p:txBody>
      </p:sp>
      <p:grpSp>
        <p:nvGrpSpPr>
          <p:cNvPr id="48" name="组合 47"/>
          <p:cNvGrpSpPr/>
          <p:nvPr/>
        </p:nvGrpSpPr>
        <p:grpSpPr>
          <a:xfrm>
            <a:off x="962977" y="2673357"/>
            <a:ext cx="7216775" cy="2301462"/>
            <a:chOff x="584200" y="3286125"/>
            <a:chExt cx="7216775" cy="2301462"/>
          </a:xfrm>
        </p:grpSpPr>
        <p:cxnSp>
          <p:nvCxnSpPr>
            <p:cNvPr id="4" name="直接箭头连接符 3"/>
            <p:cNvCxnSpPr/>
            <p:nvPr/>
          </p:nvCxnSpPr>
          <p:spPr>
            <a:xfrm>
              <a:off x="584200" y="5014913"/>
              <a:ext cx="7216775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任意多边形: 形状 7"/>
            <p:cNvSpPr/>
            <p:nvPr/>
          </p:nvSpPr>
          <p:spPr>
            <a:xfrm>
              <a:off x="4086225" y="4157662"/>
              <a:ext cx="1628775" cy="342900"/>
            </a:xfrm>
            <a:custGeom>
              <a:avLst/>
              <a:gdLst>
                <a:gd name="connsiteX0" fmla="*/ 0 w 1628775"/>
                <a:gd name="connsiteY0" fmla="*/ 342900 h 342900"/>
                <a:gd name="connsiteX1" fmla="*/ 85725 w 1628775"/>
                <a:gd name="connsiteY1" fmla="*/ 314325 h 342900"/>
                <a:gd name="connsiteX2" fmla="*/ 185737 w 1628775"/>
                <a:gd name="connsiteY2" fmla="*/ 285750 h 342900"/>
                <a:gd name="connsiteX3" fmla="*/ 242887 w 1628775"/>
                <a:gd name="connsiteY3" fmla="*/ 242888 h 342900"/>
                <a:gd name="connsiteX4" fmla="*/ 442912 w 1628775"/>
                <a:gd name="connsiteY4" fmla="*/ 100013 h 342900"/>
                <a:gd name="connsiteX5" fmla="*/ 471487 w 1628775"/>
                <a:gd name="connsiteY5" fmla="*/ 57150 h 342900"/>
                <a:gd name="connsiteX6" fmla="*/ 528637 w 1628775"/>
                <a:gd name="connsiteY6" fmla="*/ 28575 h 342900"/>
                <a:gd name="connsiteX7" fmla="*/ 571500 w 1628775"/>
                <a:gd name="connsiteY7" fmla="*/ 0 h 342900"/>
                <a:gd name="connsiteX8" fmla="*/ 842962 w 1628775"/>
                <a:gd name="connsiteY8" fmla="*/ 42863 h 342900"/>
                <a:gd name="connsiteX9" fmla="*/ 928687 w 1628775"/>
                <a:gd name="connsiteY9" fmla="*/ 100013 h 342900"/>
                <a:gd name="connsiteX10" fmla="*/ 1000125 w 1628775"/>
                <a:gd name="connsiteY10" fmla="*/ 142875 h 342900"/>
                <a:gd name="connsiteX11" fmla="*/ 1085850 w 1628775"/>
                <a:gd name="connsiteY11" fmla="*/ 185738 h 342900"/>
                <a:gd name="connsiteX12" fmla="*/ 1471612 w 1628775"/>
                <a:gd name="connsiteY12" fmla="*/ 200025 h 342900"/>
                <a:gd name="connsiteX13" fmla="*/ 1628775 w 1628775"/>
                <a:gd name="connsiteY13" fmla="*/ 328613 h 3429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628775" h="342900">
                  <a:moveTo>
                    <a:pt x="0" y="342900"/>
                  </a:moveTo>
                  <a:cubicBezTo>
                    <a:pt x="28575" y="333375"/>
                    <a:pt x="56936" y="323183"/>
                    <a:pt x="85725" y="314325"/>
                  </a:cubicBezTo>
                  <a:cubicBezTo>
                    <a:pt x="118863" y="304129"/>
                    <a:pt x="154173" y="300097"/>
                    <a:pt x="185737" y="285750"/>
                  </a:cubicBezTo>
                  <a:cubicBezTo>
                    <a:pt x="207415" y="275896"/>
                    <a:pt x="223309" y="256442"/>
                    <a:pt x="242887" y="242888"/>
                  </a:cubicBezTo>
                  <a:cubicBezTo>
                    <a:pt x="287070" y="212300"/>
                    <a:pt x="396234" y="146691"/>
                    <a:pt x="442912" y="100013"/>
                  </a:cubicBezTo>
                  <a:cubicBezTo>
                    <a:pt x="455054" y="87871"/>
                    <a:pt x="458295" y="68143"/>
                    <a:pt x="471487" y="57150"/>
                  </a:cubicBezTo>
                  <a:cubicBezTo>
                    <a:pt x="487849" y="43515"/>
                    <a:pt x="510145" y="39142"/>
                    <a:pt x="528637" y="28575"/>
                  </a:cubicBezTo>
                  <a:cubicBezTo>
                    <a:pt x="543546" y="20056"/>
                    <a:pt x="557212" y="9525"/>
                    <a:pt x="571500" y="0"/>
                  </a:cubicBezTo>
                  <a:cubicBezTo>
                    <a:pt x="661987" y="14288"/>
                    <a:pt x="754746" y="18162"/>
                    <a:pt x="842962" y="42863"/>
                  </a:cubicBezTo>
                  <a:cubicBezTo>
                    <a:pt x="876033" y="52123"/>
                    <a:pt x="899238" y="82344"/>
                    <a:pt x="928687" y="100013"/>
                  </a:cubicBezTo>
                  <a:cubicBezTo>
                    <a:pt x="952500" y="114300"/>
                    <a:pt x="976576" y="128157"/>
                    <a:pt x="1000125" y="142875"/>
                  </a:cubicBezTo>
                  <a:cubicBezTo>
                    <a:pt x="1027440" y="159947"/>
                    <a:pt x="1051323" y="183436"/>
                    <a:pt x="1085850" y="185738"/>
                  </a:cubicBezTo>
                  <a:cubicBezTo>
                    <a:pt x="1214240" y="194297"/>
                    <a:pt x="1343025" y="195263"/>
                    <a:pt x="1471612" y="200025"/>
                  </a:cubicBezTo>
                  <a:cubicBezTo>
                    <a:pt x="1596561" y="324974"/>
                    <a:pt x="1534796" y="297286"/>
                    <a:pt x="1628775" y="328613"/>
                  </a:cubicBezTo>
                </a:path>
              </a:pathLst>
            </a:cu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2" name="直接箭头连接符 11"/>
            <p:cNvCxnSpPr/>
            <p:nvPr/>
          </p:nvCxnSpPr>
          <p:spPr>
            <a:xfrm flipV="1">
              <a:off x="3600450" y="3286125"/>
              <a:ext cx="0" cy="172878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连接符 13"/>
            <p:cNvCxnSpPr/>
            <p:nvPr/>
          </p:nvCxnSpPr>
          <p:spPr>
            <a:xfrm>
              <a:off x="4086225" y="4500562"/>
              <a:ext cx="0" cy="514351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2" name="组合 21"/>
            <p:cNvGrpSpPr/>
            <p:nvPr/>
          </p:nvGrpSpPr>
          <p:grpSpPr>
            <a:xfrm>
              <a:off x="4429125" y="3986213"/>
              <a:ext cx="1571625" cy="1028700"/>
              <a:chOff x="4429125" y="3986213"/>
              <a:chExt cx="1571625" cy="1028700"/>
            </a:xfrm>
          </p:grpSpPr>
          <p:cxnSp>
            <p:nvCxnSpPr>
              <p:cNvPr id="10" name="直接连接符 9"/>
              <p:cNvCxnSpPr/>
              <p:nvPr/>
            </p:nvCxnSpPr>
            <p:spPr>
              <a:xfrm>
                <a:off x="4429125" y="3986213"/>
                <a:ext cx="1571625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直接连接符 15"/>
              <p:cNvCxnSpPr/>
              <p:nvPr/>
            </p:nvCxnSpPr>
            <p:spPr>
              <a:xfrm>
                <a:off x="4429125" y="3986213"/>
                <a:ext cx="0" cy="102870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直接连接符 17"/>
              <p:cNvCxnSpPr/>
              <p:nvPr/>
            </p:nvCxnSpPr>
            <p:spPr>
              <a:xfrm>
                <a:off x="6000750" y="3986213"/>
                <a:ext cx="0" cy="102870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20" name="直接连接符 19"/>
            <p:cNvCxnSpPr/>
            <p:nvPr/>
          </p:nvCxnSpPr>
          <p:spPr>
            <a:xfrm>
              <a:off x="5715000" y="4500562"/>
              <a:ext cx="0" cy="514351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文本框 20"/>
            <p:cNvSpPr txBox="1"/>
            <p:nvPr/>
          </p:nvSpPr>
          <p:spPr>
            <a:xfrm>
              <a:off x="3949700" y="5212628"/>
              <a:ext cx="47942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N1</a:t>
              </a:r>
              <a:endParaRPr lang="zh-CN" altLang="en-US" dirty="0"/>
            </a:p>
          </p:txBody>
        </p:sp>
        <p:sp>
          <p:nvSpPr>
            <p:cNvPr id="23" name="文本框 22"/>
            <p:cNvSpPr txBox="1"/>
            <p:nvPr/>
          </p:nvSpPr>
          <p:spPr>
            <a:xfrm>
              <a:off x="5475287" y="5159929"/>
              <a:ext cx="47942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N2</a:t>
              </a:r>
              <a:endParaRPr lang="zh-CN" altLang="en-US" dirty="0"/>
            </a:p>
          </p:txBody>
        </p:sp>
        <p:sp>
          <p:nvSpPr>
            <p:cNvPr id="24" name="文本框 23"/>
            <p:cNvSpPr txBox="1"/>
            <p:nvPr/>
          </p:nvSpPr>
          <p:spPr>
            <a:xfrm>
              <a:off x="4456112" y="5218255"/>
              <a:ext cx="59848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M1</a:t>
              </a:r>
              <a:endParaRPr lang="zh-CN" altLang="en-US" dirty="0"/>
            </a:p>
          </p:txBody>
        </p:sp>
        <p:sp>
          <p:nvSpPr>
            <p:cNvPr id="25" name="文本框 24"/>
            <p:cNvSpPr txBox="1"/>
            <p:nvPr/>
          </p:nvSpPr>
          <p:spPr>
            <a:xfrm>
              <a:off x="6037105" y="5159929"/>
              <a:ext cx="59848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M2</a:t>
              </a:r>
              <a:endParaRPr lang="zh-CN" altLang="en-US" dirty="0"/>
            </a:p>
          </p:txBody>
        </p:sp>
        <p:grpSp>
          <p:nvGrpSpPr>
            <p:cNvPr id="27" name="组合 26"/>
            <p:cNvGrpSpPr/>
            <p:nvPr/>
          </p:nvGrpSpPr>
          <p:grpSpPr>
            <a:xfrm>
              <a:off x="1214438" y="3986213"/>
              <a:ext cx="1571625" cy="1028700"/>
              <a:chOff x="4429125" y="3986213"/>
              <a:chExt cx="1571625" cy="1028700"/>
            </a:xfrm>
          </p:grpSpPr>
          <p:cxnSp>
            <p:nvCxnSpPr>
              <p:cNvPr id="28" name="直接连接符 27"/>
              <p:cNvCxnSpPr/>
              <p:nvPr/>
            </p:nvCxnSpPr>
            <p:spPr>
              <a:xfrm>
                <a:off x="4429125" y="3986213"/>
                <a:ext cx="1571625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直接连接符 28"/>
              <p:cNvCxnSpPr/>
              <p:nvPr/>
            </p:nvCxnSpPr>
            <p:spPr>
              <a:xfrm>
                <a:off x="4429125" y="3986213"/>
                <a:ext cx="0" cy="102870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直接连接符 29"/>
              <p:cNvCxnSpPr/>
              <p:nvPr/>
            </p:nvCxnSpPr>
            <p:spPr>
              <a:xfrm>
                <a:off x="6000750" y="3986213"/>
                <a:ext cx="0" cy="102870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2" name="文本框 31"/>
            <p:cNvSpPr txBox="1"/>
            <p:nvPr/>
          </p:nvSpPr>
          <p:spPr>
            <a:xfrm>
              <a:off x="2528887" y="5212628"/>
              <a:ext cx="59848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-M1</a:t>
              </a:r>
              <a:endParaRPr lang="zh-CN" altLang="en-US" dirty="0"/>
            </a:p>
          </p:txBody>
        </p:sp>
        <p:sp>
          <p:nvSpPr>
            <p:cNvPr id="33" name="文本框 32"/>
            <p:cNvSpPr txBox="1"/>
            <p:nvPr/>
          </p:nvSpPr>
          <p:spPr>
            <a:xfrm>
              <a:off x="936942" y="5212628"/>
              <a:ext cx="59848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-M2</a:t>
              </a:r>
              <a:endParaRPr lang="zh-CN" altLang="en-US" dirty="0"/>
            </a:p>
          </p:txBody>
        </p:sp>
        <p:cxnSp>
          <p:nvCxnSpPr>
            <p:cNvPr id="36" name="直接箭头连接符 35"/>
            <p:cNvCxnSpPr/>
            <p:nvPr/>
          </p:nvCxnSpPr>
          <p:spPr>
            <a:xfrm>
              <a:off x="1381124" y="3822700"/>
              <a:ext cx="1147763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9" name="文本框 48"/>
            <p:cNvSpPr txBox="1"/>
            <p:nvPr/>
          </p:nvSpPr>
          <p:spPr>
            <a:xfrm>
              <a:off x="3697287" y="4095982"/>
              <a:ext cx="820419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18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x(m)</a:t>
              </a:r>
              <a:endParaRPr lang="zh-CN" altLang="en-US" dirty="0"/>
            </a:p>
          </p:txBody>
        </p:sp>
        <p:sp>
          <p:nvSpPr>
            <p:cNvPr id="50" name="文本框 49"/>
            <p:cNvSpPr txBox="1"/>
            <p:nvPr/>
          </p:nvSpPr>
          <p:spPr>
            <a:xfrm>
              <a:off x="5054600" y="3561997"/>
              <a:ext cx="900112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h</a:t>
              </a:r>
              <a:r>
                <a:rPr lang="en-US" altLang="zh-CN" sz="18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(m)</a:t>
              </a:r>
              <a:endParaRPr lang="zh-CN" altLang="en-US" dirty="0"/>
            </a:p>
          </p:txBody>
        </p:sp>
        <p:sp>
          <p:nvSpPr>
            <p:cNvPr id="51" name="文本框 50"/>
            <p:cNvSpPr txBox="1"/>
            <p:nvPr/>
          </p:nvSpPr>
          <p:spPr>
            <a:xfrm>
              <a:off x="1535430" y="3370887"/>
              <a:ext cx="1147762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h</a:t>
              </a:r>
              <a:r>
                <a:rPr lang="en-US" altLang="zh-CN" sz="18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(n-m)</a:t>
              </a:r>
              <a:endParaRPr lang="zh-CN" altLang="en-US" dirty="0"/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卷积函数</a:t>
            </a:r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435610" y="1323341"/>
            <a:ext cx="8271510" cy="61976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altLang="zh-CN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conv</a:t>
            </a:r>
            <a:r>
              <a:rPr lang="zh-CN" altLang="en-US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函数的调用：</a:t>
            </a:r>
            <a:endParaRPr lang="en-US" altLang="zh-CN" b="1" dirty="0">
              <a:solidFill>
                <a:srgbClr val="0000FF"/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435610" y="1943101"/>
            <a:ext cx="8467090" cy="29355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所以：如果要求两个序列的卷积，可以调用函数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conv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，即</a:t>
            </a:r>
            <a:endParaRPr lang="en-US" altLang="zh-CN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lnSpc>
                <a:spcPct val="200000"/>
              </a:lnSpc>
            </a:pPr>
            <a:r>
              <a:rPr lang="en-US" altLang="zh-CN" sz="2400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yn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=conv(</a:t>
            </a:r>
            <a:r>
              <a:rPr lang="en-US" altLang="zh-CN" sz="2400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xn,hn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</a:p>
          <a:p>
            <a:pPr>
              <a:lnSpc>
                <a:spcPct val="200000"/>
              </a:lnSpc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然后自己定义</a:t>
            </a:r>
            <a:r>
              <a:rPr lang="en-US" altLang="zh-CN" sz="2400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yn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的自变量范围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n=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N1+M1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N2+M2 )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，画图可调用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stem(</a:t>
            </a:r>
            <a:r>
              <a:rPr lang="en-US" altLang="zh-CN" sz="2400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n,yn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);</a:t>
            </a:r>
            <a:endParaRPr lang="zh-CN" altLang="en-US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函数</a:t>
            </a:r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435610" y="1107440"/>
            <a:ext cx="8271510" cy="5041569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kumimoji="1"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本次实验使用到</a:t>
            </a:r>
            <a:r>
              <a:rPr kumimoji="1"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MATLAB</a:t>
            </a:r>
            <a:r>
              <a:rPr kumimoji="1"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函数</a:t>
            </a:r>
            <a:endParaRPr kumimoji="1"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buNone/>
            </a:pPr>
            <a:r>
              <a:rPr lang="en-US" altLang="zh-CN" sz="2000" b="1" dirty="0" err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ztrans</a:t>
            </a:r>
            <a:r>
              <a:rPr lang="en-US" altLang="zh-CN" sz="20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: 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返回无限长序列函数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x(n)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z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变换</a:t>
            </a:r>
            <a:endParaRPr lang="en-US" altLang="zh-CN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buNone/>
            </a:pPr>
            <a:r>
              <a:rPr lang="en-US" altLang="zh-CN" sz="2000" b="1" dirty="0" err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iztrans</a:t>
            </a:r>
            <a:r>
              <a:rPr lang="en-US" altLang="zh-CN" sz="20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  <a:r>
              <a:rPr lang="zh-CN" altLang="en-US" sz="20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求函数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X(z)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z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反变换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x(n)</a:t>
            </a:r>
          </a:p>
          <a:p>
            <a:pPr marL="0" indent="0">
              <a:buNone/>
            </a:pPr>
            <a:r>
              <a:rPr lang="en-US" altLang="zh-CN" sz="2000" b="1" dirty="0" err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syms</a:t>
            </a:r>
            <a:r>
              <a:rPr lang="en-US" altLang="zh-CN" sz="20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: 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定义多个符号对象</a:t>
            </a:r>
            <a:endParaRPr lang="en-US" altLang="zh-CN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buNone/>
            </a:pPr>
            <a:r>
              <a:rPr lang="en-US" altLang="zh-CN" sz="2000" b="1" dirty="0" err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residuez</a:t>
            </a:r>
            <a:r>
              <a:rPr lang="en-US" altLang="zh-CN" sz="20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  <a:r>
              <a:rPr lang="zh-CN" altLang="en-US" sz="20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有理多项式的部分分式展开</a:t>
            </a:r>
            <a:endParaRPr lang="en-US" altLang="zh-CN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buNone/>
            </a:pPr>
            <a:endParaRPr lang="en-US" altLang="zh-CN" b="1" dirty="0"/>
          </a:p>
          <a:p>
            <a:pPr marL="0" indent="0">
              <a:buNone/>
            </a:pPr>
            <a:endParaRPr lang="en-US" altLang="zh-CN" b="1" dirty="0"/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dirty="0"/>
              <a:t>(1) b = [10,20,0,0]; a= [1,8,19,12];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dirty="0"/>
              <a:t>(2) </a:t>
            </a:r>
            <a:r>
              <a:rPr lang="en-US" altLang="zh-CN" dirty="0" err="1"/>
              <a:t>residuez</a:t>
            </a:r>
            <a:r>
              <a:rPr lang="en-US" altLang="zh-CN" dirty="0"/>
              <a:t>(</a:t>
            </a:r>
            <a:r>
              <a:rPr lang="en-US" altLang="zh-CN" dirty="0" err="1"/>
              <a:t>b,a,N</a:t>
            </a:r>
            <a:r>
              <a:rPr lang="en-US" altLang="zh-CN" dirty="0"/>
              <a:t>)</a:t>
            </a:r>
            <a:r>
              <a:rPr lang="zh-CN" altLang="en-US" dirty="0"/>
              <a:t>可以展开成部分分式</a:t>
            </a:r>
            <a:endParaRPr lang="en-US" altLang="zh-CN" dirty="0"/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dirty="0"/>
              <a:t>(3)</a:t>
            </a:r>
            <a:r>
              <a:rPr lang="zh-CN" altLang="en-US" dirty="0"/>
              <a:t>根据部分分时写出</a:t>
            </a:r>
            <a:r>
              <a:rPr lang="en-US" altLang="zh-CN" dirty="0"/>
              <a:t>Z</a:t>
            </a:r>
            <a:r>
              <a:rPr lang="zh-CN" altLang="en-US" dirty="0"/>
              <a:t>反变换的形式</a:t>
            </a:r>
            <a:endParaRPr lang="en-US" altLang="zh-CN" dirty="0"/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dirty="0"/>
              <a:t>(4) </a:t>
            </a:r>
            <a:r>
              <a:rPr lang="zh-CN" altLang="en-US" dirty="0"/>
              <a:t>并用图形与</a:t>
            </a:r>
            <a:r>
              <a:rPr lang="en-US" altLang="zh-CN" dirty="0" err="1"/>
              <a:t>impz</a:t>
            </a:r>
            <a:r>
              <a:rPr lang="zh-CN" altLang="en-US" dirty="0"/>
              <a:t>求得的结果相比较：</a:t>
            </a:r>
            <a:r>
              <a:rPr lang="en-US" altLang="zh-CN" dirty="0"/>
              <a:t>h = </a:t>
            </a:r>
            <a:r>
              <a:rPr lang="en-US" altLang="zh-CN" dirty="0" err="1"/>
              <a:t>impz</a:t>
            </a:r>
            <a:r>
              <a:rPr lang="en-US" altLang="zh-CN" dirty="0"/>
              <a:t>(</a:t>
            </a:r>
            <a:r>
              <a:rPr lang="en-US" altLang="zh-CN" dirty="0" err="1"/>
              <a:t>b,a,N</a:t>
            </a:r>
            <a:r>
              <a:rPr lang="en-US" altLang="zh-CN" dirty="0"/>
              <a:t>)</a:t>
            </a:r>
          </a:p>
          <a:p>
            <a:pPr marL="0" indent="0">
              <a:buNone/>
            </a:pPr>
            <a:endParaRPr lang="en-US" altLang="zh-CN" b="1" dirty="0"/>
          </a:p>
        </p:txBody>
      </p:sp>
      <p:pic>
        <p:nvPicPr>
          <p:cNvPr id="2050" name="Picture 2" descr="C:\Users\Gary\AppData\Local\Temp\ConnectorClipboard2347785836826635737\image16680503482360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68257" y="3628224"/>
            <a:ext cx="3338942" cy="6320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函数</a:t>
            </a:r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435610" y="1107440"/>
            <a:ext cx="8271510" cy="5041569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altLang="zh-CN" sz="2000" b="1" dirty="0" err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ztrans</a:t>
            </a:r>
            <a:r>
              <a:rPr lang="en-US" altLang="zh-CN" sz="20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: 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返回无限长序列函数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x(n)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z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变换</a:t>
            </a:r>
            <a:endParaRPr lang="en-US" altLang="zh-CN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buNone/>
            </a:pPr>
            <a:endParaRPr lang="en-US" altLang="zh-CN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buNone/>
            </a:pPr>
            <a:endParaRPr lang="en-US" altLang="zh-CN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buNone/>
            </a:pPr>
            <a:endParaRPr lang="en-US" altLang="zh-CN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altLang="zh-CN" sz="2200" b="0" i="0" dirty="0">
              <a:solidFill>
                <a:srgbClr val="212121"/>
              </a:solidFill>
              <a:effectLst/>
              <a:latin typeface="Menlo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2200" b="0" i="0" dirty="0" err="1">
                <a:solidFill>
                  <a:srgbClr val="212121"/>
                </a:solidFill>
                <a:effectLst/>
                <a:latin typeface="Menlo"/>
              </a:rPr>
              <a:t>syms</a:t>
            </a:r>
            <a:r>
              <a:rPr lang="en-US" altLang="zh-CN" sz="2200" b="0" i="0" dirty="0">
                <a:solidFill>
                  <a:srgbClr val="212121"/>
                </a:solidFill>
                <a:effectLst/>
                <a:latin typeface="Menlo"/>
              </a:rPr>
              <a:t> </a:t>
            </a:r>
            <a:r>
              <a:rPr lang="en-US" altLang="zh-CN" sz="2200" b="0" i="0" u="none" strike="noStrike" dirty="0">
                <a:solidFill>
                  <a:srgbClr val="A709F5"/>
                </a:solidFill>
                <a:effectLst/>
                <a:latin typeface="Menlo"/>
              </a:rPr>
              <a:t>a n w0 z</a:t>
            </a:r>
            <a:r>
              <a:rPr lang="en-US" altLang="zh-CN" sz="2200" b="0" i="0" dirty="0">
                <a:solidFill>
                  <a:srgbClr val="212121"/>
                </a:solidFill>
                <a:effectLst/>
                <a:latin typeface="Menlo"/>
              </a:rPr>
              <a:t> </a:t>
            </a:r>
            <a:r>
              <a:rPr lang="en-US" altLang="zh-CN" sz="2200" b="0" i="0" u="none" strike="noStrike" dirty="0">
                <a:solidFill>
                  <a:srgbClr val="008013"/>
                </a:solidFill>
                <a:effectLst/>
                <a:latin typeface="Menlo"/>
              </a:rPr>
              <a:t>% </a:t>
            </a:r>
            <a:r>
              <a:rPr lang="zh-CN" altLang="en-US" sz="2200" b="0" i="0" u="none" strike="noStrike" dirty="0">
                <a:solidFill>
                  <a:srgbClr val="008013"/>
                </a:solidFill>
                <a:effectLst/>
                <a:latin typeface="Menlo"/>
              </a:rPr>
              <a:t>符号化变量声明</a:t>
            </a:r>
            <a:endParaRPr lang="zh-CN" altLang="en-US" sz="2200" b="0" i="0" dirty="0">
              <a:solidFill>
                <a:srgbClr val="212121"/>
              </a:solidFill>
              <a:effectLst/>
              <a:latin typeface="Menlo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2200" b="0" i="0" dirty="0">
                <a:solidFill>
                  <a:srgbClr val="212121"/>
                </a:solidFill>
                <a:effectLst/>
                <a:latin typeface="Menlo"/>
              </a:rPr>
              <a:t>x1n=n*</a:t>
            </a:r>
            <a:r>
              <a:rPr lang="en-US" altLang="zh-CN" sz="2200" b="0" i="0" dirty="0" err="1">
                <a:solidFill>
                  <a:srgbClr val="212121"/>
                </a:solidFill>
                <a:effectLst/>
                <a:latin typeface="Menlo"/>
              </a:rPr>
              <a:t>a^n</a:t>
            </a:r>
            <a:r>
              <a:rPr lang="en-US" altLang="zh-CN" sz="2200" b="0" i="0" dirty="0">
                <a:solidFill>
                  <a:srgbClr val="212121"/>
                </a:solidFill>
                <a:effectLst/>
                <a:latin typeface="Menlo"/>
              </a:rPr>
              <a:t>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2200" b="0" i="0" dirty="0">
                <a:solidFill>
                  <a:srgbClr val="212121"/>
                </a:solidFill>
                <a:effectLst/>
                <a:latin typeface="Menlo"/>
              </a:rPr>
              <a:t>x2n=sin(w0*n)*exp(-a*n);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2200" b="0" i="0" dirty="0" err="1">
                <a:solidFill>
                  <a:srgbClr val="212121"/>
                </a:solidFill>
                <a:effectLst/>
                <a:latin typeface="Menlo"/>
              </a:rPr>
              <a:t>disp</a:t>
            </a:r>
            <a:r>
              <a:rPr lang="en-US" altLang="zh-CN" sz="2200" b="0" i="0" dirty="0">
                <a:solidFill>
                  <a:srgbClr val="212121"/>
                </a:solidFill>
                <a:effectLst/>
                <a:latin typeface="Menlo"/>
              </a:rPr>
              <a:t>(</a:t>
            </a:r>
            <a:r>
              <a:rPr lang="en-US" altLang="zh-CN" sz="2200" b="0" i="0" u="none" strike="noStrike" dirty="0">
                <a:solidFill>
                  <a:srgbClr val="A709F5"/>
                </a:solidFill>
                <a:effectLst/>
                <a:latin typeface="Menlo"/>
              </a:rPr>
              <a:t>'x1(n)</a:t>
            </a:r>
            <a:r>
              <a:rPr lang="zh-CN" altLang="en-US" sz="2200" b="0" i="0" u="none" strike="noStrike" dirty="0">
                <a:solidFill>
                  <a:srgbClr val="A709F5"/>
                </a:solidFill>
                <a:effectLst/>
                <a:latin typeface="Menlo"/>
              </a:rPr>
              <a:t>的</a:t>
            </a:r>
            <a:r>
              <a:rPr lang="en-US" altLang="zh-CN" sz="2200" b="0" i="0" u="none" strike="noStrike" dirty="0">
                <a:solidFill>
                  <a:srgbClr val="A709F5"/>
                </a:solidFill>
                <a:effectLst/>
                <a:latin typeface="Menlo"/>
              </a:rPr>
              <a:t>Z</a:t>
            </a:r>
            <a:r>
              <a:rPr lang="zh-CN" altLang="en-US" sz="2200" b="0" i="0" u="none" strike="noStrike" dirty="0">
                <a:solidFill>
                  <a:srgbClr val="A709F5"/>
                </a:solidFill>
                <a:effectLst/>
                <a:latin typeface="Menlo"/>
              </a:rPr>
              <a:t>变换：</a:t>
            </a:r>
            <a:r>
              <a:rPr lang="en-US" altLang="zh-CN" sz="2200" b="0" i="0" u="none" strike="noStrike" dirty="0">
                <a:solidFill>
                  <a:srgbClr val="A709F5"/>
                </a:solidFill>
                <a:effectLst/>
                <a:latin typeface="Menlo"/>
              </a:rPr>
              <a:t>’</a:t>
            </a:r>
            <a:r>
              <a:rPr lang="en-US" altLang="zh-CN" sz="2200" b="0" i="0" dirty="0">
                <a:solidFill>
                  <a:srgbClr val="212121"/>
                </a:solidFill>
                <a:effectLst/>
                <a:latin typeface="Menlo"/>
              </a:rPr>
              <a:t>)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2200" b="0" i="0" dirty="0">
                <a:solidFill>
                  <a:srgbClr val="212121"/>
                </a:solidFill>
                <a:effectLst/>
                <a:latin typeface="Menlo"/>
              </a:rPr>
              <a:t>X1z=</a:t>
            </a:r>
            <a:r>
              <a:rPr lang="en-US" altLang="zh-CN" sz="2200" b="0" i="0" dirty="0" err="1">
                <a:solidFill>
                  <a:srgbClr val="212121"/>
                </a:solidFill>
                <a:effectLst/>
                <a:latin typeface="Menlo"/>
              </a:rPr>
              <a:t>ztrans</a:t>
            </a:r>
            <a:r>
              <a:rPr lang="en-US" altLang="zh-CN" sz="2200" b="0" i="0" dirty="0">
                <a:solidFill>
                  <a:srgbClr val="212121"/>
                </a:solidFill>
                <a:effectLst/>
                <a:latin typeface="Menlo"/>
              </a:rPr>
              <a:t>(x1n,n,z) </a:t>
            </a:r>
            <a:r>
              <a:rPr lang="en-US" altLang="zh-CN" sz="2200" b="0" i="0" u="none" strike="noStrike" dirty="0">
                <a:solidFill>
                  <a:srgbClr val="008013"/>
                </a:solidFill>
                <a:effectLst/>
                <a:latin typeface="Menlo"/>
              </a:rPr>
              <a:t>% </a:t>
            </a:r>
            <a:r>
              <a:rPr lang="zh-CN" altLang="en-US" sz="2200" b="0" i="0" u="none" strike="noStrike" dirty="0">
                <a:solidFill>
                  <a:srgbClr val="008013"/>
                </a:solidFill>
                <a:effectLst/>
                <a:latin typeface="Menlo"/>
              </a:rPr>
              <a:t>计算显示</a:t>
            </a:r>
            <a:r>
              <a:rPr lang="en-US" altLang="zh-CN" sz="2200" b="0" i="0" u="none" strike="noStrike" dirty="0">
                <a:solidFill>
                  <a:srgbClr val="008013"/>
                </a:solidFill>
                <a:effectLst/>
                <a:latin typeface="Menlo"/>
              </a:rPr>
              <a:t>x1n</a:t>
            </a:r>
            <a:r>
              <a:rPr lang="zh-CN" altLang="en-US" sz="2200" b="0" i="0" u="none" strike="noStrike" dirty="0">
                <a:solidFill>
                  <a:srgbClr val="008013"/>
                </a:solidFill>
                <a:effectLst/>
                <a:latin typeface="Menlo"/>
              </a:rPr>
              <a:t>的</a:t>
            </a:r>
            <a:r>
              <a:rPr lang="en-US" altLang="zh-CN" sz="2200" b="0" i="0" u="none" strike="noStrike" dirty="0">
                <a:solidFill>
                  <a:srgbClr val="008013"/>
                </a:solidFill>
                <a:effectLst/>
                <a:latin typeface="Menlo"/>
              </a:rPr>
              <a:t>Z</a:t>
            </a:r>
            <a:r>
              <a:rPr lang="zh-CN" altLang="en-US" sz="2200" b="0" i="0" u="none" strike="noStrike" dirty="0">
                <a:solidFill>
                  <a:srgbClr val="008013"/>
                </a:solidFill>
                <a:effectLst/>
                <a:latin typeface="Menlo"/>
              </a:rPr>
              <a:t>变换</a:t>
            </a:r>
            <a:endParaRPr lang="zh-CN" altLang="en-US" sz="2200" b="0" i="0" dirty="0">
              <a:solidFill>
                <a:srgbClr val="212121"/>
              </a:solidFill>
              <a:effectLst/>
              <a:latin typeface="Menlo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2200" b="0" i="0" dirty="0" err="1">
                <a:solidFill>
                  <a:srgbClr val="212121"/>
                </a:solidFill>
                <a:effectLst/>
                <a:latin typeface="Menlo"/>
              </a:rPr>
              <a:t>disp</a:t>
            </a:r>
            <a:r>
              <a:rPr lang="en-US" altLang="zh-CN" sz="2200" b="0" i="0" dirty="0">
                <a:solidFill>
                  <a:srgbClr val="212121"/>
                </a:solidFill>
                <a:effectLst/>
                <a:latin typeface="Menlo"/>
              </a:rPr>
              <a:t>(</a:t>
            </a:r>
            <a:r>
              <a:rPr lang="en-US" altLang="zh-CN" sz="2200" b="0" i="0" u="none" strike="noStrike" dirty="0">
                <a:solidFill>
                  <a:srgbClr val="A709F5"/>
                </a:solidFill>
                <a:effectLst/>
                <a:latin typeface="Menlo"/>
              </a:rPr>
              <a:t>'x2(n)</a:t>
            </a:r>
            <a:r>
              <a:rPr lang="zh-CN" altLang="en-US" sz="2200" b="0" i="0" u="none" strike="noStrike" dirty="0">
                <a:solidFill>
                  <a:srgbClr val="A709F5"/>
                </a:solidFill>
                <a:effectLst/>
                <a:latin typeface="Menlo"/>
              </a:rPr>
              <a:t>的</a:t>
            </a:r>
            <a:r>
              <a:rPr lang="en-US" altLang="zh-CN" sz="2200" b="0" i="0" u="none" strike="noStrike" dirty="0">
                <a:solidFill>
                  <a:srgbClr val="A709F5"/>
                </a:solidFill>
                <a:effectLst/>
                <a:latin typeface="Menlo"/>
              </a:rPr>
              <a:t>Z</a:t>
            </a:r>
            <a:r>
              <a:rPr lang="zh-CN" altLang="en-US" sz="2200" b="0" i="0" u="none" strike="noStrike" dirty="0">
                <a:solidFill>
                  <a:srgbClr val="A709F5"/>
                </a:solidFill>
                <a:effectLst/>
                <a:latin typeface="Menlo"/>
              </a:rPr>
              <a:t>变换：</a:t>
            </a:r>
            <a:r>
              <a:rPr lang="en-US" altLang="zh-CN" sz="2200" b="0" i="0" u="none" strike="noStrike" dirty="0">
                <a:solidFill>
                  <a:srgbClr val="A709F5"/>
                </a:solidFill>
                <a:effectLst/>
                <a:latin typeface="Menlo"/>
              </a:rPr>
              <a:t>'</a:t>
            </a:r>
            <a:r>
              <a:rPr lang="en-US" altLang="zh-CN" sz="2200" b="0" i="0" dirty="0">
                <a:solidFill>
                  <a:srgbClr val="212121"/>
                </a:solidFill>
                <a:effectLst/>
                <a:latin typeface="Menlo"/>
              </a:rPr>
              <a:t>)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2200" b="0" i="0" dirty="0">
                <a:solidFill>
                  <a:srgbClr val="212121"/>
                </a:solidFill>
                <a:effectLst/>
                <a:latin typeface="Menlo"/>
              </a:rPr>
              <a:t>X2z=</a:t>
            </a:r>
            <a:r>
              <a:rPr lang="en-US" altLang="zh-CN" sz="2200" b="0" i="0" dirty="0" err="1">
                <a:solidFill>
                  <a:srgbClr val="212121"/>
                </a:solidFill>
                <a:effectLst/>
                <a:latin typeface="Menlo"/>
              </a:rPr>
              <a:t>ztrans</a:t>
            </a:r>
            <a:r>
              <a:rPr lang="en-US" altLang="zh-CN" sz="2200" b="0" i="0" dirty="0">
                <a:solidFill>
                  <a:srgbClr val="212121"/>
                </a:solidFill>
                <a:effectLst/>
                <a:latin typeface="Menlo"/>
              </a:rPr>
              <a:t>(x2n,n,z) </a:t>
            </a:r>
            <a:r>
              <a:rPr lang="en-US" altLang="zh-CN" sz="2200" b="0" i="0" u="none" strike="noStrike" dirty="0">
                <a:solidFill>
                  <a:srgbClr val="008013"/>
                </a:solidFill>
                <a:effectLst/>
                <a:latin typeface="Menlo"/>
              </a:rPr>
              <a:t>% </a:t>
            </a:r>
            <a:r>
              <a:rPr lang="zh-CN" altLang="en-US" sz="2200" b="0" i="0" u="none" strike="noStrike" dirty="0">
                <a:solidFill>
                  <a:srgbClr val="008013"/>
                </a:solidFill>
                <a:effectLst/>
                <a:latin typeface="Menlo"/>
              </a:rPr>
              <a:t>计算显示</a:t>
            </a:r>
            <a:r>
              <a:rPr lang="en-US" altLang="zh-CN" sz="2200" b="0" i="0" u="none" strike="noStrike" dirty="0">
                <a:solidFill>
                  <a:srgbClr val="008013"/>
                </a:solidFill>
                <a:effectLst/>
                <a:latin typeface="Menlo"/>
              </a:rPr>
              <a:t>x2n</a:t>
            </a:r>
            <a:r>
              <a:rPr lang="zh-CN" altLang="en-US" sz="2200" b="0" i="0" u="none" strike="noStrike" dirty="0">
                <a:solidFill>
                  <a:srgbClr val="008013"/>
                </a:solidFill>
                <a:effectLst/>
                <a:latin typeface="Menlo"/>
              </a:rPr>
              <a:t>的</a:t>
            </a:r>
            <a:r>
              <a:rPr lang="en-US" altLang="zh-CN" sz="2200" b="0" i="0" u="none" strike="noStrike" dirty="0">
                <a:solidFill>
                  <a:srgbClr val="008013"/>
                </a:solidFill>
                <a:effectLst/>
                <a:latin typeface="Menlo"/>
              </a:rPr>
              <a:t>Z</a:t>
            </a:r>
            <a:r>
              <a:rPr lang="zh-CN" altLang="en-US" sz="2200" b="0" i="0" u="none" strike="noStrike" dirty="0">
                <a:solidFill>
                  <a:srgbClr val="008013"/>
                </a:solidFill>
                <a:effectLst/>
                <a:latin typeface="Menlo"/>
              </a:rPr>
              <a:t>变换</a:t>
            </a:r>
            <a:endParaRPr lang="zh-CN" altLang="en-US" sz="2200" b="0" i="0" dirty="0">
              <a:solidFill>
                <a:srgbClr val="212121"/>
              </a:solidFill>
              <a:effectLst/>
              <a:latin typeface="Menlo"/>
            </a:endParaRPr>
          </a:p>
          <a:p>
            <a:pPr marL="0" indent="0">
              <a:buNone/>
            </a:pPr>
            <a:endParaRPr lang="en-US" altLang="zh-CN" b="0" i="0" dirty="0">
              <a:solidFill>
                <a:srgbClr val="212121"/>
              </a:solidFill>
              <a:effectLst/>
              <a:latin typeface="Menlo"/>
            </a:endParaRPr>
          </a:p>
          <a:p>
            <a:pPr marL="0" indent="0">
              <a:buNone/>
            </a:pPr>
            <a:endParaRPr lang="en-US" altLang="zh-CN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buNone/>
            </a:pPr>
            <a:endParaRPr lang="en-US" altLang="zh-CN" b="1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5609" y="1633538"/>
            <a:ext cx="5550853" cy="1572741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函数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内容占位符 4"/>
              <p:cNvSpPr>
                <a:spLocks noGrp="1"/>
              </p:cNvSpPr>
              <p:nvPr>
                <p:ph idx="1"/>
              </p:nvPr>
            </p:nvSpPr>
            <p:spPr>
              <a:xfrm>
                <a:off x="217170" y="1079305"/>
                <a:ext cx="8708390" cy="5041569"/>
              </a:xfrm>
            </p:spPr>
            <p:txBody>
              <a:bodyPr>
                <a:noAutofit/>
              </a:bodyPr>
              <a:lstStyle/>
              <a:p>
                <a:r>
                  <a:rPr kumimoji="1" lang="zh-CN" altLang="en-US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本次实验使用到</a:t>
                </a:r>
                <a:r>
                  <a:rPr kumimoji="1" lang="en-US" altLang="zh-CN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MATLAB</a:t>
                </a:r>
                <a:r>
                  <a:rPr kumimoji="1" lang="zh-CN" altLang="en-US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函数</a:t>
                </a:r>
                <a:endParaRPr kumimoji="1" lang="en-US" altLang="zh-CN" b="1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0" indent="0">
                  <a:buNone/>
                </a:pPr>
                <a:r>
                  <a:rPr kumimoji="1" lang="en-US" altLang="zh-CN" sz="2100" b="1" dirty="0" err="1">
                    <a:solidFill>
                      <a:srgbClr val="0000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freqz</a:t>
                </a:r>
                <a:r>
                  <a:rPr kumimoji="1" lang="en-US" altLang="zh-CN" sz="2100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: </a:t>
                </a:r>
                <a:r>
                  <a:rPr kumimoji="1" lang="zh-CN" altLang="en-US" sz="2100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求离散系统频响特性的函数</a:t>
                </a:r>
                <a:endParaRPr kumimoji="1" lang="en-US" altLang="zh-CN" sz="2100" b="1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0" indent="0">
                  <a:buNone/>
                </a:pPr>
                <a:r>
                  <a:rPr kumimoji="1" lang="en-US" altLang="zh-CN" sz="2100" b="1" dirty="0">
                    <a:solidFill>
                      <a:srgbClr val="0000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[</a:t>
                </a:r>
                <a:r>
                  <a:rPr kumimoji="1" lang="en-US" altLang="zh-CN" sz="2100" b="1" dirty="0" err="1">
                    <a:solidFill>
                      <a:srgbClr val="0000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h,w</a:t>
                </a:r>
                <a:r>
                  <a:rPr kumimoji="1" lang="en-US" altLang="zh-CN" sz="2100" b="1" dirty="0">
                    <a:solidFill>
                      <a:srgbClr val="0000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] = </a:t>
                </a:r>
                <a:r>
                  <a:rPr kumimoji="1" lang="en-US" altLang="zh-CN" sz="2100" b="1" dirty="0" err="1">
                    <a:solidFill>
                      <a:srgbClr val="0000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freqz</a:t>
                </a:r>
                <a:r>
                  <a:rPr kumimoji="1" lang="en-US" altLang="zh-CN" sz="2100" b="1" dirty="0">
                    <a:solidFill>
                      <a:srgbClr val="0000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(</a:t>
                </a:r>
                <a:r>
                  <a:rPr kumimoji="1" lang="en-US" altLang="zh-CN" sz="2100" b="1" dirty="0" err="1">
                    <a:solidFill>
                      <a:srgbClr val="0000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b,a,n</a:t>
                </a:r>
                <a:r>
                  <a:rPr kumimoji="1" lang="en-US" altLang="zh-CN" sz="2100" b="1" dirty="0">
                    <a:solidFill>
                      <a:srgbClr val="0000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)  </a:t>
                </a:r>
                <a:r>
                  <a:rPr kumimoji="1" lang="zh-CN" altLang="en-US" sz="2100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得到</a:t>
                </a:r>
                <a:r>
                  <a:rPr kumimoji="1" lang="en-US" altLang="zh-CN" sz="2100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n</a:t>
                </a:r>
                <a:r>
                  <a:rPr kumimoji="1" lang="zh-CN" altLang="en-US" sz="2100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个 复频响应，</a:t>
                </a:r>
                <a:r>
                  <a:rPr kumimoji="1" lang="en-US" altLang="zh-CN" sz="2100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n</a:t>
                </a:r>
                <a:r>
                  <a:rPr kumimoji="1" lang="zh-CN" altLang="en-US" sz="2100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个点均匀分布在</a:t>
                </a:r>
                <a:r>
                  <a:rPr kumimoji="1" lang="en-US" altLang="zh-CN" sz="2100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[0,pi]</a:t>
                </a:r>
                <a:r>
                  <a:rPr kumimoji="1" lang="zh-CN" altLang="en-US" sz="2100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上</a:t>
                </a:r>
                <a:endParaRPr kumimoji="1" lang="en-US" altLang="zh-CN" sz="2100" b="1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0" indent="0">
                  <a:buNone/>
                </a:pPr>
                <a:r>
                  <a:rPr kumimoji="1" lang="en-US" altLang="zh-CN" sz="2100" b="1" dirty="0">
                    <a:solidFill>
                      <a:srgbClr val="0000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[</a:t>
                </a:r>
                <a:r>
                  <a:rPr kumimoji="1" lang="en-US" altLang="zh-CN" sz="2100" b="1" dirty="0" err="1">
                    <a:solidFill>
                      <a:srgbClr val="0000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h,f</a:t>
                </a:r>
                <a:r>
                  <a:rPr kumimoji="1" lang="en-US" altLang="zh-CN" sz="2100" b="1" dirty="0">
                    <a:solidFill>
                      <a:srgbClr val="0000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] = </a:t>
                </a:r>
                <a:r>
                  <a:rPr kumimoji="1" lang="en-US" altLang="zh-CN" sz="2100" b="1" dirty="0" err="1">
                    <a:solidFill>
                      <a:srgbClr val="0000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freqz</a:t>
                </a:r>
                <a:r>
                  <a:rPr kumimoji="1" lang="en-US" altLang="zh-CN" sz="2100" b="1" dirty="0">
                    <a:solidFill>
                      <a:srgbClr val="0000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(</a:t>
                </a:r>
                <a:r>
                  <a:rPr kumimoji="1" lang="en-US" altLang="zh-CN" sz="2100" b="1" dirty="0" err="1">
                    <a:solidFill>
                      <a:srgbClr val="0000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b,a,n,Fs</a:t>
                </a:r>
                <a:r>
                  <a:rPr kumimoji="1" lang="en-US" altLang="zh-CN" sz="2100" b="1" dirty="0">
                    <a:solidFill>
                      <a:srgbClr val="0000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)  </a:t>
                </a:r>
                <a:r>
                  <a:rPr kumimoji="1" lang="zh-CN" altLang="en-US" sz="2100" b="1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用于对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1" lang="en-US" altLang="zh-CN" sz="21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pPr>
                      <m:e>
                        <m:r>
                          <a:rPr kumimoji="1" lang="en-US" altLang="zh-CN" sz="21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𝑯</m:t>
                        </m:r>
                        <m:r>
                          <a:rPr kumimoji="1" lang="en-US" altLang="zh-CN" sz="21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(</m:t>
                        </m:r>
                        <m:r>
                          <a:rPr kumimoji="1" lang="en-US" altLang="zh-CN" sz="21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𝒆</m:t>
                        </m:r>
                      </m:e>
                      <m:sup>
                        <m:r>
                          <a:rPr kumimoji="1" lang="en-US" altLang="zh-CN" sz="21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𝒋𝒘</m:t>
                        </m:r>
                      </m:sup>
                    </m:sSup>
                    <m:r>
                      <a:rPr kumimoji="1" lang="en-US" altLang="zh-CN" sz="21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)</m:t>
                    </m:r>
                  </m:oMath>
                </a14:m>
                <a:r>
                  <a:rPr kumimoji="1" lang="zh-CN" altLang="en-US" sz="2100" b="1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在</a:t>
                </a:r>
                <a:r>
                  <a:rPr kumimoji="1" lang="en-US" altLang="zh-CN" sz="2100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[0,Fs/2]</a:t>
                </a:r>
                <a:r>
                  <a:rPr kumimoji="1" lang="zh-CN" altLang="en-US" sz="2100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上等间隔采样</a:t>
                </a:r>
                <a:r>
                  <a:rPr kumimoji="1" lang="en-US" altLang="zh-CN" sz="2100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n</a:t>
                </a:r>
                <a:r>
                  <a:rPr kumimoji="1" lang="zh-CN" altLang="en-US" sz="2100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点</a:t>
                </a:r>
                <a:endParaRPr kumimoji="1" lang="en-US" altLang="zh-CN" sz="2100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0" indent="0">
                  <a:buNone/>
                </a:pPr>
                <a:r>
                  <a:rPr kumimoji="1" lang="en-US" altLang="zh-CN" sz="2100" b="1" dirty="0">
                    <a:solidFill>
                      <a:srgbClr val="0000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h= </a:t>
                </a:r>
                <a:r>
                  <a:rPr kumimoji="1" lang="en-US" altLang="zh-CN" sz="2100" b="1" dirty="0" err="1">
                    <a:solidFill>
                      <a:srgbClr val="0000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freqz</a:t>
                </a:r>
                <a:r>
                  <a:rPr kumimoji="1" lang="en-US" altLang="zh-CN" sz="2100" b="1" dirty="0">
                    <a:solidFill>
                      <a:srgbClr val="0000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(</a:t>
                </a:r>
                <a:r>
                  <a:rPr kumimoji="1" lang="en-US" altLang="zh-CN" sz="2100" b="1" dirty="0" err="1">
                    <a:solidFill>
                      <a:srgbClr val="0000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b,a,w</a:t>
                </a:r>
                <a:r>
                  <a:rPr kumimoji="1" lang="en-US" altLang="zh-CN" sz="2100" b="1" dirty="0">
                    <a:solidFill>
                      <a:srgbClr val="0000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) </a:t>
                </a:r>
                <a:r>
                  <a:rPr kumimoji="1" lang="zh-CN" altLang="en-US" sz="2100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对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1" lang="en-US" altLang="zh-CN" sz="2100" b="1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pPr>
                      <m:e>
                        <m:r>
                          <a:rPr kumimoji="1" lang="en-US" altLang="zh-CN" sz="2100" b="1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𝑯</m:t>
                        </m:r>
                        <m:r>
                          <a:rPr kumimoji="1" lang="en-US" altLang="zh-CN" sz="2100" b="1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(</m:t>
                        </m:r>
                        <m:r>
                          <a:rPr kumimoji="1" lang="en-US" altLang="zh-CN" sz="2100" b="1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𝒆</m:t>
                        </m:r>
                      </m:e>
                      <m:sup>
                        <m:r>
                          <a:rPr kumimoji="1" lang="en-US" altLang="zh-CN" sz="2100" b="1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𝒋𝒘</m:t>
                        </m:r>
                      </m:sup>
                    </m:sSup>
                    <m:r>
                      <a:rPr kumimoji="1" lang="en-US" altLang="zh-CN" sz="2100" b="1" i="1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)</m:t>
                    </m:r>
                  </m:oMath>
                </a14:m>
                <a:r>
                  <a:rPr kumimoji="1" lang="zh-CN" altLang="en-US" sz="2100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在</a:t>
                </a:r>
                <a:r>
                  <a:rPr kumimoji="1" lang="en-US" altLang="zh-CN" sz="2100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[0, 2pi]</a:t>
                </a:r>
                <a:r>
                  <a:rPr kumimoji="1" lang="zh-CN" altLang="en-US" sz="2100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上等间隔采样</a:t>
                </a:r>
                <a:endParaRPr kumimoji="1" lang="en-US" altLang="zh-CN" sz="2100" b="1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0" indent="0">
                  <a:buNone/>
                </a:pPr>
                <a:r>
                  <a:rPr kumimoji="1" lang="en-US" altLang="zh-CN" sz="2100" b="1" dirty="0">
                    <a:solidFill>
                      <a:srgbClr val="0000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angle</a:t>
                </a:r>
                <a:r>
                  <a:rPr kumimoji="1" lang="en-US" altLang="zh-CN" sz="2100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: </a:t>
                </a:r>
                <a:r>
                  <a:rPr kumimoji="1" lang="zh-CN" altLang="en-US" sz="2100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求相角，主值区间，范围</a:t>
                </a:r>
                <a:r>
                  <a:rPr kumimoji="1" lang="en-US" altLang="zh-CN" sz="2100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[-pi</a:t>
                </a:r>
                <a:r>
                  <a:rPr kumimoji="1" lang="zh-CN" altLang="en-US" sz="2100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</a:t>
                </a:r>
                <a:r>
                  <a:rPr kumimoji="1" lang="en-US" altLang="zh-CN" sz="2100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pi)</a:t>
                </a:r>
              </a:p>
              <a:p>
                <a:pPr marL="0" indent="0">
                  <a:buNone/>
                </a:pPr>
                <a:r>
                  <a:rPr kumimoji="1" lang="en-US" altLang="zh-CN" sz="2100" b="1" dirty="0">
                    <a:solidFill>
                      <a:srgbClr val="0000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phase</a:t>
                </a:r>
                <a:r>
                  <a:rPr kumimoji="1" lang="en-US" altLang="zh-CN" sz="2100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: </a:t>
                </a:r>
                <a:r>
                  <a:rPr kumimoji="1" lang="zh-CN" altLang="en-US" sz="2100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求相角，解缠绕，范围不限。</a:t>
                </a:r>
                <a:endParaRPr kumimoji="1" lang="en-US" altLang="zh-CN" sz="2100" b="1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0" indent="0">
                  <a:buNone/>
                </a:pPr>
                <a:r>
                  <a:rPr kumimoji="1" lang="en-US" altLang="zh-CN" sz="2100" b="1" dirty="0" err="1">
                    <a:solidFill>
                      <a:srgbClr val="0000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zplane</a:t>
                </a:r>
                <a:r>
                  <a:rPr kumimoji="1" lang="en-US" altLang="zh-CN" sz="2100" b="1" dirty="0">
                    <a:solidFill>
                      <a:srgbClr val="0000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(</a:t>
                </a:r>
                <a:r>
                  <a:rPr kumimoji="1" lang="en-US" altLang="zh-CN" sz="2100" b="1" dirty="0" err="1">
                    <a:solidFill>
                      <a:srgbClr val="0000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b,a</a:t>
                </a:r>
                <a:r>
                  <a:rPr kumimoji="1" lang="en-US" altLang="zh-CN" sz="2100" b="1" dirty="0">
                    <a:solidFill>
                      <a:srgbClr val="0000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)</a:t>
                </a:r>
                <a:r>
                  <a:rPr kumimoji="1" lang="zh-CN" altLang="en-US" sz="2100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：求系统零极点分布图，</a:t>
                </a:r>
                <a:r>
                  <a:rPr kumimoji="1" lang="en-US" altLang="zh-CN" sz="2100" b="1" dirty="0" err="1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b,a</a:t>
                </a:r>
                <a:r>
                  <a:rPr kumimoji="1" lang="zh-CN" altLang="en-US" sz="2100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为</a:t>
                </a:r>
                <a:r>
                  <a:rPr kumimoji="1" lang="en-US" altLang="zh-CN" sz="2100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H(z)</a:t>
                </a:r>
                <a:r>
                  <a:rPr kumimoji="1" lang="zh-CN" altLang="en-US" sz="2100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的分子分母系数，要求为</a:t>
                </a:r>
                <a:r>
                  <a:rPr kumimoji="1" lang="zh-CN" altLang="en-US" sz="2100" b="1" dirty="0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行向量</a:t>
                </a:r>
                <a:endParaRPr kumimoji="1" lang="en-US" altLang="zh-CN" sz="2100" b="1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0" indent="0">
                  <a:buNone/>
                </a:pPr>
                <a:r>
                  <a:rPr kumimoji="1" lang="en-US" altLang="zh-CN" sz="2100" b="1" dirty="0" err="1">
                    <a:solidFill>
                      <a:srgbClr val="0000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zplane</a:t>
                </a:r>
                <a:r>
                  <a:rPr kumimoji="1" lang="en-US" altLang="zh-CN" sz="2100" b="1" dirty="0">
                    <a:solidFill>
                      <a:srgbClr val="0000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(</a:t>
                </a:r>
                <a:r>
                  <a:rPr kumimoji="1" lang="en-US" altLang="zh-CN" sz="2100" b="1" dirty="0" err="1">
                    <a:solidFill>
                      <a:srgbClr val="0000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z,p</a:t>
                </a:r>
                <a:r>
                  <a:rPr kumimoji="1" lang="en-US" altLang="zh-CN" sz="2100" b="1" dirty="0">
                    <a:solidFill>
                      <a:srgbClr val="0000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)</a:t>
                </a:r>
                <a:r>
                  <a:rPr kumimoji="1" lang="zh-CN" altLang="en-US" sz="2100" b="1" dirty="0">
                    <a:solidFill>
                      <a:srgbClr val="0000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：求</a:t>
                </a:r>
                <a:r>
                  <a:rPr kumimoji="1" lang="zh-CN" altLang="en-US" sz="2100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零极点分布图，</a:t>
                </a:r>
                <a:r>
                  <a:rPr kumimoji="1" lang="en-US" altLang="zh-CN" sz="2100" b="1" dirty="0" err="1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z,p</a:t>
                </a:r>
                <a:r>
                  <a:rPr kumimoji="1" lang="zh-CN" altLang="en-US" sz="2100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为零极点向量，要求为</a:t>
                </a:r>
                <a:r>
                  <a:rPr kumimoji="1" lang="zh-CN" altLang="en-US" sz="2100" b="1" dirty="0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列向量</a:t>
                </a:r>
                <a:endParaRPr kumimoji="1" lang="en-US" altLang="zh-CN" sz="2100" b="1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0" indent="0">
                  <a:buNone/>
                </a:pPr>
                <a:r>
                  <a:rPr kumimoji="1" lang="en-US" altLang="zh-CN" sz="2100" b="1" dirty="0" err="1">
                    <a:solidFill>
                      <a:srgbClr val="0000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grpdelay</a:t>
                </a:r>
                <a:r>
                  <a:rPr kumimoji="1" lang="en-US" altLang="zh-CN" sz="2100" b="1" dirty="0">
                    <a:solidFill>
                      <a:srgbClr val="0000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(</a:t>
                </a:r>
                <a:r>
                  <a:rPr kumimoji="1" lang="en-US" altLang="zh-CN" sz="2100" b="1" dirty="0" err="1">
                    <a:solidFill>
                      <a:srgbClr val="0000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b,a,w</a:t>
                </a:r>
                <a:r>
                  <a:rPr kumimoji="1" lang="en-US" altLang="zh-CN" sz="2100" b="1" dirty="0">
                    <a:solidFill>
                      <a:srgbClr val="0000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)</a:t>
                </a:r>
                <a:r>
                  <a:rPr kumimoji="1" lang="zh-CN" altLang="en-US" sz="2100" b="1" dirty="0">
                    <a:solidFill>
                      <a:srgbClr val="0000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kumimoji="1" lang="zh-CN" altLang="en-US" sz="2100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群时延</a:t>
                </a:r>
                <a:endParaRPr kumimoji="1" lang="en-US" altLang="zh-CN" sz="2100" b="1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0" indent="0">
                  <a:buNone/>
                </a:pPr>
                <a:endParaRPr kumimoji="1" lang="en-US" altLang="zh-CN" sz="1800" dirty="0"/>
              </a:p>
              <a:p>
                <a:pPr marL="0" indent="0">
                  <a:buNone/>
                </a:pPr>
                <a:endParaRPr lang="en-US" altLang="zh-CN" b="1" dirty="0"/>
              </a:p>
            </p:txBody>
          </p:sp>
        </mc:Choice>
        <mc:Fallback>
          <p:sp>
            <p:nvSpPr>
              <p:cNvPr id="5" name="内容占位符 4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17170" y="1079305"/>
                <a:ext cx="8708390" cy="5041569"/>
              </a:xfrm>
              <a:blipFill>
                <a:blip r:embed="rId3"/>
                <a:stretch>
                  <a:fillRect l="-840" t="-242" b="-253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 主题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67</TotalTime>
  <Words>1201</Words>
  <Application>Microsoft Office PowerPoint</Application>
  <PresentationFormat>全屏显示(4:3)</PresentationFormat>
  <Paragraphs>108</Paragraphs>
  <Slides>9</Slides>
  <Notes>9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8" baseType="lpstr">
      <vt:lpstr>Menlo</vt:lpstr>
      <vt:lpstr>等线</vt:lpstr>
      <vt:lpstr>黑体</vt:lpstr>
      <vt:lpstr>华文中宋</vt:lpstr>
      <vt:lpstr>微软雅黑</vt:lpstr>
      <vt:lpstr>Arial</vt:lpstr>
      <vt:lpstr>Calibri</vt:lpstr>
      <vt:lpstr>Cambria Math</vt:lpstr>
      <vt:lpstr>Office 主题</vt:lpstr>
      <vt:lpstr>数字信号处理实验二</vt:lpstr>
      <vt:lpstr>实验目的</vt:lpstr>
      <vt:lpstr>理论基础</vt:lpstr>
      <vt:lpstr>理论基础</vt:lpstr>
      <vt:lpstr>卷积函数</vt:lpstr>
      <vt:lpstr>卷积函数</vt:lpstr>
      <vt:lpstr>函数</vt:lpstr>
      <vt:lpstr>函数</vt:lpstr>
      <vt:lpstr>函数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数字信号处理实验一 MATLAB基础</dc:title>
  <dc:creator>Dell</dc:creator>
  <cp:lastModifiedBy>涛</cp:lastModifiedBy>
  <cp:revision>184</cp:revision>
  <dcterms:created xsi:type="dcterms:W3CDTF">2019-11-06T11:20:00Z</dcterms:created>
  <dcterms:modified xsi:type="dcterms:W3CDTF">2026-05-13T15:07:33Z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2052-12.1.0.20784</vt:lpwstr>
  </property>
  <property fmtid="{D5CDD505-2E9C-101B-9397-08002B2CF9AE}" pid="3" name="ICV">
    <vt:lpwstr>3787852CE76647EDA1C621DA47402DE6_12</vt:lpwstr>
  </property>
</Properties>
</file>