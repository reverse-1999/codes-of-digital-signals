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534" r:id="rId3"/>
    <p:sldId id="543" r:id="rId4"/>
    <p:sldId id="547" r:id="rId5"/>
    <p:sldId id="548" r:id="rId6"/>
    <p:sldId id="545" r:id="rId7"/>
    <p:sldId id="549" r:id="rId8"/>
    <p:sldId id="541" r:id="rId9"/>
    <p:sldId id="550" r:id="rId10"/>
    <p:sldId id="551" r:id="rId11"/>
    <p:sldId id="54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3D8832-872C-48B8-867C-328CFDAC4757}">
          <p14:sldIdLst>
            <p14:sldId id="256"/>
            <p14:sldId id="534"/>
            <p14:sldId id="543"/>
            <p14:sldId id="547"/>
            <p14:sldId id="548"/>
            <p14:sldId id="545"/>
            <p14:sldId id="549"/>
            <p14:sldId id="541"/>
            <p14:sldId id="550"/>
            <p14:sldId id="551"/>
            <p14:sldId id="5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9" autoAdjust="0"/>
    <p:restoredTop sz="76736" autoAdjust="0"/>
  </p:normalViewPr>
  <p:slideViewPr>
    <p:cSldViewPr snapToGrid="0" showGuides="1">
      <p:cViewPr varScale="1">
        <p:scale>
          <a:sx n="87" d="100"/>
          <a:sy n="87" d="100"/>
        </p:scale>
        <p:origin x="235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924AF-AE0E-414F-922F-726268C1B860}" type="datetimeFigureOut">
              <a:rPr lang="zh-CN" altLang="en-US" smtClean="0"/>
              <a:t>2026/06/04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DBDF9-2ACC-48D7-B2C1-DD875ED5B03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5E5E67-3D30-4ADE-9059-B93F7F6C693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根据滤波器的单位脉冲响应</a:t>
            </a:r>
            <a:r>
              <a:rPr lang="en-US" altLang="zh-CN" dirty="0"/>
              <a:t>h(n)</a:t>
            </a:r>
            <a:r>
              <a:rPr lang="zh-CN" altLang="en-US" dirty="0"/>
              <a:t>长度的奇偶性以及系统的对称性，将线性相位</a:t>
            </a:r>
            <a:r>
              <a:rPr lang="en-US" altLang="zh-CN" dirty="0"/>
              <a:t>FIR</a:t>
            </a:r>
            <a:r>
              <a:rPr lang="zh-CN" altLang="en-US" dirty="0"/>
              <a:t>滤波器主要分为</a:t>
            </a:r>
            <a:r>
              <a:rPr lang="en-US" altLang="zh-CN" dirty="0"/>
              <a:t>4</a:t>
            </a:r>
            <a:r>
              <a:rPr lang="zh-CN" altLang="en-US" dirty="0"/>
              <a:t>种，理论课上分别推导了</a:t>
            </a:r>
            <a:r>
              <a:rPr lang="en-US" altLang="zh-CN" dirty="0"/>
              <a:t>FIR</a:t>
            </a:r>
            <a:r>
              <a:rPr lang="zh-CN" altLang="en-US" dirty="0"/>
              <a:t>滤波器的幅频特性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这里直接根据理论推导的结论，给出了计算</a:t>
            </a:r>
            <a:r>
              <a:rPr lang="en-US" altLang="zh-CN" dirty="0"/>
              <a:t>FIR</a:t>
            </a:r>
            <a:r>
              <a:rPr lang="zh-CN" altLang="en-US" dirty="0"/>
              <a:t>滤波器幅频特性的</a:t>
            </a:r>
            <a:r>
              <a:rPr lang="en-US" altLang="zh-CN" dirty="0" err="1"/>
              <a:t>Matlab</a:t>
            </a:r>
            <a:r>
              <a:rPr lang="zh-CN" altLang="en-US" dirty="0"/>
              <a:t>程序，程序的输入为滤波器的脉冲响应或分子系数向量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这里说的标准，是指在设计低通、高通等滤波器时，表示的是线性相位理想低通、高通。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这里有三个要点需要注意：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DDBDF9-2ACC-48D7-B2C1-DD875ED5B03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1436687"/>
            <a:ext cx="9144000" cy="1767839"/>
          </a:xfrm>
          <a:prstGeom prst="rect">
            <a:avLst/>
          </a:prstGeom>
          <a:solidFill>
            <a:srgbClr val="33513A"/>
          </a:solidFill>
          <a:ln>
            <a:solidFill>
              <a:srgbClr val="3351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36687"/>
            <a:ext cx="7772400" cy="176783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B307-BCDA-40C7-9FDE-4F254D1AD999}" type="datetime1">
              <a:rPr lang="zh-CN" altLang="en-US" smtClean="0"/>
              <a:t>2026/06/04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F9BA0-6E7F-422C-8A04-F4D99B595A5F}" type="datetime1">
              <a:rPr lang="zh-CN" altLang="en-US" smtClean="0"/>
              <a:t>2026/06/04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3781-2582-4954-B52F-43BC81BE50B2}" type="datetime1">
              <a:rPr lang="zh-CN" altLang="en-US" smtClean="0"/>
              <a:t>2026/06/04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600" y="1108800"/>
            <a:ext cx="4085600" cy="46824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2640" y="1108800"/>
            <a:ext cx="4094480" cy="46824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872B9-21EB-4081-BB06-03B7C2D0554F}" type="datetime1">
              <a:rPr lang="zh-CN" altLang="en-US" smtClean="0"/>
              <a:t>2026/06/04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65156-131E-40BD-9868-EF5BC6617D39}" type="datetime1">
              <a:rPr lang="zh-CN" altLang="en-US" smtClean="0"/>
              <a:t>2026/06/04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18026-E0DD-49C6-A175-E099CCD7BC60}" type="datetime1">
              <a:rPr lang="zh-CN" altLang="en-US" smtClean="0"/>
              <a:t>2026/06/04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4C652-A981-4EBD-B97F-8231AFF102DC}" type="datetime1">
              <a:rPr lang="zh-CN" altLang="en-US" smtClean="0"/>
              <a:t>2026/06/04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FA27-12DB-4594-8250-EE0E0666AFEB}" type="datetime1">
              <a:rPr lang="zh-CN" altLang="en-US" smtClean="0"/>
              <a:t>2026/06/04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1AC9B-964E-41DF-8B13-73ADCEA276E4}" type="datetime1">
              <a:rPr lang="zh-CN" altLang="en-US" smtClean="0"/>
              <a:t>2026/06/04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9144000" cy="944879"/>
          </a:xfrm>
          <a:prstGeom prst="rect">
            <a:avLst/>
          </a:prstGeom>
          <a:solidFill>
            <a:srgbClr val="133727"/>
          </a:solidFill>
          <a:ln>
            <a:solidFill>
              <a:srgbClr val="1337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B8849-B68B-4D16-A83D-66262A0C31A9}" type="datetime1">
              <a:rPr lang="zh-CN" altLang="en-US" smtClean="0"/>
              <a:t>2026/06/04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42E21-9990-494D-8D2A-9B1911F55239}" type="datetime1">
              <a:rPr lang="zh-CN" altLang="en-US" smtClean="0"/>
              <a:t>2026/06/04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6539231"/>
            <a:ext cx="9144000" cy="0"/>
          </a:xfrm>
          <a:prstGeom prst="line">
            <a:avLst/>
          </a:prstGeom>
          <a:ln>
            <a:solidFill>
              <a:srgbClr val="133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610" y="162559"/>
            <a:ext cx="8271510" cy="61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r>
              <a:rPr lang="en-US" altLang="zh-CN" dirty="0"/>
              <a:t>ABC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610" y="1107438"/>
            <a:ext cx="8271510" cy="5069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ABC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r>
              <a:rPr lang="en-US" altLang="zh-CN" dirty="0"/>
              <a:t>ABC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r>
              <a:rPr lang="en-US" altLang="zh-CN" dirty="0"/>
              <a:t>ABC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01170" y="6563236"/>
            <a:ext cx="16236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6875A-C419-42F7-9166-A5E3EA936ACF}" type="datetime1">
              <a:rPr lang="zh-CN" altLang="en-US" smtClean="0"/>
              <a:t>2026/06/04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7960" y="6563236"/>
            <a:ext cx="1623600" cy="27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19565" y="6560440"/>
            <a:ext cx="903600" cy="2698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15D6CCC0-930F-418E-A4E3-7631211F20B0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89" b="24710"/>
          <a:stretch>
            <a:fillRect/>
          </a:stretch>
        </p:blipFill>
        <p:spPr>
          <a:xfrm>
            <a:off x="8001000" y="6560440"/>
            <a:ext cx="1035781" cy="2708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06" t="16371"/>
          <a:stretch>
            <a:fillRect/>
          </a:stretch>
        </p:blipFill>
        <p:spPr>
          <a:xfrm>
            <a:off x="121404" y="6561019"/>
            <a:ext cx="2043192" cy="26929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600"/>
        </a:spcBef>
        <a:buFontTx/>
        <a:buBlip>
          <a:blip r:embed="rId15"/>
        </a:buBlip>
        <a:defRPr sz="24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81E5E"/>
        </a:buClr>
        <a:buFont typeface="Calibri" panose="020F0502020204030204" pitchFamily="34" charset="0"/>
        <a:buChar char="▪"/>
        <a:defRPr sz="2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133727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Calibri" panose="020F0502020204030204" pitchFamily="34" charset="0"/>
        <a:buChar char="‐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600" b="1">
                <a:latin typeface="微软雅黑" panose="020B0503020204020204" pitchFamily="34" charset="-122"/>
                <a:ea typeface="微软雅黑" panose="020B0503020204020204" pitchFamily="34" charset="-122"/>
              </a:rPr>
              <a:t>数字信号处理实验五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867774" y="4143286"/>
            <a:ext cx="3408452" cy="1655762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电子与通信工程学院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31289" y="1393189"/>
            <a:ext cx="8912711" cy="3131746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加深对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线性相位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数字滤波器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特性的理解。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掌握线性相位滤波器符幅特性和零极点分布的研究方法。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窗函数法编写设计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数字滤波器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的程序。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频率采样法设计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数字滤波器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的方法。</a:t>
            </a:r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学习使用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语言提供的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fir2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子函数设计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数字滤波器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435610" y="1107441"/>
            <a:ext cx="8362162" cy="51588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、线性相位</a:t>
            </a:r>
            <a:r>
              <a:rPr kumimoji="1"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kumimoji="1"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滤波器的特性</a:t>
            </a:r>
            <a:endParaRPr kumimoji="1"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800" dirty="0">
                <a:latin typeface="黑体" panose="02010609060101010101" pitchFamily="49" charset="-122"/>
              </a:rPr>
              <a:t>  与</a:t>
            </a:r>
            <a:r>
              <a:rPr lang="en-US" altLang="zh-CN" sz="1800" dirty="0">
                <a:latin typeface="黑体" panose="02010609060101010101" pitchFamily="49" charset="-122"/>
              </a:rPr>
              <a:t>IIR</a:t>
            </a:r>
            <a:r>
              <a:rPr lang="zh-CN" altLang="en-US" sz="1800" dirty="0">
                <a:latin typeface="黑体" panose="02010609060101010101" pitchFamily="49" charset="-122"/>
              </a:rPr>
              <a:t>滤波器相比，</a:t>
            </a:r>
            <a:r>
              <a:rPr lang="en-US" altLang="zh-CN" sz="1800" dirty="0">
                <a:latin typeface="黑体" panose="02010609060101010101" pitchFamily="49" charset="-122"/>
              </a:rPr>
              <a:t>FIR</a:t>
            </a:r>
            <a:r>
              <a:rPr lang="zh-CN" altLang="en-US" sz="1800" dirty="0">
                <a:latin typeface="黑体" panose="02010609060101010101" pitchFamily="49" charset="-122"/>
              </a:rPr>
              <a:t>滤波器在保证幅度特性满足技术要求的同时，很容易做到有严格的线性相位特性。设</a:t>
            </a:r>
            <a:r>
              <a:rPr lang="en-US" altLang="zh-CN" sz="1800" dirty="0">
                <a:latin typeface="黑体" panose="02010609060101010101" pitchFamily="49" charset="-122"/>
              </a:rPr>
              <a:t>FIR</a:t>
            </a:r>
            <a:r>
              <a:rPr lang="zh-CN" altLang="en-US" sz="1800" dirty="0">
                <a:latin typeface="黑体" panose="02010609060101010101" pitchFamily="49" charset="-122"/>
              </a:rPr>
              <a:t>滤波器单位脉冲响应</a:t>
            </a:r>
            <a:r>
              <a:rPr lang="en-US" altLang="zh-CN" sz="1800" dirty="0">
                <a:latin typeface="黑体" panose="02010609060101010101" pitchFamily="49" charset="-122"/>
              </a:rPr>
              <a:t>h(n)</a:t>
            </a:r>
            <a:r>
              <a:rPr lang="zh-CN" altLang="en-US" sz="1800" dirty="0">
                <a:latin typeface="黑体" panose="02010609060101010101" pitchFamily="49" charset="-122"/>
              </a:rPr>
              <a:t>长度为</a:t>
            </a:r>
            <a:r>
              <a:rPr lang="en-US" altLang="zh-CN" sz="1800" dirty="0">
                <a:latin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</a:rPr>
              <a:t>，系统函数为</a:t>
            </a:r>
            <a:endParaRPr lang="en-US" altLang="zh-CN" sz="1800" dirty="0">
              <a:latin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1800" dirty="0">
              <a:latin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1800" dirty="0">
              <a:latin typeface="黑体" panose="02010609060101010101" pitchFamily="49" charset="-122"/>
            </a:endParaRPr>
          </a:p>
          <a:p>
            <a:pPr marL="0" indent="457200">
              <a:buNone/>
            </a:pPr>
            <a:endParaRPr lang="en-US" altLang="zh-CN" sz="1800" dirty="0">
              <a:latin typeface="黑体" panose="02010609060101010101" pitchFamily="49" charset="-122"/>
            </a:endParaRPr>
          </a:p>
          <a:p>
            <a:pPr marL="0" indent="457200">
              <a:buNone/>
            </a:pPr>
            <a:r>
              <a:rPr lang="zh-CN" altLang="en-US" sz="1800" dirty="0">
                <a:latin typeface="黑体" panose="02010609060101010101" pitchFamily="49" charset="-122"/>
              </a:rPr>
              <a:t>当滤波器的系数</a:t>
            </a:r>
            <a:r>
              <a:rPr lang="en-US" altLang="zh-CN" sz="1800" dirty="0">
                <a:latin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</a:rPr>
              <a:t>满足一定的对称条件时，就可以获得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</a:rPr>
              <a:t>线性相位</a:t>
            </a:r>
            <a:r>
              <a:rPr lang="zh-CN" altLang="en-US" sz="1800" dirty="0">
                <a:latin typeface="黑体" panose="02010609060101010101" pitchFamily="49" charset="-122"/>
              </a:rPr>
              <a:t>。线性相位</a:t>
            </a:r>
            <a:r>
              <a:rPr lang="en-US" altLang="zh-CN" sz="1800" dirty="0">
                <a:latin typeface="黑体" panose="02010609060101010101" pitchFamily="49" charset="-122"/>
              </a:rPr>
              <a:t>FIR</a:t>
            </a:r>
            <a:r>
              <a:rPr lang="zh-CN" altLang="en-US" sz="1800" dirty="0">
                <a:latin typeface="黑体" panose="02010609060101010101" pitchFamily="49" charset="-122"/>
              </a:rPr>
              <a:t>滤波器共分为四种类型，分别为：</a:t>
            </a:r>
            <a:endParaRPr lang="en-US" altLang="zh-CN" sz="1800" dirty="0">
              <a:latin typeface="黑体" panose="02010609060101010101" pitchFamily="49" charset="-122"/>
            </a:endParaRPr>
          </a:p>
          <a:p>
            <a:pPr marL="0" indent="457200">
              <a:buNone/>
            </a:pPr>
            <a:r>
              <a:rPr lang="en-US" altLang="zh-CN" sz="1800" dirty="0">
                <a:latin typeface="黑体" panose="02010609060101010101" pitchFamily="49" charset="-122"/>
              </a:rPr>
              <a:t>(1)</a:t>
            </a:r>
            <a:r>
              <a:rPr lang="zh-CN" altLang="en-US" sz="1800" dirty="0">
                <a:latin typeface="黑体" panose="02010609060101010101" pitchFamily="49" charset="-122"/>
              </a:rPr>
              <a:t>类型</a:t>
            </a:r>
            <a:r>
              <a:rPr lang="en-US" altLang="zh-CN" sz="1800" dirty="0">
                <a:latin typeface="黑体" panose="02010609060101010101" pitchFamily="49" charset="-122"/>
              </a:rPr>
              <a:t>Ⅰ</a:t>
            </a:r>
            <a:r>
              <a:rPr lang="zh-CN" altLang="en-US" sz="1800" dirty="0">
                <a:latin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</a:rPr>
              <a:t>系数对称</a:t>
            </a:r>
            <a:r>
              <a:rPr lang="zh-CN" altLang="en-US" sz="1800" dirty="0">
                <a:latin typeface="黑体" panose="02010609060101010101" pitchFamily="49" charset="-122"/>
              </a:rPr>
              <a:t>，即</a:t>
            </a:r>
            <a:r>
              <a:rPr lang="en-US" altLang="zh-CN" sz="1800" dirty="0">
                <a:latin typeface="黑体" panose="02010609060101010101" pitchFamily="49" charset="-122"/>
              </a:rPr>
              <a:t>h(n)</a:t>
            </a:r>
            <a:r>
              <a:rPr lang="zh-CN" altLang="en-US" sz="1800" dirty="0">
                <a:latin typeface="黑体" panose="02010609060101010101" pitchFamily="49" charset="-122"/>
              </a:rPr>
              <a:t>＝</a:t>
            </a:r>
            <a:r>
              <a:rPr lang="en-US" altLang="zh-CN" sz="1800" dirty="0">
                <a:latin typeface="黑体" panose="02010609060101010101" pitchFamily="49" charset="-122"/>
              </a:rPr>
              <a:t>h(N</a:t>
            </a:r>
            <a:r>
              <a:rPr lang="zh-CN" altLang="en-US" sz="1800" dirty="0">
                <a:latin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</a:rPr>
              <a:t>n)</a:t>
            </a:r>
            <a:r>
              <a:rPr lang="zh-CN" altLang="en-US" sz="1800" dirty="0">
                <a:latin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</a:rPr>
              <a:t>为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</a:rPr>
              <a:t>奇数</a:t>
            </a:r>
            <a:r>
              <a:rPr lang="zh-CN" altLang="en-US" sz="1800" dirty="0">
                <a:latin typeface="黑体" panose="02010609060101010101" pitchFamily="49" charset="-122"/>
              </a:rPr>
              <a:t>。</a:t>
            </a:r>
            <a:br>
              <a:rPr lang="zh-CN" altLang="en-US" sz="1800" dirty="0">
                <a:latin typeface="黑体" panose="02010609060101010101" pitchFamily="49" charset="-122"/>
              </a:rPr>
            </a:br>
            <a:r>
              <a:rPr lang="zh-CN" altLang="en-US" sz="1800" dirty="0">
                <a:latin typeface="黑体" panose="02010609060101010101" pitchFamily="49" charset="-122"/>
              </a:rPr>
              <a:t>　　</a:t>
            </a:r>
            <a:r>
              <a:rPr lang="en-US" altLang="zh-CN" sz="1800" dirty="0">
                <a:latin typeface="黑体" panose="02010609060101010101" pitchFamily="49" charset="-122"/>
              </a:rPr>
              <a:t>(2)</a:t>
            </a:r>
            <a:r>
              <a:rPr lang="zh-CN" altLang="en-US" sz="1800" dirty="0">
                <a:latin typeface="黑体" panose="02010609060101010101" pitchFamily="49" charset="-122"/>
              </a:rPr>
              <a:t>类型</a:t>
            </a:r>
            <a:r>
              <a:rPr lang="en-US" altLang="zh-CN" sz="1800" dirty="0">
                <a:latin typeface="黑体" panose="02010609060101010101" pitchFamily="49" charset="-122"/>
              </a:rPr>
              <a:t>Ⅱ</a:t>
            </a:r>
            <a:r>
              <a:rPr lang="zh-CN" altLang="en-US" sz="1800" dirty="0">
                <a:latin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</a:rPr>
              <a:t>系数对称</a:t>
            </a:r>
            <a:r>
              <a:rPr lang="zh-CN" altLang="en-US" sz="1800" dirty="0">
                <a:latin typeface="黑体" panose="02010609060101010101" pitchFamily="49" charset="-122"/>
              </a:rPr>
              <a:t>，即</a:t>
            </a:r>
            <a:r>
              <a:rPr lang="en-US" altLang="zh-CN" sz="1800" dirty="0">
                <a:latin typeface="黑体" panose="02010609060101010101" pitchFamily="49" charset="-122"/>
              </a:rPr>
              <a:t>h(n)</a:t>
            </a:r>
            <a:r>
              <a:rPr lang="zh-CN" altLang="en-US" sz="1800" dirty="0">
                <a:latin typeface="黑体" panose="02010609060101010101" pitchFamily="49" charset="-122"/>
              </a:rPr>
              <a:t>＝</a:t>
            </a:r>
            <a:r>
              <a:rPr lang="en-US" altLang="zh-CN" sz="1800" dirty="0">
                <a:latin typeface="黑体" panose="02010609060101010101" pitchFamily="49" charset="-122"/>
              </a:rPr>
              <a:t>h(N</a:t>
            </a:r>
            <a:r>
              <a:rPr lang="zh-CN" altLang="en-US" sz="1800" dirty="0">
                <a:latin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</a:rPr>
              <a:t>n)</a:t>
            </a:r>
            <a:r>
              <a:rPr lang="zh-CN" altLang="en-US" sz="1800" dirty="0">
                <a:latin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</a:rPr>
              <a:t>为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</a:rPr>
              <a:t>偶数</a:t>
            </a:r>
            <a:r>
              <a:rPr lang="zh-CN" altLang="en-US" sz="1800" dirty="0">
                <a:latin typeface="黑体" panose="02010609060101010101" pitchFamily="49" charset="-122"/>
              </a:rPr>
              <a:t>。</a:t>
            </a:r>
            <a:br>
              <a:rPr lang="zh-CN" altLang="en-US" sz="1800" dirty="0">
                <a:latin typeface="黑体" panose="02010609060101010101" pitchFamily="49" charset="-122"/>
              </a:rPr>
            </a:br>
            <a:r>
              <a:rPr lang="zh-CN" altLang="en-US" sz="1800" dirty="0">
                <a:latin typeface="黑体" panose="02010609060101010101" pitchFamily="49" charset="-122"/>
              </a:rPr>
              <a:t>　　</a:t>
            </a:r>
            <a:r>
              <a:rPr lang="en-US" altLang="zh-CN" sz="1800" dirty="0">
                <a:latin typeface="黑体" panose="02010609060101010101" pitchFamily="49" charset="-122"/>
              </a:rPr>
              <a:t>(3)</a:t>
            </a:r>
            <a:r>
              <a:rPr lang="zh-CN" altLang="en-US" sz="1800" dirty="0">
                <a:latin typeface="黑体" panose="02010609060101010101" pitchFamily="49" charset="-122"/>
              </a:rPr>
              <a:t>类型</a:t>
            </a:r>
            <a:r>
              <a:rPr lang="en-US" altLang="zh-CN" sz="1800" dirty="0">
                <a:latin typeface="黑体" panose="02010609060101010101" pitchFamily="49" charset="-122"/>
              </a:rPr>
              <a:t>Ⅲ</a:t>
            </a:r>
            <a:r>
              <a:rPr lang="zh-CN" altLang="en-US" sz="1800" dirty="0">
                <a:latin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</a:rPr>
              <a:t>系数反对称</a:t>
            </a:r>
            <a:r>
              <a:rPr lang="zh-CN" altLang="en-US" sz="1800" dirty="0">
                <a:latin typeface="黑体" panose="02010609060101010101" pitchFamily="49" charset="-122"/>
              </a:rPr>
              <a:t>，即</a:t>
            </a:r>
            <a:r>
              <a:rPr lang="en-US" altLang="zh-CN" sz="1800" dirty="0">
                <a:latin typeface="黑体" panose="02010609060101010101" pitchFamily="49" charset="-122"/>
              </a:rPr>
              <a:t>h(n)</a:t>
            </a:r>
            <a:r>
              <a:rPr lang="zh-CN" altLang="en-US" sz="1800" dirty="0">
                <a:latin typeface="黑体" panose="02010609060101010101" pitchFamily="49" charset="-122"/>
              </a:rPr>
              <a:t>＝－</a:t>
            </a:r>
            <a:r>
              <a:rPr lang="en-US" altLang="zh-CN" sz="1800" dirty="0">
                <a:latin typeface="黑体" panose="02010609060101010101" pitchFamily="49" charset="-122"/>
              </a:rPr>
              <a:t>h(N</a:t>
            </a:r>
            <a:r>
              <a:rPr lang="zh-CN" altLang="en-US" sz="1800" dirty="0">
                <a:latin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</a:rPr>
              <a:t>n)</a:t>
            </a:r>
            <a:r>
              <a:rPr lang="zh-CN" altLang="en-US" sz="1800" dirty="0">
                <a:latin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</a:rPr>
              <a:t>为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</a:rPr>
              <a:t>奇数</a:t>
            </a:r>
            <a:r>
              <a:rPr lang="zh-CN" altLang="en-US" sz="1800" dirty="0">
                <a:latin typeface="黑体" panose="02010609060101010101" pitchFamily="49" charset="-122"/>
              </a:rPr>
              <a:t>。</a:t>
            </a:r>
            <a:br>
              <a:rPr lang="zh-CN" altLang="en-US" sz="1800" dirty="0">
                <a:latin typeface="黑体" panose="02010609060101010101" pitchFamily="49" charset="-122"/>
              </a:rPr>
            </a:br>
            <a:r>
              <a:rPr lang="zh-CN" altLang="en-US" sz="1800" dirty="0">
                <a:latin typeface="黑体" panose="02010609060101010101" pitchFamily="49" charset="-122"/>
              </a:rPr>
              <a:t>　　</a:t>
            </a:r>
            <a:r>
              <a:rPr lang="en-US" altLang="zh-CN" sz="1800" dirty="0">
                <a:latin typeface="黑体" panose="02010609060101010101" pitchFamily="49" charset="-122"/>
              </a:rPr>
              <a:t>(4)</a:t>
            </a:r>
            <a:r>
              <a:rPr lang="zh-CN" altLang="en-US" sz="1800" dirty="0">
                <a:latin typeface="黑体" panose="02010609060101010101" pitchFamily="49" charset="-122"/>
              </a:rPr>
              <a:t>类型</a:t>
            </a:r>
            <a:r>
              <a:rPr lang="en-US" altLang="zh-CN" sz="1800" dirty="0">
                <a:latin typeface="黑体" panose="02010609060101010101" pitchFamily="49" charset="-122"/>
              </a:rPr>
              <a:t>Ⅳ</a:t>
            </a:r>
            <a:r>
              <a:rPr lang="zh-CN" altLang="en-US" sz="1800" dirty="0">
                <a:latin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</a:rPr>
              <a:t>系数反对称</a:t>
            </a:r>
            <a:r>
              <a:rPr lang="zh-CN" altLang="en-US" sz="1800" dirty="0">
                <a:latin typeface="黑体" panose="02010609060101010101" pitchFamily="49" charset="-122"/>
              </a:rPr>
              <a:t>，即</a:t>
            </a:r>
            <a:r>
              <a:rPr lang="en-US" altLang="zh-CN" sz="1800" dirty="0">
                <a:latin typeface="黑体" panose="02010609060101010101" pitchFamily="49" charset="-122"/>
              </a:rPr>
              <a:t>h(n)</a:t>
            </a:r>
            <a:r>
              <a:rPr lang="zh-CN" altLang="en-US" sz="1800" dirty="0">
                <a:latin typeface="黑体" panose="02010609060101010101" pitchFamily="49" charset="-122"/>
              </a:rPr>
              <a:t>＝－</a:t>
            </a:r>
            <a:r>
              <a:rPr lang="en-US" altLang="zh-CN" sz="1800" dirty="0">
                <a:latin typeface="黑体" panose="02010609060101010101" pitchFamily="49" charset="-122"/>
              </a:rPr>
              <a:t>h(N</a:t>
            </a:r>
            <a:r>
              <a:rPr lang="zh-CN" altLang="en-US" sz="1800" dirty="0">
                <a:latin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</a:rPr>
              <a:t>n)</a:t>
            </a:r>
            <a:r>
              <a:rPr lang="zh-CN" altLang="en-US" sz="1800" dirty="0">
                <a:latin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</a:rPr>
              <a:t>为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</a:rPr>
              <a:t>偶数</a:t>
            </a:r>
            <a:r>
              <a:rPr lang="zh-CN" altLang="en-US" sz="1800" dirty="0">
                <a:latin typeface="黑体" panose="02010609060101010101" pitchFamily="49" charset="-122"/>
              </a:rPr>
              <a:t>。</a:t>
            </a:r>
            <a:endParaRPr kumimoji="1" lang="en-US" altLang="zh-CN" sz="1600" dirty="0">
              <a:latin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1800" dirty="0">
              <a:latin typeface="黑体" panose="02010609060101010101" pitchFamily="49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321897" y="2841542"/>
          <a:ext cx="2500206" cy="1011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Equation" r:id="rId4" imgW="748665" imgH="304800" progId="Equation.DSMT4">
                  <p:embed/>
                </p:oleObj>
              </mc:Choice>
              <mc:Fallback>
                <p:oleObj name="Equation" r:id="rId4" imgW="748665" imgH="304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897" y="2841542"/>
                        <a:ext cx="2500206" cy="10111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p:sp>
        <p:nvSpPr>
          <p:cNvPr id="4" name="内容占位符 4"/>
          <p:cNvSpPr>
            <a:spLocks noGrp="1"/>
          </p:cNvSpPr>
          <p:nvPr>
            <p:ph idx="1"/>
          </p:nvPr>
        </p:nvSpPr>
        <p:spPr>
          <a:xfrm>
            <a:off x="192918" y="1133567"/>
            <a:ext cx="8362162" cy="1335312"/>
          </a:xfrm>
        </p:spPr>
        <p:txBody>
          <a:bodyPr>
            <a:noAutofit/>
          </a:bodyPr>
          <a:lstStyle/>
          <a:p>
            <a:r>
              <a:rPr kumimoji="1" lang="zh-CN" altLang="en-US" sz="2000" dirty="0"/>
              <a:t>对考虑正负号的幅度频率特性</a:t>
            </a:r>
            <a:r>
              <a:rPr kumimoji="1" lang="en-US" altLang="zh-CN" sz="2000" dirty="0"/>
              <a:t>(</a:t>
            </a:r>
            <a:r>
              <a:rPr kumimoji="1" lang="zh-CN" altLang="en-US" sz="2000" dirty="0"/>
              <a:t>简称幅度特性</a:t>
            </a:r>
            <a:r>
              <a:rPr kumimoji="1" lang="en-US" altLang="zh-CN" sz="2000" dirty="0"/>
              <a:t>)</a:t>
            </a:r>
            <a:r>
              <a:rPr kumimoji="1" lang="zh-CN" altLang="en-US" sz="2000" dirty="0"/>
              <a:t>进行求解</a:t>
            </a:r>
            <a:endParaRPr kumimoji="1" lang="en-US" altLang="zh-CN" sz="2000" dirty="0"/>
          </a:p>
          <a:p>
            <a:pPr marL="0" indent="0">
              <a:buNone/>
            </a:pPr>
            <a:r>
              <a:rPr lang="zh-CN" altLang="en-US" sz="1800" dirty="0"/>
              <a:t>题目提供了一段通用函数，程序名为</a:t>
            </a:r>
            <a:r>
              <a:rPr lang="en-US" altLang="zh-CN" sz="1800" dirty="0" err="1"/>
              <a:t>amplres.m</a:t>
            </a:r>
            <a:r>
              <a:rPr lang="zh-CN" altLang="en-US" sz="1800" dirty="0"/>
              <a:t>，用于求幅度特性和判断类型：</a:t>
            </a:r>
            <a:endParaRPr lang="en-US" altLang="zh-CN" sz="1800" dirty="0"/>
          </a:p>
        </p:txBody>
      </p:sp>
      <p:sp>
        <p:nvSpPr>
          <p:cNvPr id="3" name="文本框 2"/>
          <p:cNvSpPr txBox="1"/>
          <p:nvPr/>
        </p:nvSpPr>
        <p:spPr>
          <a:xfrm>
            <a:off x="192918" y="2189479"/>
            <a:ext cx="455536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function[</a:t>
            </a:r>
            <a:r>
              <a:rPr lang="en-US" altLang="zh-CN" sz="1600" dirty="0" err="1"/>
              <a:t>A,w,type,tao</a:t>
            </a:r>
            <a:r>
              <a:rPr lang="en-US" altLang="zh-CN" sz="1600" dirty="0"/>
              <a:t>] = </a:t>
            </a:r>
            <a:r>
              <a:rPr lang="en-US" altLang="zh-CN" sz="1600" dirty="0" err="1"/>
              <a:t>amplres</a:t>
            </a:r>
            <a:r>
              <a:rPr lang="en-US" altLang="zh-CN" sz="1600" dirty="0"/>
              <a:t>(h)</a:t>
            </a:r>
          </a:p>
          <a:p>
            <a:r>
              <a:rPr lang="en-US" altLang="zh-CN" sz="1600" dirty="0"/>
              <a:t>% </a:t>
            </a:r>
            <a:r>
              <a:rPr lang="zh-CN" altLang="en-US" sz="1600" dirty="0"/>
              <a:t>给定</a:t>
            </a:r>
            <a:r>
              <a:rPr lang="en-US" altLang="zh-CN" sz="1600" dirty="0"/>
              <a:t>FIR</a:t>
            </a:r>
            <a:r>
              <a:rPr lang="zh-CN" altLang="en-US" sz="1600" dirty="0"/>
              <a:t>滤波器系数</a:t>
            </a:r>
            <a:r>
              <a:rPr lang="en-US" altLang="zh-CN" sz="1600" dirty="0"/>
              <a:t>,</a:t>
            </a:r>
            <a:r>
              <a:rPr lang="zh-CN" altLang="en-US" sz="1600" dirty="0"/>
              <a:t>求滤波器符幅特性</a:t>
            </a:r>
          </a:p>
          <a:p>
            <a:r>
              <a:rPr lang="en-US" altLang="zh-CN" sz="1600" dirty="0">
                <a:solidFill>
                  <a:srgbClr val="FF0000"/>
                </a:solidFill>
              </a:rPr>
              <a:t>% h</a:t>
            </a:r>
            <a:r>
              <a:rPr lang="zh-CN" altLang="en-US" sz="1600" dirty="0">
                <a:solidFill>
                  <a:srgbClr val="FF0000"/>
                </a:solidFill>
              </a:rPr>
              <a:t>＝</a:t>
            </a:r>
            <a:r>
              <a:rPr lang="en-US" altLang="zh-CN" sz="1600" dirty="0">
                <a:solidFill>
                  <a:srgbClr val="FF0000"/>
                </a:solidFill>
              </a:rPr>
              <a:t>FIR</a:t>
            </a:r>
            <a:r>
              <a:rPr lang="zh-CN" altLang="en-US" sz="1600" dirty="0">
                <a:solidFill>
                  <a:srgbClr val="FF0000"/>
                </a:solidFill>
              </a:rPr>
              <a:t>滤波器的脉冲响应或分子系数向量</a:t>
            </a:r>
          </a:p>
          <a:p>
            <a:r>
              <a:rPr lang="en-US" altLang="zh-CN" sz="1600" dirty="0">
                <a:solidFill>
                  <a:srgbClr val="FF0000"/>
                </a:solidFill>
              </a:rPr>
              <a:t>% A</a:t>
            </a:r>
            <a:r>
              <a:rPr lang="zh-CN" altLang="en-US" sz="1600" dirty="0">
                <a:solidFill>
                  <a:srgbClr val="FF0000"/>
                </a:solidFill>
              </a:rPr>
              <a:t>＝滤波器的符幅特性</a:t>
            </a:r>
          </a:p>
          <a:p>
            <a:r>
              <a:rPr lang="en-US" altLang="zh-CN" sz="1600" dirty="0">
                <a:solidFill>
                  <a:srgbClr val="FF0000"/>
                </a:solidFill>
              </a:rPr>
              <a:t>% w</a:t>
            </a:r>
            <a:r>
              <a:rPr lang="zh-CN" altLang="en-US" sz="1600" dirty="0">
                <a:solidFill>
                  <a:srgbClr val="FF0000"/>
                </a:solidFill>
              </a:rPr>
              <a:t>＝频率向量</a:t>
            </a:r>
            <a:r>
              <a:rPr lang="en-US" altLang="zh-CN" sz="1600" dirty="0">
                <a:solidFill>
                  <a:srgbClr val="FF0000"/>
                </a:solidFill>
              </a:rPr>
              <a:t>,</a:t>
            </a:r>
            <a:r>
              <a:rPr lang="zh-CN" altLang="en-US" sz="1600" dirty="0">
                <a:solidFill>
                  <a:srgbClr val="FF0000"/>
                </a:solidFill>
              </a:rPr>
              <a:t>在</a:t>
            </a:r>
            <a:r>
              <a:rPr lang="en-US" altLang="zh-CN" sz="1600" dirty="0">
                <a:solidFill>
                  <a:srgbClr val="FF0000"/>
                </a:solidFill>
              </a:rPr>
              <a:t>0</a:t>
            </a:r>
            <a:r>
              <a:rPr lang="zh-CN" altLang="en-US" sz="1600" dirty="0">
                <a:solidFill>
                  <a:srgbClr val="FF0000"/>
                </a:solidFill>
              </a:rPr>
              <a:t>到</a:t>
            </a:r>
            <a:r>
              <a:rPr lang="en-US" altLang="zh-CN" sz="1600" dirty="0">
                <a:solidFill>
                  <a:srgbClr val="FF0000"/>
                </a:solidFill>
              </a:rPr>
              <a:t>pi</a:t>
            </a:r>
            <a:r>
              <a:rPr lang="zh-CN" altLang="en-US" sz="1600" dirty="0">
                <a:solidFill>
                  <a:srgbClr val="FF0000"/>
                </a:solidFill>
              </a:rPr>
              <a:t>之间分成</a:t>
            </a:r>
            <a:r>
              <a:rPr lang="en-US" altLang="zh-CN" sz="1600" dirty="0">
                <a:solidFill>
                  <a:srgbClr val="FF0000"/>
                </a:solidFill>
              </a:rPr>
              <a:t>500</a:t>
            </a:r>
            <a:r>
              <a:rPr lang="zh-CN" altLang="en-US" sz="1600" dirty="0">
                <a:solidFill>
                  <a:srgbClr val="FF0000"/>
                </a:solidFill>
              </a:rPr>
              <a:t>份</a:t>
            </a:r>
            <a:r>
              <a:rPr lang="en-US" altLang="zh-CN" sz="1600" dirty="0">
                <a:solidFill>
                  <a:srgbClr val="FF0000"/>
                </a:solidFill>
              </a:rPr>
              <a:t>,501</a:t>
            </a:r>
            <a:r>
              <a:rPr lang="zh-CN" altLang="en-US" sz="1600" dirty="0">
                <a:solidFill>
                  <a:srgbClr val="FF0000"/>
                </a:solidFill>
              </a:rPr>
              <a:t>个点</a:t>
            </a:r>
          </a:p>
          <a:p>
            <a:r>
              <a:rPr lang="en-US" altLang="zh-CN" sz="1600" dirty="0">
                <a:solidFill>
                  <a:srgbClr val="FF0000"/>
                </a:solidFill>
              </a:rPr>
              <a:t>% type</a:t>
            </a:r>
            <a:r>
              <a:rPr lang="zh-CN" altLang="en-US" sz="1600" dirty="0">
                <a:solidFill>
                  <a:srgbClr val="FF0000"/>
                </a:solidFill>
              </a:rPr>
              <a:t>＝线性相位滤波器的类型</a:t>
            </a:r>
          </a:p>
          <a:p>
            <a:r>
              <a:rPr lang="en-US" altLang="zh-CN" sz="1600" dirty="0">
                <a:solidFill>
                  <a:srgbClr val="FF0000"/>
                </a:solidFill>
              </a:rPr>
              <a:t>% </a:t>
            </a:r>
            <a:r>
              <a:rPr lang="en-US" altLang="zh-CN" sz="1600" dirty="0" err="1">
                <a:solidFill>
                  <a:srgbClr val="FF0000"/>
                </a:solidFill>
              </a:rPr>
              <a:t>tao</a:t>
            </a:r>
            <a:r>
              <a:rPr lang="zh-CN" altLang="en-US" sz="1600" dirty="0">
                <a:solidFill>
                  <a:srgbClr val="FF0000"/>
                </a:solidFill>
              </a:rPr>
              <a:t>＝符幅特性的群时延</a:t>
            </a:r>
          </a:p>
          <a:p>
            <a:r>
              <a:rPr lang="en-US" altLang="zh-CN" sz="1600" dirty="0"/>
              <a:t>N = length(h);</a:t>
            </a:r>
            <a:r>
              <a:rPr lang="en-US" altLang="zh-CN" sz="1600" dirty="0" err="1"/>
              <a:t>tao</a:t>
            </a:r>
            <a:r>
              <a:rPr lang="en-US" altLang="zh-CN" sz="1600" dirty="0"/>
              <a:t> = (N-1)/2;</a:t>
            </a:r>
          </a:p>
          <a:p>
            <a:r>
              <a:rPr lang="en-US" altLang="zh-CN" sz="1600" dirty="0"/>
              <a:t>L = floor((N-1)/2); % </a:t>
            </a:r>
            <a:r>
              <a:rPr lang="zh-CN" altLang="en-US" sz="1600" dirty="0"/>
              <a:t>求滤波器的阶次及符幅特性的阶次</a:t>
            </a:r>
          </a:p>
          <a:p>
            <a:r>
              <a:rPr lang="en-US" altLang="zh-CN" sz="1600" dirty="0"/>
              <a:t>n = 1:L+1;</a:t>
            </a:r>
          </a:p>
          <a:p>
            <a:r>
              <a:rPr lang="en-US" altLang="zh-CN" sz="1600" dirty="0"/>
              <a:t>w = [0:500]*2*pi/500; % </a:t>
            </a:r>
            <a:r>
              <a:rPr lang="zh-CN" altLang="en-US" sz="1600" dirty="0"/>
              <a:t>取滤波器频率向量</a:t>
            </a:r>
          </a:p>
          <a:p>
            <a:r>
              <a:rPr lang="en-US" altLang="zh-CN" sz="1600" dirty="0"/>
              <a:t>if all(abs(h(n)-h(N-n+1))&lt;1e-10)   % </a:t>
            </a:r>
            <a:r>
              <a:rPr lang="zh-CN" altLang="en-US" sz="1600" dirty="0"/>
              <a:t>判断滤波器系数</a:t>
            </a:r>
            <a:r>
              <a:rPr lang="en-US" altLang="zh-CN" sz="1600" dirty="0"/>
              <a:t>,</a:t>
            </a:r>
            <a:r>
              <a:rPr lang="zh-CN" altLang="en-US" sz="1600" dirty="0"/>
              <a:t>若为对称</a:t>
            </a:r>
          </a:p>
          <a:p>
            <a:r>
              <a:rPr lang="en-US" altLang="zh-CN" sz="1600" dirty="0"/>
              <a:t>A = 2*h(n)*cos(((N+1)/2-n)'*w)-mod(N,2)*h(L+1);</a:t>
            </a:r>
          </a:p>
          <a:p>
            <a:r>
              <a:rPr lang="en-US" altLang="zh-CN" sz="1600" dirty="0"/>
              <a:t>% </a:t>
            </a:r>
            <a:r>
              <a:rPr lang="zh-CN" altLang="en-US" sz="1600" dirty="0"/>
              <a:t>对称条件下计算</a:t>
            </a:r>
            <a:r>
              <a:rPr lang="en-US" altLang="zh-CN" sz="1600" dirty="0"/>
              <a:t>A(</a:t>
            </a:r>
            <a:r>
              <a:rPr lang="zh-CN" altLang="en-US" sz="1600" dirty="0"/>
              <a:t>两种类型</a:t>
            </a:r>
            <a:r>
              <a:rPr lang="en-US" altLang="zh-CN" sz="1600" dirty="0"/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88633" y="2681922"/>
            <a:ext cx="45553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% </a:t>
            </a:r>
            <a:r>
              <a:rPr lang="zh-CN" altLang="en-US" sz="1600" dirty="0"/>
              <a:t>在</a:t>
            </a:r>
            <a:r>
              <a:rPr lang="en-US" altLang="zh-CN" sz="1600" dirty="0"/>
              <a:t>N</a:t>
            </a:r>
            <a:r>
              <a:rPr lang="zh-CN" altLang="en-US" sz="1600" dirty="0"/>
              <a:t>＝奇数时</a:t>
            </a:r>
            <a:r>
              <a:rPr lang="en-US" altLang="zh-CN" sz="1600" dirty="0"/>
              <a:t>,h(L+1)</a:t>
            </a:r>
            <a:r>
              <a:rPr lang="zh-CN" altLang="en-US" sz="1600" dirty="0"/>
              <a:t>多算一倍</a:t>
            </a:r>
            <a:r>
              <a:rPr lang="en-US" altLang="zh-CN" sz="1600" dirty="0"/>
              <a:t>,</a:t>
            </a:r>
            <a:r>
              <a:rPr lang="zh-CN" altLang="en-US" sz="1600" dirty="0"/>
              <a:t>要减掉。</a:t>
            </a:r>
            <a:r>
              <a:rPr lang="en-US" altLang="zh-CN" sz="1600" dirty="0"/>
              <a:t>N</a:t>
            </a:r>
            <a:r>
              <a:rPr lang="zh-CN" altLang="en-US" sz="1600" dirty="0"/>
              <a:t>为偶数时</a:t>
            </a:r>
            <a:r>
              <a:rPr lang="en-US" altLang="zh-CN" sz="1600" dirty="0"/>
              <a:t>,</a:t>
            </a:r>
          </a:p>
          <a:p>
            <a:r>
              <a:rPr lang="en-US" altLang="zh-CN" sz="1600" dirty="0"/>
              <a:t>% </a:t>
            </a:r>
            <a:r>
              <a:rPr lang="zh-CN" altLang="en-US" sz="1600" dirty="0"/>
              <a:t>乘以</a:t>
            </a:r>
            <a:r>
              <a:rPr lang="en-US" altLang="zh-CN" sz="1600" dirty="0"/>
              <a:t>mod(N,2)</a:t>
            </a:r>
            <a:r>
              <a:rPr lang="zh-CN" altLang="en-US" sz="1600" dirty="0"/>
              <a:t>以取消这项</a:t>
            </a:r>
          </a:p>
          <a:p>
            <a:r>
              <a:rPr lang="en-US" altLang="zh-CN" sz="1600" dirty="0"/>
              <a:t>type = 2-mod(N,2);     % </a:t>
            </a:r>
            <a:r>
              <a:rPr lang="zh-CN" altLang="en-US" sz="1600" dirty="0"/>
              <a:t>判断并给出类型</a:t>
            </a:r>
          </a:p>
          <a:p>
            <a:r>
              <a:rPr lang="en-US" altLang="zh-CN" sz="1600" dirty="0"/>
              <a:t>elseif all(abs(h(n)+h(N-n+1))&lt;1e-10)&amp;(h(L+1)*mod(N,2)==0) % </a:t>
            </a:r>
            <a:r>
              <a:rPr lang="zh-CN" altLang="en-US" sz="1600" dirty="0"/>
              <a:t>系数若为反对称</a:t>
            </a:r>
          </a:p>
          <a:p>
            <a:r>
              <a:rPr lang="en-US" altLang="zh-CN" sz="1600" dirty="0"/>
              <a:t>% </a:t>
            </a:r>
            <a:r>
              <a:rPr lang="zh-CN" altLang="en-US" sz="1600" dirty="0"/>
              <a:t>在</a:t>
            </a:r>
            <a:r>
              <a:rPr lang="en-US" altLang="zh-CN" sz="1600" dirty="0"/>
              <a:t>N</a:t>
            </a:r>
            <a:r>
              <a:rPr lang="zh-CN" altLang="en-US" sz="1600" dirty="0"/>
              <a:t>＝奇数时</a:t>
            </a:r>
            <a:r>
              <a:rPr lang="en-US" altLang="zh-CN" sz="1600" dirty="0"/>
              <a:t>,h(L+1)</a:t>
            </a:r>
            <a:r>
              <a:rPr lang="zh-CN" altLang="en-US" sz="1600" dirty="0"/>
              <a:t>为零是奇对称判别条件之一</a:t>
            </a:r>
            <a:r>
              <a:rPr lang="en-US" altLang="zh-CN" sz="1600" dirty="0"/>
              <a:t>,</a:t>
            </a:r>
          </a:p>
          <a:p>
            <a:r>
              <a:rPr lang="en-US" altLang="zh-CN" sz="1600" dirty="0"/>
              <a:t>% N</a:t>
            </a:r>
            <a:r>
              <a:rPr lang="zh-CN" altLang="en-US" sz="1600" dirty="0"/>
              <a:t>为偶数时</a:t>
            </a:r>
            <a:r>
              <a:rPr lang="en-US" altLang="zh-CN" sz="1600" dirty="0"/>
              <a:t>,</a:t>
            </a:r>
            <a:r>
              <a:rPr lang="zh-CN" altLang="en-US" sz="1600" dirty="0"/>
              <a:t>乘以</a:t>
            </a:r>
            <a:r>
              <a:rPr lang="en-US" altLang="zh-CN" sz="1600" dirty="0"/>
              <a:t>mod(N,2)</a:t>
            </a:r>
            <a:r>
              <a:rPr lang="zh-CN" altLang="en-US" sz="1600" dirty="0"/>
              <a:t>以取消这项</a:t>
            </a:r>
          </a:p>
          <a:p>
            <a:r>
              <a:rPr lang="en-US" altLang="zh-CN" sz="1600" dirty="0"/>
              <a:t>A = 2*h(n)*sin(((N+1)/2-n)'*w); % </a:t>
            </a:r>
            <a:r>
              <a:rPr lang="zh-CN" altLang="en-US" sz="1600" dirty="0"/>
              <a:t>反对称条件下计算</a:t>
            </a:r>
            <a:r>
              <a:rPr lang="en-US" altLang="zh-CN" sz="1600" dirty="0"/>
              <a:t>A(</a:t>
            </a:r>
            <a:r>
              <a:rPr lang="zh-CN" altLang="en-US" sz="1600" dirty="0"/>
              <a:t>两种类型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/>
              <a:t>type = 4-mod(N,2); % </a:t>
            </a:r>
            <a:r>
              <a:rPr lang="zh-CN" altLang="en-US" sz="1600" dirty="0"/>
              <a:t>判断并给出类型</a:t>
            </a:r>
          </a:p>
          <a:p>
            <a:r>
              <a:rPr lang="en-US" altLang="zh-CN" sz="1600" dirty="0"/>
              <a:t>else error('</a:t>
            </a:r>
            <a:r>
              <a:rPr lang="zh-CN" altLang="en-US" sz="1600" dirty="0"/>
              <a:t>错误：这不是线性相位滤波器</a:t>
            </a:r>
            <a:r>
              <a:rPr lang="en-US" altLang="zh-CN" sz="1600" dirty="0"/>
              <a:t>!') % </a:t>
            </a:r>
            <a:r>
              <a:rPr lang="zh-CN" altLang="en-US" sz="1600" dirty="0"/>
              <a:t>滤波器系数非对称</a:t>
            </a:r>
            <a:r>
              <a:rPr lang="en-US" altLang="zh-CN" sz="1600" dirty="0"/>
              <a:t>,</a:t>
            </a:r>
            <a:r>
              <a:rPr lang="zh-CN" altLang="en-US" sz="1600" dirty="0"/>
              <a:t>报告错误</a:t>
            </a:r>
          </a:p>
          <a:p>
            <a:r>
              <a:rPr lang="en-US" altLang="zh-CN" sz="1600" dirty="0"/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35610" y="1107441"/>
                <a:ext cx="8362162" cy="5371736"/>
              </a:xfrm>
            </p:spPr>
            <p:txBody>
              <a:bodyPr>
                <a:noAutofit/>
              </a:bodyPr>
              <a:lstStyle/>
              <a:p>
                <a:r>
                  <a:rPr kumimoji="1" lang="en-US" altLang="zh-CN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kumimoji="1" lang="zh-CN" altLang="en-US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、运用窗函数法设计</a:t>
                </a:r>
                <a:r>
                  <a:rPr kumimoji="1" lang="en-US" altLang="zh-CN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FIR</a:t>
                </a:r>
                <a:r>
                  <a:rPr kumimoji="1" lang="zh-CN" altLang="en-US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数字滤波器</a:t>
                </a:r>
                <a:endParaRPr kumimoji="1" lang="en-US" altLang="zh-CN" sz="2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457200">
                  <a:buNone/>
                </a:pPr>
                <a:r>
                  <a:rPr kumimoji="1" lang="en-US" altLang="zh-CN" sz="2000" dirty="0"/>
                  <a:t>FIR</a:t>
                </a:r>
                <a:r>
                  <a:rPr kumimoji="1" lang="zh-CN" altLang="en-US" sz="2000" dirty="0"/>
                  <a:t>数字滤波器的系统函数为：</a:t>
                </a:r>
                <a:endParaRPr kumimoji="1" lang="en-US" altLang="zh-CN" sz="2000" dirty="0"/>
              </a:p>
              <a:p>
                <a:pPr marL="0" indent="0">
                  <a:buNone/>
                </a:pPr>
                <a:endParaRPr kumimoji="1" lang="en-US" altLang="zh-CN" sz="2000" dirty="0"/>
              </a:p>
              <a:p>
                <a:pPr marL="0" indent="457200">
                  <a:buNone/>
                </a:pPr>
                <a:r>
                  <a:rPr kumimoji="1" lang="zh-CN" altLang="en-US" sz="2000" dirty="0"/>
                  <a:t>看成是离散</a:t>
                </a:r>
                <a:r>
                  <a:rPr kumimoji="1" lang="en-US" altLang="zh-CN" sz="2000" dirty="0"/>
                  <a:t>LSI</a:t>
                </a:r>
                <a:r>
                  <a:rPr kumimoji="1" lang="zh-CN" altLang="en-US" sz="2000" dirty="0"/>
                  <a:t>系统的系统函数：</a:t>
                </a:r>
                <a:endParaRPr kumimoji="1" lang="en-US" altLang="zh-CN" sz="2000" dirty="0"/>
              </a:p>
              <a:p>
                <a:pPr marL="0" indent="457200">
                  <a:buNone/>
                </a:pPr>
                <a:endParaRPr kumimoji="1" lang="en-US" altLang="zh-CN" sz="2000" dirty="0"/>
              </a:p>
              <a:p>
                <a:pPr marL="0" indent="457200">
                  <a:buNone/>
                </a:pPr>
                <a:endParaRPr kumimoji="1" lang="en-US" altLang="zh-CN" sz="2000" dirty="0"/>
              </a:p>
              <a:p>
                <a:pPr marL="0" indent="457200">
                  <a:buNone/>
                </a:pPr>
                <a:endParaRPr kumimoji="1" lang="en-US" altLang="zh-CN" sz="2000" dirty="0"/>
              </a:p>
              <a:p>
                <a:pPr marL="0" indent="457200">
                  <a:buNone/>
                </a:pPr>
                <a:endParaRPr kumimoji="1" lang="en-US" altLang="zh-CN" sz="2000" dirty="0"/>
              </a:p>
              <a:p>
                <a:pPr marL="0" indent="457200">
                  <a:buNone/>
                </a:pPr>
                <a:endParaRPr kumimoji="1" lang="en-US" altLang="zh-CN" sz="2000" dirty="0"/>
              </a:p>
              <a:p>
                <a:pPr marL="0" indent="0">
                  <a:buNone/>
                </a:pPr>
                <a:endParaRPr kumimoji="1" lang="en-US" altLang="zh-CN" sz="2000" dirty="0"/>
              </a:p>
              <a:p>
                <a:pPr marL="0" indent="0">
                  <a:buNone/>
                </a:pPr>
                <a:r>
                  <a:rPr kumimoji="1" lang="zh-CN" altLang="en-US" sz="2000" dirty="0"/>
                  <a:t>分母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000" dirty="0"/>
                  <a:t>为</a:t>
                </a:r>
                <a:r>
                  <a:rPr kumimoji="1" lang="en-US" altLang="zh-CN" sz="2000" dirty="0"/>
                  <a:t>1</a:t>
                </a:r>
                <a:r>
                  <a:rPr kumimoji="1" lang="zh-CN" altLang="en-US" sz="2000" dirty="0"/>
                  <a:t>，其余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000" dirty="0"/>
                  <a:t>全都为</a:t>
                </a:r>
                <a:r>
                  <a:rPr kumimoji="1" lang="en-US" altLang="zh-CN" sz="2000" dirty="0"/>
                  <a:t>0</a:t>
                </a:r>
                <a:r>
                  <a:rPr kumimoji="1" lang="zh-CN" altLang="en-US" sz="2000" dirty="0"/>
                  <a:t>时的一个特例。</a:t>
                </a:r>
                <a:r>
                  <a:rPr kumimoji="1" lang="zh-CN" altLang="en-US" sz="2000" dirty="0">
                    <a:solidFill>
                      <a:srgbClr val="FF0000"/>
                    </a:solidFill>
                  </a:rPr>
                  <a:t>极点全部集中在</a:t>
                </a:r>
                <a:r>
                  <a:rPr kumimoji="1" lang="en-US" altLang="zh-CN" sz="2000" dirty="0">
                    <a:solidFill>
                      <a:srgbClr val="FF0000"/>
                    </a:solidFill>
                  </a:rPr>
                  <a:t>0</a:t>
                </a:r>
                <a:r>
                  <a:rPr kumimoji="1" lang="zh-CN" altLang="en-US" sz="2000" dirty="0">
                    <a:solidFill>
                      <a:srgbClr val="FF0000"/>
                    </a:solidFill>
                  </a:rPr>
                  <a:t>点</a:t>
                </a:r>
                <a:r>
                  <a:rPr kumimoji="1" lang="zh-CN" altLang="en-US" sz="2000" dirty="0"/>
                  <a:t>。</a:t>
                </a:r>
                <a:endParaRPr kumimoji="1" lang="en-US" altLang="zh-CN" sz="2000" dirty="0"/>
              </a:p>
            </p:txBody>
          </p:sp>
        </mc:Choice>
        <mc:Fallback xmlns="">
          <p:sp>
            <p:nvSpPr>
              <p:cNvPr id="4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5610" y="1107441"/>
                <a:ext cx="8362162" cy="5371736"/>
              </a:xfrm>
              <a:blipFill rotWithShape="1">
                <a:blip r:embed="rId3"/>
                <a:stretch>
                  <a:fillRect r="6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442525" y="1868645"/>
          <a:ext cx="2303463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公式" r:id="rId4" imgW="748665" imgH="304800" progId="Equation.3">
                  <p:embed/>
                </p:oleObj>
              </mc:Choice>
              <mc:Fallback>
                <p:oleObj name="公式" r:id="rId4" imgW="748665" imgH="304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2525" y="1868645"/>
                        <a:ext cx="2303463" cy="93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"/>
          <p:cNvGraphicFramePr>
            <a:graphicFrameLocks noChangeAspect="1"/>
          </p:cNvGraphicFramePr>
          <p:nvPr/>
        </p:nvGraphicFramePr>
        <p:xfrm>
          <a:off x="2051142" y="3011330"/>
          <a:ext cx="4503084" cy="2448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Equation" r:id="rId6" imgW="1586865" imgH="862965" progId="Equation.DSMT4">
                  <p:embed/>
                </p:oleObj>
              </mc:Choice>
              <mc:Fallback>
                <p:oleObj name="Equation" r:id="rId6" imgW="1586865" imgH="86296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142" y="3011330"/>
                        <a:ext cx="4503084" cy="24481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35610" y="1020536"/>
                <a:ext cx="8708390" cy="2680787"/>
              </a:xfrm>
            </p:spPr>
            <p:txBody>
              <a:bodyPr>
                <a:noAutofit/>
              </a:bodyPr>
              <a:lstStyle/>
              <a:p>
                <a:r>
                  <a:rPr kumimoji="1" lang="zh-CN" altLang="en-US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运用窗函数法设计</a:t>
                </a:r>
                <a:r>
                  <a:rPr kumimoji="1" lang="en-US" altLang="zh-CN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FIR</a:t>
                </a:r>
                <a:r>
                  <a:rPr kumimoji="1" lang="zh-CN" altLang="en-US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数字滤波器的基本流程：</a:t>
                </a:r>
                <a:endParaRPr kumimoji="1" lang="en-US" altLang="zh-CN" sz="2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457200">
                  <a:buNone/>
                </a:pP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(1)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根据过渡带和阻带衰减设计指标选择窗函数类型，估算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滤波器的阶数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kumimoji="1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457200">
                  <a:buNone/>
                </a:pP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(2)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由数字滤波器的理想频率响应</a:t>
                </a:r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𝑗𝑤</m:t>
                        </m:r>
                      </m:sup>
                    </m:sSup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求出其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单位冲激响应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。对于理想的数字低通滤波器频率响应，参考程序</a:t>
                </a:r>
                <a:r>
                  <a:rPr kumimoji="1" lang="en-US" altLang="zh-CN" sz="20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ideal_lp.m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如下：</a:t>
                </a:r>
                <a:b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endParaRPr kumimoji="1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5610" y="1020536"/>
                <a:ext cx="8708390" cy="2680787"/>
              </a:xfrm>
              <a:blipFill rotWithShape="1">
                <a:blip r:embed="rId2"/>
                <a:stretch>
                  <a:fillRect t="-3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916666" y="3269061"/>
            <a:ext cx="469996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function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ideal_lp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wc,N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之间的理想脉冲响应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wc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截止频率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弧度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% N =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理想滤波器的长度</a:t>
            </a:r>
          </a:p>
          <a:p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tao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(N-1)/2;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= [0:(N-1)];</a:t>
            </a:r>
          </a:p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=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n-tao+eps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 %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加一个小数以避免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作除数</a:t>
            </a:r>
          </a:p>
          <a:p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sin(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wc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*m)./(pi*m);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435610" y="5380954"/>
                <a:ext cx="832663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indent="457200"/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其它选频滤波器则可以由低通频响特性合成。如一个通带在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之间的带通滤波器，在给定</a:t>
                </a: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N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 pitchFamily="34" charset="0"/>
                  </a:rPr>
                  <a:t>值的条件下，可以用下列程序实现：</a:t>
                </a:r>
                <a:endParaRPr kumimoji="1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10" y="5380954"/>
                <a:ext cx="8326636" cy="707886"/>
              </a:xfrm>
              <a:prstGeom prst="rect">
                <a:avLst/>
              </a:prstGeom>
              <a:blipFill rotWithShape="1">
                <a:blip r:embed="rId3"/>
                <a:stretch>
                  <a:fillRect t="-85" r="6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21422" y="6080670"/>
            <a:ext cx="4995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　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ideal_lp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(wc2,N)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－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ideal_lp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(wc1,N);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35610" y="1107441"/>
                <a:ext cx="8362162" cy="2504439"/>
              </a:xfrm>
            </p:spPr>
            <p:txBody>
              <a:bodyPr>
                <a:noAutofit/>
              </a:bodyPr>
              <a:lstStyle/>
              <a:p>
                <a:r>
                  <a:rPr kumimoji="1" lang="zh-CN" altLang="en-US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运用窗函数法设计</a:t>
                </a:r>
                <a:r>
                  <a:rPr kumimoji="1" lang="en-US" altLang="zh-CN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FIR</a:t>
                </a:r>
                <a:r>
                  <a:rPr kumimoji="1" lang="zh-CN" altLang="en-US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数字滤波器的基本流程：</a:t>
                </a:r>
                <a:endParaRPr kumimoji="1" lang="en-US" altLang="zh-CN" sz="2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457200">
                  <a:buNone/>
                </a:pP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(3)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计算数字滤波器的单位冲激响应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kumimoji="1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457200">
                  <a:buNone/>
                </a:pP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(4)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检查设计出的滤波器是否满足技术指标。</a:t>
                </a:r>
                <a:b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　　如果不满足技术指标，则需要根据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特性参数表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重新选择窗函数类型，估算滤波器的阶数</a:t>
                </a: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。再重复前面的四个步骤，直到满足指标为止。</a:t>
                </a:r>
                <a:endParaRPr kumimoji="1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5610" y="1107441"/>
                <a:ext cx="8362162" cy="2504439"/>
              </a:xfrm>
              <a:blipFill rotWithShape="1">
                <a:blip r:embed="rId2"/>
                <a:stretch>
                  <a:fillRect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" y="3522979"/>
            <a:ext cx="7350760" cy="2775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35610" y="963750"/>
                <a:ext cx="8271510" cy="456184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MATLAB</a:t>
                </a:r>
                <a:r>
                  <a:rPr kumimoji="1"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子函数</a:t>
                </a:r>
                <a:endPara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b="1" dirty="0">
                    <a:solidFill>
                      <a:srgbClr val="668A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 boxcar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矩形窗。调用格式：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＝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𝑏𝑜𝑥𝑐𝑎𝑟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。</a:t>
                </a:r>
                <a:endParaRPr lang="en-US" altLang="zh-CN" sz="1800" b="1" dirty="0">
                  <a:solidFill>
                    <a:srgbClr val="668A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b="1" dirty="0">
                    <a:solidFill>
                      <a:srgbClr val="668A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 triang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: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三角窗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。调用格式：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＝</m:t>
                    </m:r>
                    <m:r>
                      <m:rPr>
                        <m:sty m:val="p"/>
                      </m:rPr>
                      <a:rPr kumimoji="1" lang="en-US" altLang="zh-CN" sz="1800" i="1">
                        <a:latin typeface="Cambria Math" panose="02040503050406030204" pitchFamily="18" charset="0"/>
                      </a:rPr>
                      <m:t>tri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𝑎𝑛𝑔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。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b="1" dirty="0">
                    <a:solidFill>
                      <a:srgbClr val="668A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3. bartlett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: bartlett(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巴特利特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窗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。调用格式：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＝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𝑏𝑎𝑟𝑡𝑙𝑒𝑡𝑡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b="1" dirty="0">
                    <a:solidFill>
                      <a:srgbClr val="668A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4. hamming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hamming(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哈明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窗。调用格式：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＝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h𝑎𝑚𝑚𝑖𝑛𝑔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。</a:t>
                </a:r>
                <a:endParaRPr lang="en-US" altLang="zh-CN" sz="1800" b="1" dirty="0">
                  <a:solidFill>
                    <a:srgbClr val="668A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b="1" dirty="0">
                    <a:solidFill>
                      <a:srgbClr val="668A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5. hanning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hanning(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汉宁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窗。调用格式：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＝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h𝑎𝑛𝑛𝑖𝑛𝑔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。</a:t>
                </a:r>
                <a:endParaRPr lang="en-US" altLang="zh-CN" sz="1800" b="1" dirty="0">
                  <a:solidFill>
                    <a:srgbClr val="668A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b="1" dirty="0">
                    <a:solidFill>
                      <a:srgbClr val="668A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6. blackman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blackman(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布莱克曼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窗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。调用格式：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＝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𝑏𝑙𝑎𝑐𝑘𝑚𝑎𝑛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。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b="1" dirty="0">
                    <a:solidFill>
                      <a:srgbClr val="668A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7. chebwin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18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chebyshev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切比雪夫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窗。调用格式：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＝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𝑐h𝑒𝑏𝑤𝑖𝑛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b="1" dirty="0">
                    <a:solidFill>
                      <a:srgbClr val="668A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8. kaiser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kaiser(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凯塞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窗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。调用格式：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＝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𝑘𝑎𝑖𝑠𝑒𝑟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kumimoji="1" lang="en-US" altLang="zh-CN" sz="1800" i="1">
                        <a:latin typeface="Cambria Math" panose="02040503050406030204" pitchFamily="18" charset="0"/>
                      </a:rPr>
                      <m:t>beta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。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b="1" dirty="0">
                    <a:solidFill>
                      <a:srgbClr val="668A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9. fir1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标准频率响应，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fir1(</a:t>
                </a:r>
                <a:r>
                  <a:rPr kumimoji="1" lang="en-US" altLang="zh-CN" sz="18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n,Wn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 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截至频率为</a:t>
                </a:r>
                <a:r>
                  <a:rPr kumimoji="1" lang="en-US" altLang="zh-CN" sz="18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Wn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hamming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加窗线性滤波器</a:t>
                </a:r>
                <a:endPara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b = fir1(n, </a:t>
                </a:r>
                <a:r>
                  <a:rPr kumimoji="1" lang="en-US" altLang="zh-CN" sz="18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Wn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, ‘</a:t>
                </a:r>
                <a:r>
                  <a:rPr kumimoji="1" lang="en-US" altLang="zh-CN" sz="18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ftype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’,Window) 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</a:t>
                </a:r>
                <a:r>
                  <a:rPr kumimoji="1" lang="en-US" altLang="zh-CN" sz="18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ftype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Window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参数设计各种加窗滤波器</a:t>
                </a:r>
                <a:endParaRPr kumimoji="1"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5610" y="963750"/>
                <a:ext cx="8271510" cy="4561840"/>
              </a:xfrm>
              <a:blipFill rotWithShape="1">
                <a:blip r:embed="rId3"/>
                <a:stretch>
                  <a:fillRect t="-10" b="-39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35610" y="1107441"/>
                <a:ext cx="8362162" cy="536955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kumimoji="1"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实验原理</a:t>
                </a:r>
                <a:endPara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kumimoji="1" lang="en-US" altLang="zh-CN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kumimoji="1" lang="zh-CN" altLang="en-US" sz="2000" b="1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、频率采样法的基本原理：</a:t>
                </a:r>
                <a:endParaRPr kumimoji="1" lang="en-US" altLang="zh-CN" sz="20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457200">
                  <a:buNone/>
                </a:pPr>
                <a:r>
                  <a:rPr kumimoji="1" lang="zh-CN" altLang="en-US" sz="2000" dirty="0"/>
                  <a:t>设计滤波器时，通常给出的是幅频特性的技术指标要求，可直接在频域进行处理，按照理想的频率特性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kumimoji="1"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kumimoji="1" lang="zh-CN" altLang="en-US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/>
                  <a:t>，在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000" dirty="0"/>
                  <a:t>到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zh-CN" altLang="en-US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zh-CN" altLang="en-US" sz="2000" dirty="0"/>
                  <a:t>之间等间隔采样</a:t>
                </a:r>
                <a:r>
                  <a:rPr kumimoji="1" lang="en-US" altLang="zh-CN" sz="2000" dirty="0"/>
                  <a:t>N</a:t>
                </a:r>
                <a:r>
                  <a:rPr kumimoji="1" lang="zh-CN" altLang="en-US" sz="2000" dirty="0"/>
                  <a:t>点，得到：</a:t>
                </a:r>
                <a:br>
                  <a:rPr kumimoji="1" lang="zh-CN" altLang="en-US" sz="2000" dirty="0"/>
                </a:br>
                <a:r>
                  <a:rPr kumimoji="1" lang="zh-CN" altLang="en-US" sz="2000" dirty="0"/>
                  <a:t>　　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00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nor/>
                      </m:rPr>
                      <a:rPr kumimoji="1" lang="en-US" altLang="zh-CN" sz="200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kumimoji="1"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kumimoji="1" lang="zh-CN" altLang="en-US" sz="200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kumimoji="1" lang="en-US" altLang="zh-CN" sz="2000">
                            <a:latin typeface="Cambria Math" panose="02040503050406030204" pitchFamily="18" charset="0"/>
                          </a:rPr>
                          <m:t>)|</m:t>
                        </m:r>
                      </m:e>
                      <m:sub>
                        <m:r>
                          <a:rPr kumimoji="1" lang="zh-CN" altLang="en-US" sz="200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zh-CN" alt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＝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0</m:t>
                    </m:r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1</m:t>
                    </m:r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…</m:t>
                    </m:r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－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1" lang="en-US" altLang="zh-CN" sz="2000" dirty="0"/>
              </a:p>
              <a:p>
                <a:pPr marL="0" indent="0">
                  <a:buNone/>
                </a:pPr>
                <a:r>
                  <a:rPr lang="zh-CN" altLang="en-US" sz="2000" dirty="0"/>
                  <a:t>然后用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/>
                  <a:t>的傅里叶逆变换作为滤波器的系数</a:t>
                </a:r>
                <a:r>
                  <a:rPr lang="en-US" altLang="zh-CN" sz="2000" dirty="0"/>
                  <a:t>: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000" i="1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)=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𝐼𝐷𝐹𝑇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kumimoji="1" lang="en-US" altLang="zh-CN" sz="2000" dirty="0"/>
              </a:p>
              <a:p>
                <a:pPr marL="0" indent="457200">
                  <a:spcBef>
                    <a:spcPts val="0"/>
                  </a:spcBef>
                  <a:buNone/>
                </a:pPr>
                <a:r>
                  <a:rPr kumimoji="1" lang="zh-CN" altLang="en-US" sz="2000" dirty="0"/>
                  <a:t>构成一个系统传递函数为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kumimoji="1" lang="en-US" altLang="zh-CN" sz="20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kumimoji="1" lang="zh-CN" altLang="en-US" sz="2000" dirty="0"/>
                  <a:t>的实际的</a:t>
                </a:r>
                <a:r>
                  <a:rPr kumimoji="1" lang="en-US" altLang="zh-CN" sz="2000" dirty="0"/>
                  <a:t>FIR</a:t>
                </a:r>
                <a:r>
                  <a:rPr kumimoji="1" lang="zh-CN" altLang="en-US" sz="2000" dirty="0"/>
                  <a:t>数字滤波器，称为</a:t>
                </a:r>
                <a:r>
                  <a:rPr kumimoji="1" lang="zh-CN" altLang="en-US" sz="2000" dirty="0">
                    <a:solidFill>
                      <a:srgbClr val="FF0000"/>
                    </a:solidFill>
                  </a:rPr>
                  <a:t>频率采样法</a:t>
                </a:r>
                <a:r>
                  <a:rPr kumimoji="1" lang="zh-CN" altLang="en-US" sz="2000" dirty="0"/>
                  <a:t>。其中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/>
                  <a:t>与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kumimoji="1"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000" dirty="0"/>
                  <a:t>的关系符合内插公式，即</a:t>
                </a:r>
                <a:br>
                  <a:rPr kumimoji="1" lang="zh-CN" altLang="en-US" sz="2000" dirty="0"/>
                </a:br>
                <a:endParaRPr kumimoji="1" lang="en-US" altLang="zh-CN" sz="2000" dirty="0"/>
              </a:p>
            </p:txBody>
          </p:sp>
        </mc:Choice>
        <mc:Fallback xmlns="">
          <p:sp>
            <p:nvSpPr>
              <p:cNvPr id="4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5610" y="1107441"/>
                <a:ext cx="8362162" cy="5369559"/>
              </a:xfrm>
              <a:blipFill rotWithShape="1">
                <a:blip r:embed="rId4"/>
                <a:stretch>
                  <a:fillRect r="-6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595038" y="4917213"/>
          <a:ext cx="3952654" cy="120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" name="公式" r:id="rId5" imgW="1206500" imgH="368300" progId="Equation.3">
                  <p:embed/>
                </p:oleObj>
              </mc:Choice>
              <mc:Fallback>
                <p:oleObj name="公式" r:id="rId5" imgW="1206500" imgH="368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038" y="4917213"/>
                        <a:ext cx="3952654" cy="12043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619956" y="6054549"/>
            <a:ext cx="41349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频率采样法</a:t>
            </a:r>
            <a:r>
              <a:rPr kumimoji="1"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</a:t>
            </a:r>
            <a:r>
              <a:rPr kumimoji="1"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滤波器设计步骤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35610" y="1107442"/>
                <a:ext cx="8362162" cy="466304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kumimoji="1"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实验原理</a:t>
                </a:r>
                <a:endPara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使用频率采样法设计</a:t>
                </a: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FIR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数字滤波器时应注意下列问题：</a:t>
                </a:r>
                <a:endParaRPr kumimoji="1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(1)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根据频域抽样定理，被采样的理想频率特性其采样点数</a:t>
                </a: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与滤波器的长度</a:t>
                </a: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应满足</a:t>
                </a:r>
                <a:r>
                  <a:rPr kumimoji="1" lang="en-US" altLang="zh-CN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N≥M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，否则将造成混叠，本实验可取</a:t>
                </a: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＝</a:t>
                </a: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kumimoji="1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(2)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为保证滤波器的系数为实序列，作为复数序列的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理想频率特性应具有共轭对称性</a:t>
                </a:r>
                <a:r>
                  <a:rPr kumimoji="1"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，幅频性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应为偶函数，相位特性应为奇函数。必须在</a:t>
                </a: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的全频段上才能观察到其对称图形，一般利用其对称性，只作</a:t>
                </a: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kumimoji="1" lang="zh-CN" altLang="en-US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频段上的图形。</a:t>
                </a:r>
                <a:endParaRPr kumimoji="1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buNone/>
                </a:pP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(3)</a:t>
                </a:r>
                <a:r>
                  <a:rPr kumimoji="1" lang="zh-CN" altLang="en-US" sz="2000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理想频率特性的相位特性应该与频率成线性关系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，即满足线性相位的条件。由于第一类线性相位滤波器</a:t>
                </a: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类型</a:t>
                </a:r>
                <a:r>
                  <a:rPr kumimoji="1"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Ⅰ)</a:t>
                </a:r>
                <a:r>
                  <a:rPr kumimoji="1"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能进行低通、高通、带通、带阻滤波器的设计，因此本实验所有滤波器均采用第一类线性相位滤波器。</a:t>
                </a:r>
                <a:endParaRPr kumimoji="1"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5610" y="1107442"/>
                <a:ext cx="8362162" cy="4663044"/>
              </a:xfrm>
              <a:blipFill rotWithShape="1">
                <a:blip r:embed="rId3"/>
                <a:stretch>
                  <a:fillRect r="6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理论基础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4"/>
              <p:cNvSpPr>
                <a:spLocks noGrp="1"/>
              </p:cNvSpPr>
              <p:nvPr>
                <p:ph idx="1"/>
              </p:nvPr>
            </p:nvSpPr>
            <p:spPr>
              <a:xfrm>
                <a:off x="435610" y="963749"/>
                <a:ext cx="8271510" cy="5406571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使用到</a:t>
                </a:r>
                <a:r>
                  <a:rPr kumimoji="1"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MATLAB</a:t>
                </a:r>
                <a:r>
                  <a:rPr kumimoji="1" lang="zh-CN" altLang="en-US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子函数</a:t>
                </a:r>
                <a:endParaRPr kumimoji="1" lang="en-US" altLang="zh-CN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b="1" dirty="0">
                    <a:solidFill>
                      <a:srgbClr val="668A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10. fir2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基于频率样本法的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FIR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滤波器设计，用于任意频率响应的加窗数字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FIR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滤波器的设计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。调用格式：</a:t>
                </a:r>
                <a14:m>
                  <m:oMath xmlns:m="http://schemas.openxmlformats.org/officeDocument/2006/math"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＝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𝑓𝑖𝑟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2(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) 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和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＝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𝑓𝑖𝑟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2(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𝑊𝑖𝑛𝑑𝑜𝑤𝑠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为滤波器阶数，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为频点矢量，</a:t>
                </a: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为对应的期望滤波器响应幅度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1800" b="1" dirty="0">
                    <a:solidFill>
                      <a:srgbClr val="668A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11. </a:t>
                </a:r>
                <a:r>
                  <a:rPr lang="en-US" altLang="zh-CN" sz="1800" b="1" dirty="0" err="1">
                    <a:solidFill>
                      <a:srgbClr val="668A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freqz_m.m</a:t>
                </a:r>
                <a:r>
                  <a:rPr kumimoji="1"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</a:t>
                </a:r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求解频率响应</a:t>
                </a:r>
                <a:r>
                  <a:rPr kumimoji="1"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。调用格式：</a:t>
                </a:r>
                <a14:m>
                  <m:oMath xmlns:m="http://schemas.openxmlformats.org/officeDocument/2006/math"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𝑑𝑏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𝑚𝑎𝑔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𝑝h𝑎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𝑔𝑟𝑑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＝</m:t>
                    </m:r>
                    <m:r>
                      <m:rPr>
                        <m:sty m:val="p"/>
                      </m:rPr>
                      <a:rPr kumimoji="1" lang="en-US" altLang="zh-CN" sz="1800" i="1">
                        <a:latin typeface="Cambria Math" panose="02040503050406030204" pitchFamily="18" charset="0"/>
                      </a:rPr>
                      <m:t>freqz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zh-CN" altLang="en-US" sz="1800" i="1"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zh-CN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1800" b="1" dirty="0">
                  <a:solidFill>
                    <a:srgbClr val="668A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800" b="1" dirty="0">
                  <a:solidFill>
                    <a:srgbClr val="668A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1800" b="1" dirty="0">
                  <a:solidFill>
                    <a:srgbClr val="668A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内容占位符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5610" y="963749"/>
                <a:ext cx="8271510" cy="5406571"/>
              </a:xfrm>
              <a:blipFill rotWithShape="1">
                <a:blip r:embed="rId2"/>
                <a:stretch>
                  <a:fillRect t="-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869082" y="3961093"/>
            <a:ext cx="532511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% </a:t>
            </a:r>
            <a:r>
              <a:rPr lang="zh-CN" altLang="en-US" sz="1600" dirty="0"/>
              <a:t>计算滤波器的绝对和相对幅度频率响应和相位频率响应</a:t>
            </a:r>
          </a:p>
          <a:p>
            <a:r>
              <a:rPr lang="en-US" altLang="zh-CN" sz="1600" dirty="0"/>
              <a:t>function [</a:t>
            </a:r>
            <a:r>
              <a:rPr lang="en-US" altLang="zh-CN" sz="1600" dirty="0" err="1"/>
              <a:t>db,mag,pha,grd,w</a:t>
            </a:r>
            <a:r>
              <a:rPr lang="en-US" altLang="zh-CN" sz="1600" dirty="0"/>
              <a:t>] = </a:t>
            </a:r>
            <a:r>
              <a:rPr lang="en-US" altLang="zh-CN" sz="1600" dirty="0" err="1"/>
              <a:t>freqz_m</a:t>
            </a:r>
            <a:r>
              <a:rPr lang="en-US" altLang="zh-CN" sz="1600" dirty="0"/>
              <a:t>(</a:t>
            </a:r>
            <a:r>
              <a:rPr lang="en-US" altLang="zh-CN" sz="1600" dirty="0" err="1"/>
              <a:t>b,a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/>
              <a:t>[</a:t>
            </a:r>
            <a:r>
              <a:rPr lang="en-US" altLang="zh-CN" sz="1600" dirty="0" err="1"/>
              <a:t>H,w</a:t>
            </a:r>
            <a:r>
              <a:rPr lang="en-US" altLang="zh-CN" sz="1600" dirty="0"/>
              <a:t>] = </a:t>
            </a:r>
            <a:r>
              <a:rPr lang="en-US" altLang="zh-CN" sz="1600" dirty="0" err="1"/>
              <a:t>freqz</a:t>
            </a:r>
            <a:r>
              <a:rPr lang="en-US" altLang="zh-CN" sz="1600" dirty="0"/>
              <a:t>(b,a,1000,'whole');</a:t>
            </a:r>
          </a:p>
          <a:p>
            <a:r>
              <a:rPr lang="en-US" altLang="zh-CN" sz="1600" dirty="0"/>
              <a:t>H = (H(1:501))';w = (w(1:501))';</a:t>
            </a:r>
          </a:p>
          <a:p>
            <a:r>
              <a:rPr lang="en-US" altLang="zh-CN" sz="1600" dirty="0"/>
              <a:t>mag = abs(H);</a:t>
            </a:r>
          </a:p>
          <a:p>
            <a:r>
              <a:rPr lang="en-US" altLang="zh-CN" sz="1600" dirty="0" err="1"/>
              <a:t>db</a:t>
            </a:r>
            <a:r>
              <a:rPr lang="en-US" altLang="zh-CN" sz="1600" dirty="0"/>
              <a:t> = 20*log10((</a:t>
            </a:r>
            <a:r>
              <a:rPr lang="en-US" altLang="zh-CN" sz="1600" dirty="0" err="1"/>
              <a:t>mag+eps</a:t>
            </a:r>
            <a:r>
              <a:rPr lang="en-US" altLang="zh-CN" sz="1600" dirty="0"/>
              <a:t>)/max(mag));</a:t>
            </a:r>
          </a:p>
          <a:p>
            <a:r>
              <a:rPr lang="en-US" altLang="zh-CN" sz="1600" dirty="0" err="1"/>
              <a:t>pha</a:t>
            </a:r>
            <a:r>
              <a:rPr lang="en-US" altLang="zh-CN" sz="1600" dirty="0"/>
              <a:t> = angle(H);</a:t>
            </a:r>
          </a:p>
          <a:p>
            <a:r>
              <a:rPr lang="en-US" altLang="zh-CN" sz="1600" dirty="0" err="1"/>
              <a:t>grd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grpdelay</a:t>
            </a:r>
            <a:r>
              <a:rPr lang="en-US" altLang="zh-CN" sz="1600" dirty="0"/>
              <a:t>(</a:t>
            </a:r>
            <a:r>
              <a:rPr lang="en-US" altLang="zh-CN" sz="1600" dirty="0" err="1"/>
              <a:t>b,a,w</a:t>
            </a:r>
            <a:r>
              <a:rPr lang="en-US" altLang="zh-CN" sz="1600" dirty="0"/>
              <a:t>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1906</Words>
  <Application>Microsoft Office PowerPoint</Application>
  <PresentationFormat>全屏显示(4:3)</PresentationFormat>
  <Paragraphs>122</Paragraphs>
  <Slides>11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黑体</vt:lpstr>
      <vt:lpstr>微软雅黑</vt:lpstr>
      <vt:lpstr>Arial</vt:lpstr>
      <vt:lpstr>Calibri</vt:lpstr>
      <vt:lpstr>Cambria Math</vt:lpstr>
      <vt:lpstr>Office 主题</vt:lpstr>
      <vt:lpstr>Equation</vt:lpstr>
      <vt:lpstr>公式</vt:lpstr>
      <vt:lpstr>数字信号处理实验五</vt:lpstr>
      <vt:lpstr>实验目的</vt:lpstr>
      <vt:lpstr>理论基础</vt:lpstr>
      <vt:lpstr>理论基础</vt:lpstr>
      <vt:lpstr>理论基础</vt:lpstr>
      <vt:lpstr>理论基础</vt:lpstr>
      <vt:lpstr>理论基础</vt:lpstr>
      <vt:lpstr>理论基础</vt:lpstr>
      <vt:lpstr>理论基础</vt:lpstr>
      <vt:lpstr>理论基础</vt:lpstr>
      <vt:lpstr>理论基础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数字信号处理实验一 MATLAB基础</dc:title>
  <dc:creator>Dell</dc:creator>
  <cp:lastModifiedBy>admin</cp:lastModifiedBy>
  <cp:revision>236</cp:revision>
  <dcterms:created xsi:type="dcterms:W3CDTF">2019-11-06T11:20:00Z</dcterms:created>
  <dcterms:modified xsi:type="dcterms:W3CDTF">2026-06-03T23:52:31Z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081211B8B6B84DA98A9D9D5DC5EC9C9E_12</vt:lpwstr>
  </property>
  <property fmtid="{D5CDD505-2E9C-101B-9397-08002B2CF9AE}" pid="3" name="KSOProductBuildVer">
    <vt:lpwstr>2052-12.1.0.25225</vt:lpwstr>
  </property>
</Properties>
</file>